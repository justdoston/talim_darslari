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5"/>
  </p:notesMasterIdLst>
  <p:handoutMasterIdLst>
    <p:handoutMasterId r:id="rId20"/>
  </p:handoutMasterIdLst>
  <p:sldIdLst>
    <p:sldId id="340" r:id="rId4"/>
    <p:sldId id="341" r:id="rId6"/>
    <p:sldId id="372" r:id="rId7"/>
    <p:sldId id="376" r:id="rId8"/>
    <p:sldId id="381" r:id="rId9"/>
    <p:sldId id="373" r:id="rId10"/>
    <p:sldId id="377" r:id="rId11"/>
    <p:sldId id="409" r:id="rId12"/>
    <p:sldId id="375" r:id="rId13"/>
    <p:sldId id="380" r:id="rId14"/>
    <p:sldId id="410" r:id="rId15"/>
    <p:sldId id="343" r:id="rId16"/>
    <p:sldId id="384" r:id="rId17"/>
    <p:sldId id="414" r:id="rId18"/>
    <p:sldId id="411" r:id="rId19"/>
  </p:sldIdLst>
  <p:sldSz cx="12192000" cy="6858000"/>
  <p:notesSz cx="6858000" cy="9144000"/>
  <p:embeddedFontLst>
    <p:embeddedFont>
      <p:font typeface="Inter" panose="02000503000000020004" charset="0"/>
      <p:regular r:id="rId24"/>
      <p:bold r:id="rId25"/>
    </p:embeddedFont>
    <p:embeddedFont>
      <p:font typeface="Inter Black" panose="02000503000000020004" charset="0"/>
      <p:bold r:id="rId26"/>
    </p:embeddedFont>
  </p:embeddedFontLst>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DBF8"/>
    <a:srgbClr val="4AC7F9"/>
    <a:srgbClr val="47B2FA"/>
    <a:srgbClr val="54A6FB"/>
    <a:srgbClr val="4589FB"/>
    <a:srgbClr val="4675FC"/>
    <a:srgbClr val="54FDED"/>
    <a:srgbClr val="4EE4F0"/>
    <a:srgbClr val="49CCF3"/>
    <a:srgbClr val="44B3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gs" Target="tags/tag192.xml"/><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nter Black" panose="02000503000000020004" charset="0"/>
                <a:ea typeface="Inter Black" panose="02000503000000020004" charset="0"/>
                <a:cs typeface="Inter" panose="0200050300000002000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nter Black" panose="02000503000000020004" charset="0"/>
                <a:ea typeface="Inter Black" panose="02000503000000020004" charset="0"/>
                <a:cs typeface="Inter" panose="0200050300000002000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1pPr>
    <a:lvl2pPr marL="4572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2pPr>
    <a:lvl3pPr marL="9144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3pPr>
    <a:lvl4pPr marL="13716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4pPr>
    <a:lvl5pPr marL="18288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0" Type="http://schemas.openxmlformats.org/officeDocument/2006/relationships/notesSlide" Target="../notesSlides/notesSlide1.xml"/><Relationship Id="rId3" Type="http://schemas.openxmlformats.org/officeDocument/2006/relationships/tags" Target="../tags/tag126.xml"/><Relationship Id="rId29" Type="http://schemas.openxmlformats.org/officeDocument/2006/relationships/slideLayout" Target="../slideLayouts/slideLayout12.xml"/><Relationship Id="rId28" Type="http://schemas.openxmlformats.org/officeDocument/2006/relationships/tags" Target="../tags/tag151.xml"/><Relationship Id="rId27" Type="http://schemas.openxmlformats.org/officeDocument/2006/relationships/tags" Target="../tags/tag150.xml"/><Relationship Id="rId26" Type="http://schemas.openxmlformats.org/officeDocument/2006/relationships/tags" Target="../tags/tag149.xml"/><Relationship Id="rId25" Type="http://schemas.openxmlformats.org/officeDocument/2006/relationships/tags" Target="../tags/tag148.xml"/><Relationship Id="rId24" Type="http://schemas.openxmlformats.org/officeDocument/2006/relationships/tags" Target="../tags/tag147.xml"/><Relationship Id="rId23" Type="http://schemas.openxmlformats.org/officeDocument/2006/relationships/tags" Target="../tags/tag146.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1" Type="http://schemas.openxmlformats.org/officeDocument/2006/relationships/notesSlide" Target="../notesSlides/notesSlide2.xml"/><Relationship Id="rId20" Type="http://schemas.openxmlformats.org/officeDocument/2006/relationships/slideLayout" Target="../slideLayouts/slideLayout12.xml"/><Relationship Id="rId2" Type="http://schemas.openxmlformats.org/officeDocument/2006/relationships/tags" Target="../tags/tag152.xml"/><Relationship Id="rId19" Type="http://schemas.openxmlformats.org/officeDocument/2006/relationships/tags" Target="../tags/tag169.xml"/><Relationship Id="rId18" Type="http://schemas.openxmlformats.org/officeDocument/2006/relationships/tags" Target="../tags/tag168.xml"/><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tags" Target="../tags/tag180.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tags" Target="../tags/tag182.xml"/><Relationship Id="rId3" Type="http://schemas.openxmlformats.org/officeDocument/2006/relationships/image" Target="../media/image4.png"/><Relationship Id="rId2" Type="http://schemas.openxmlformats.org/officeDocument/2006/relationships/tags" Target="../tags/tag18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tags" Target="../tags/tag183.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tags" Target="../tags/tag184.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tags" Target="../tags/tag186.xml"/><Relationship Id="rId3" Type="http://schemas.openxmlformats.org/officeDocument/2006/relationships/image" Target="../media/image5.png"/><Relationship Id="rId2" Type="http://schemas.openxmlformats.org/officeDocument/2006/relationships/tags" Target="../tags/tag185.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tags" Target="../tags/tag19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4445" y="0"/>
            <a:ext cx="12160885" cy="6857365"/>
          </a:xfrm>
          <a:prstGeom prst="rect">
            <a:avLst/>
          </a:prstGeom>
        </p:spPr>
      </p:pic>
      <p:sp>
        <p:nvSpPr>
          <p:cNvPr id="19" name="文本框 18"/>
          <p:cNvSpPr txBox="1"/>
          <p:nvPr>
            <p:custDataLst>
              <p:tags r:id="rId2"/>
            </p:custDataLst>
          </p:nvPr>
        </p:nvSpPr>
        <p:spPr>
          <a:xfrm>
            <a:off x="2413318" y="3166110"/>
            <a:ext cx="7365365" cy="706755"/>
          </a:xfrm>
          <a:prstGeom prst="rect">
            <a:avLst/>
          </a:prstGeom>
          <a:noFill/>
        </p:spPr>
        <p:txBody>
          <a:bodyPr wrap="square" rtlCol="0" anchor="t">
            <a:spAutoFit/>
          </a:bodyPr>
          <a:p>
            <a:pPr algn="ctr"/>
            <a:r>
              <a:rPr lang="en-US" altLang="zh-CN" sz="4000">
                <a:solidFill>
                  <a:schemeClr val="accent6"/>
                </a:solidFill>
                <a:effectLst/>
                <a:latin typeface="Inter Black" panose="02000503000000020004" charset="0"/>
                <a:ea typeface="Inter Black" panose="02000503000000020004" charset="0"/>
                <a:cs typeface="Inter Black" panose="02000503000000020004" charset="0"/>
              </a:rPr>
              <a:t>BROKEN ACCESS CONTROL</a:t>
            </a:r>
            <a:endParaRPr lang="en-US" altLang="zh-CN" sz="4000">
              <a:solidFill>
                <a:schemeClr val="accent6"/>
              </a:solidFill>
              <a:effectLst/>
              <a:latin typeface="Inter Black" panose="02000503000000020004" charset="0"/>
              <a:ea typeface="Inter Black" panose="02000503000000020004" charset="0"/>
              <a:cs typeface="Inter Black" panose="02000503000000020004" charset="0"/>
            </a:endParaRPr>
          </a:p>
        </p:txBody>
      </p:sp>
      <p:sp>
        <p:nvSpPr>
          <p:cNvPr id="20" name="文本框 19"/>
          <p:cNvSpPr txBox="1"/>
          <p:nvPr>
            <p:custDataLst>
              <p:tags r:id="rId3"/>
            </p:custDataLst>
          </p:nvPr>
        </p:nvSpPr>
        <p:spPr>
          <a:xfrm>
            <a:off x="2413635" y="2252980"/>
            <a:ext cx="7365365" cy="1014730"/>
          </a:xfrm>
          <a:prstGeom prst="rect">
            <a:avLst/>
          </a:prstGeom>
          <a:noFill/>
        </p:spPr>
        <p:txBody>
          <a:bodyPr wrap="square" rtlCol="0" anchor="t">
            <a:spAutoFit/>
          </a:bodyPr>
          <a:p>
            <a:pPr algn="ctr"/>
            <a:r>
              <a:rPr lang="zh-CN" altLang="en-US" sz="6000">
                <a:ln>
                  <a:noFill/>
                </a:ln>
                <a:solidFill>
                  <a:schemeClr val="bg1"/>
                </a:solidFill>
                <a:effectLst/>
                <a:latin typeface="Inter Black" panose="02000503000000020004" charset="0"/>
                <a:ea typeface="Inter Black" panose="02000503000000020004" charset="0"/>
                <a:cs typeface="Inter Black" panose="02000503000000020004" charset="0"/>
              </a:rPr>
              <a:t>Introduction</a:t>
            </a:r>
            <a:endParaRPr lang="zh-CN" altLang="en-US" sz="6000">
              <a:ln>
                <a:noFill/>
              </a:ln>
              <a:solidFill>
                <a:schemeClr val="bg1"/>
              </a:solidFill>
              <a:effectLst/>
              <a:latin typeface="Inter Black" panose="02000503000000020004" charset="0"/>
              <a:ea typeface="Inter Black" panose="02000503000000020004" charset="0"/>
              <a:cs typeface="Inter Black" panose="02000503000000020004" charset="0"/>
            </a:endParaRPr>
          </a:p>
        </p:txBody>
      </p:sp>
      <p:sp>
        <p:nvSpPr>
          <p:cNvPr id="22" name="任意多边形: 形状 14"/>
          <p:cNvSpPr/>
          <p:nvPr>
            <p:custDataLst>
              <p:tags r:id="rId4"/>
            </p:custDataLst>
          </p:nvPr>
        </p:nvSpPr>
        <p:spPr>
          <a:xfrm>
            <a:off x="2377516" y="4206476"/>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38100">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159" name="任意多边形: 形状 158"/>
          <p:cNvSpPr/>
          <p:nvPr/>
        </p:nvSpPr>
        <p:spPr>
          <a:xfrm>
            <a:off x="4629150" y="4827270"/>
            <a:ext cx="2934335" cy="559435"/>
          </a:xfrm>
          <a:custGeom>
            <a:avLst/>
            <a:gdLst>
              <a:gd name="connsiteX0" fmla="*/ 0 w 2880000"/>
              <a:gd name="connsiteY0" fmla="*/ 0 h 3600000"/>
              <a:gd name="connsiteX1" fmla="*/ 882815 w 2880000"/>
              <a:gd name="connsiteY1" fmla="*/ 0 h 3600000"/>
              <a:gd name="connsiteX2" fmla="*/ 942863 w 2880000"/>
              <a:gd name="connsiteY2" fmla="*/ 60048 h 3600000"/>
              <a:gd name="connsiteX3" fmla="*/ 1902766 w 2880000"/>
              <a:gd name="connsiteY3" fmla="*/ 60048 h 3600000"/>
              <a:gd name="connsiteX4" fmla="*/ 1962813 w 2880000"/>
              <a:gd name="connsiteY4" fmla="*/ 0 h 3600000"/>
              <a:gd name="connsiteX5" fmla="*/ 2880000 w 2880000"/>
              <a:gd name="connsiteY5" fmla="*/ 0 h 3600000"/>
              <a:gd name="connsiteX6" fmla="*/ 2880000 w 2880000"/>
              <a:gd name="connsiteY6" fmla="*/ 3600000 h 3600000"/>
              <a:gd name="connsiteX7" fmla="*/ 1957099 w 2880000"/>
              <a:gd name="connsiteY7" fmla="*/ 3600000 h 3600000"/>
              <a:gd name="connsiteX8" fmla="*/ 1902766 w 2880000"/>
              <a:gd name="connsiteY8" fmla="*/ 3545666 h 3600000"/>
              <a:gd name="connsiteX9" fmla="*/ 942863 w 2880000"/>
              <a:gd name="connsiteY9" fmla="*/ 3545666 h 3600000"/>
              <a:gd name="connsiteX10" fmla="*/ 888529 w 2880000"/>
              <a:gd name="connsiteY10" fmla="*/ 3600000 h 3600000"/>
              <a:gd name="connsiteX11" fmla="*/ 0 w 2880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000" h="3600000">
                <a:moveTo>
                  <a:pt x="0" y="0"/>
                </a:moveTo>
                <a:lnTo>
                  <a:pt x="882815" y="0"/>
                </a:lnTo>
                <a:lnTo>
                  <a:pt x="942863" y="60048"/>
                </a:lnTo>
                <a:lnTo>
                  <a:pt x="1902766" y="60048"/>
                </a:lnTo>
                <a:lnTo>
                  <a:pt x="1962813" y="0"/>
                </a:lnTo>
                <a:lnTo>
                  <a:pt x="2880000" y="0"/>
                </a:lnTo>
                <a:lnTo>
                  <a:pt x="2880000" y="3600000"/>
                </a:lnTo>
                <a:lnTo>
                  <a:pt x="1957099" y="3600000"/>
                </a:lnTo>
                <a:lnTo>
                  <a:pt x="1902766" y="3545666"/>
                </a:lnTo>
                <a:lnTo>
                  <a:pt x="942863" y="3545666"/>
                </a:lnTo>
                <a:lnTo>
                  <a:pt x="888529" y="3600000"/>
                </a:lnTo>
                <a:lnTo>
                  <a:pt x="0" y="3600000"/>
                </a:lnTo>
                <a:close/>
              </a:path>
            </a:pathLst>
          </a:custGeom>
          <a:gradFill>
            <a:gsLst>
              <a:gs pos="0">
                <a:schemeClr val="accent1"/>
              </a:gs>
              <a:gs pos="75000">
                <a:schemeClr val="accent1">
                  <a:alpha val="0"/>
                </a:schemeClr>
              </a:gs>
              <a:gs pos="94000">
                <a:schemeClr val="accent1"/>
              </a:gs>
              <a:gs pos="25000">
                <a:schemeClr val="accent1">
                  <a:alpha val="0"/>
                </a:schemeClr>
              </a:gs>
            </a:gsLst>
            <a:lin ang="0" scaled="0"/>
          </a:gradFill>
          <a:ln w="19050">
            <a:gradFill>
              <a:gsLst>
                <a:gs pos="0">
                  <a:schemeClr val="accent6"/>
                </a:gs>
                <a:gs pos="100000">
                  <a:schemeClr val="accent1"/>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cs typeface="Inter" panose="02000503000000020004" charset="0"/>
            </a:endParaRPr>
          </a:p>
        </p:txBody>
      </p:sp>
      <p:sp>
        <p:nvSpPr>
          <p:cNvPr id="23" name="文本框 22"/>
          <p:cNvSpPr txBox="1"/>
          <p:nvPr>
            <p:custDataLst>
              <p:tags r:id="rId5"/>
            </p:custDataLst>
          </p:nvPr>
        </p:nvSpPr>
        <p:spPr>
          <a:xfrm>
            <a:off x="4476750" y="4907598"/>
            <a:ext cx="3238500" cy="398780"/>
          </a:xfrm>
          <a:prstGeom prst="rect">
            <a:avLst/>
          </a:prstGeom>
          <a:noFill/>
        </p:spPr>
        <p:txBody>
          <a:bodyPr wrap="square" rtlCol="0">
            <a:spAutoFit/>
          </a:bodyPr>
          <a:p>
            <a:pPr algn="ctr"/>
            <a:r>
              <a:rPr lang="en-US" altLang="zh-CN" sz="2000" dirty="0">
                <a:solidFill>
                  <a:schemeClr val="lt2"/>
                </a:solidFill>
                <a:latin typeface="Inter Black" panose="02000503000000020004" charset="0"/>
                <a:ea typeface="Inter Black" panose="02000503000000020004" charset="0"/>
                <a:cs typeface="Inter" panose="02000503000000020004" charset="0"/>
              </a:rPr>
              <a:t>Tayorladi</a:t>
            </a:r>
            <a:r>
              <a:rPr lang="zh-CN" altLang="en-US" sz="2000" dirty="0">
                <a:solidFill>
                  <a:schemeClr val="lt2"/>
                </a:solidFill>
                <a:latin typeface="Inter Black" panose="02000503000000020004" charset="0"/>
                <a:ea typeface="Inter Black" panose="02000503000000020004" charset="0"/>
                <a:cs typeface="Inter" panose="02000503000000020004" charset="0"/>
              </a:rPr>
              <a:t>:</a:t>
            </a:r>
            <a:r>
              <a:rPr lang="en-US" altLang="zh-CN" sz="2000" dirty="0">
                <a:solidFill>
                  <a:schemeClr val="lt2"/>
                </a:solidFill>
                <a:latin typeface="Inter Black" panose="02000503000000020004" charset="0"/>
                <a:ea typeface="Inter Black" panose="02000503000000020004" charset="0"/>
                <a:cs typeface="Inter" panose="02000503000000020004" charset="0"/>
              </a:rPr>
              <a:t> A. Doston</a:t>
            </a:r>
            <a:endParaRPr lang="en-US" altLang="zh-CN" sz="2000" dirty="0">
              <a:solidFill>
                <a:schemeClr val="lt2"/>
              </a:solidFill>
              <a:latin typeface="Inter Black" panose="02000503000000020004" charset="0"/>
              <a:ea typeface="Inter Black" panose="02000503000000020004" charset="0"/>
              <a:cs typeface="Inter" panose="02000503000000020004" charset="0"/>
            </a:endParaRPr>
          </a:p>
        </p:txBody>
      </p:sp>
      <p:sp>
        <p:nvSpPr>
          <p:cNvPr id="41" name="任意多边形: 形状 138"/>
          <p:cNvSpPr/>
          <p:nvPr>
            <p:custDataLst>
              <p:tags r:id="rId6"/>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grpSp>
        <p:nvGrpSpPr>
          <p:cNvPr id="12" name="组合 11"/>
          <p:cNvGrpSpPr/>
          <p:nvPr/>
        </p:nvGrpSpPr>
        <p:grpSpPr>
          <a:xfrm>
            <a:off x="719455" y="680720"/>
            <a:ext cx="2407920" cy="501650"/>
            <a:chOff x="1133" y="1072"/>
            <a:chExt cx="3792" cy="910"/>
          </a:xfrm>
        </p:grpSpPr>
        <p:sp>
          <p:nvSpPr>
            <p:cNvPr id="16" name="平行四边形 15"/>
            <p:cNvSpPr/>
            <p:nvPr>
              <p:custDataLst>
                <p:tags r:id="rId7"/>
              </p:custDataLst>
            </p:nvPr>
          </p:nvSpPr>
          <p:spPr>
            <a:xfrm>
              <a:off x="1403" y="1216"/>
              <a:ext cx="3361" cy="640"/>
            </a:xfrm>
            <a:prstGeom prst="parallelogram">
              <a:avLst>
                <a:gd name="adj" fmla="val 82143"/>
              </a:avLst>
            </a:prstGeom>
            <a:gradFill>
              <a:gsLst>
                <a:gs pos="0">
                  <a:srgbClr val="4675FC"/>
                </a:gs>
                <a:gs pos="100000">
                  <a:srgbClr val="4675FC">
                    <a:alpha val="0"/>
                  </a:srgbClr>
                </a:gs>
              </a:gsLst>
              <a:lin ang="18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2" name="平行四边形 1"/>
            <p:cNvSpPr/>
            <p:nvPr>
              <p:custDataLst>
                <p:tags r:id="rId8"/>
              </p:custDataLst>
            </p:nvPr>
          </p:nvSpPr>
          <p:spPr>
            <a:xfrm>
              <a:off x="1133" y="1072"/>
              <a:ext cx="3792" cy="910"/>
            </a:xfrm>
            <a:prstGeom prst="parallelogram">
              <a:avLst>
                <a:gd name="adj" fmla="val 82143"/>
              </a:avLst>
            </a:prstGeom>
            <a:noFill/>
            <a:ln w="12700">
              <a:gradFill flip="none" rotWithShape="1">
                <a:gsLst>
                  <a:gs pos="36000">
                    <a:schemeClr val="accent1"/>
                  </a:gs>
                  <a:gs pos="75000">
                    <a:schemeClr val="accent1">
                      <a:alpha val="0"/>
                    </a:schemeClr>
                  </a:gs>
                </a:gsLst>
                <a:lin ang="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5" name="任意多边形: 形状 21"/>
          <p:cNvSpPr/>
          <p:nvPr>
            <p:custDataLst>
              <p:tags r:id="rId9"/>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10"/>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11"/>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2"/>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custDataLst>
              <p:tags r:id="rId13"/>
            </p:custDataLst>
          </p:nvPr>
        </p:nvSpPr>
        <p:spPr>
          <a:xfrm>
            <a:off x="4153853" y="1996440"/>
            <a:ext cx="3869690" cy="275590"/>
          </a:xfrm>
          <a:prstGeom prst="rect">
            <a:avLst/>
          </a:prstGeom>
          <a:noFill/>
        </p:spPr>
        <p:txBody>
          <a:bodyPr wrap="square" rtlCol="0">
            <a:spAutoFit/>
          </a:bodyPr>
          <a:p>
            <a:pPr algn="dist"/>
            <a:endParaRPr lang="zh-CN" altLang="en-US" sz="1200" cap="all" dirty="0">
              <a:solidFill>
                <a:schemeClr val="bg1"/>
              </a:solidFill>
              <a:uFillTx/>
              <a:latin typeface="Inter Black" panose="02000503000000020004" charset="0"/>
              <a:ea typeface="Inter Black" panose="02000503000000020004" charset="0"/>
              <a:cs typeface="Inter" panose="02000503000000020004" charset="0"/>
            </a:endParaRPr>
          </a:p>
        </p:txBody>
      </p:sp>
      <p:grpSp>
        <p:nvGrpSpPr>
          <p:cNvPr id="13" name="组合 12"/>
          <p:cNvGrpSpPr/>
          <p:nvPr/>
        </p:nvGrpSpPr>
        <p:grpSpPr>
          <a:xfrm rot="16200000">
            <a:off x="11279505" y="749082"/>
            <a:ext cx="252730" cy="375920"/>
            <a:chOff x="17336" y="1136"/>
            <a:chExt cx="466" cy="911"/>
          </a:xfrm>
          <a:solidFill>
            <a:srgbClr val="2CF5FC"/>
          </a:solidFill>
        </p:grpSpPr>
        <p:sp>
          <p:nvSpPr>
            <p:cNvPr id="14" name="矩形 13"/>
            <p:cNvSpPr/>
            <p:nvPr>
              <p:custDataLst>
                <p:tags r:id="rId14"/>
              </p:custDataLst>
            </p:nvPr>
          </p:nvSpPr>
          <p:spPr>
            <a:xfrm>
              <a:off x="17448" y="1136"/>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0" name="矩形 39"/>
            <p:cNvSpPr/>
            <p:nvPr>
              <p:custDataLst>
                <p:tags r:id="rId15"/>
              </p:custDataLst>
            </p:nvPr>
          </p:nvSpPr>
          <p:spPr>
            <a:xfrm>
              <a:off x="17448" y="1532"/>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2" name="矩形 41"/>
            <p:cNvSpPr/>
            <p:nvPr>
              <p:custDataLst>
                <p:tags r:id="rId16"/>
              </p:custDataLst>
            </p:nvPr>
          </p:nvSpPr>
          <p:spPr>
            <a:xfrm>
              <a:off x="17336" y="1334"/>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3" name="矩形 42"/>
            <p:cNvSpPr/>
            <p:nvPr>
              <p:custDataLst>
                <p:tags r:id="rId17"/>
              </p:custDataLst>
            </p:nvPr>
          </p:nvSpPr>
          <p:spPr>
            <a:xfrm>
              <a:off x="17336" y="1729"/>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4" name="矩形 43"/>
            <p:cNvSpPr/>
            <p:nvPr>
              <p:custDataLst>
                <p:tags r:id="rId18"/>
              </p:custDataLst>
            </p:nvPr>
          </p:nvSpPr>
          <p:spPr>
            <a:xfrm>
              <a:off x="17448" y="1927"/>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grpSp>
      <p:sp>
        <p:nvSpPr>
          <p:cNvPr id="29" name="矩形 28"/>
          <p:cNvSpPr/>
          <p:nvPr>
            <p:custDataLst>
              <p:tags r:id="rId19"/>
            </p:custDataLst>
          </p:nvPr>
        </p:nvSpPr>
        <p:spPr>
          <a:xfrm>
            <a:off x="760730" y="5462270"/>
            <a:ext cx="187960" cy="4394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20"/>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21"/>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22"/>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23"/>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55" name="半闭框 54"/>
          <p:cNvSpPr/>
          <p:nvPr/>
        </p:nvSpPr>
        <p:spPr>
          <a:xfrm rot="10800000" flipH="1" flipV="1">
            <a:off x="4577154" y="47769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7279714" y="509956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46" name="矩形 45"/>
          <p:cNvSpPr/>
          <p:nvPr>
            <p:custDataLst>
              <p:tags r:id="rId24"/>
            </p:custDataLst>
          </p:nvPr>
        </p:nvSpPr>
        <p:spPr>
          <a:xfrm>
            <a:off x="890905" y="5485765"/>
            <a:ext cx="187960" cy="19939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7" name="矩形 46"/>
          <p:cNvSpPr/>
          <p:nvPr>
            <p:custDataLst>
              <p:tags r:id="rId25"/>
            </p:custDataLst>
          </p:nvPr>
        </p:nvSpPr>
        <p:spPr>
          <a:xfrm>
            <a:off x="11586845" y="5439410"/>
            <a:ext cx="76200" cy="4394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8" name="矩形 47"/>
          <p:cNvSpPr/>
          <p:nvPr>
            <p:custDataLst>
              <p:tags r:id="rId26"/>
            </p:custDataLst>
          </p:nvPr>
        </p:nvSpPr>
        <p:spPr>
          <a:xfrm flipH="1">
            <a:off x="11461750" y="5718175"/>
            <a:ext cx="150495" cy="160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9" name="矩形 48"/>
          <p:cNvSpPr/>
          <p:nvPr>
            <p:custDataLst>
              <p:tags r:id="rId27"/>
            </p:custDataLst>
          </p:nvPr>
        </p:nvSpPr>
        <p:spPr>
          <a:xfrm flipH="1">
            <a:off x="11430635" y="5520690"/>
            <a:ext cx="85725" cy="914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Tree>
    <p:custDataLst>
      <p:tags r:id="rId28"/>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46" name="图片 45" descr="VCG211280058674"/>
          <p:cNvPicPr>
            <a:picLocks noChangeAspect="1"/>
          </p:cNvPicPr>
          <p:nvPr/>
        </p:nvPicPr>
        <p:blipFill>
          <a:blip r:embed="rId1">
            <a:alphaModFix amt="10000"/>
          </a:blip>
          <a:stretch>
            <a:fillRect/>
          </a:stretch>
        </p:blipFill>
        <p:spPr>
          <a:xfrm rot="10800000">
            <a:off x="0" y="0"/>
            <a:ext cx="12192635" cy="6858000"/>
          </a:xfrm>
          <a:prstGeom prst="rect">
            <a:avLst/>
          </a:prstGeom>
        </p:spPr>
      </p:pic>
      <p:sp>
        <p:nvSpPr>
          <p:cNvPr id="3" name="任意多边形: 形状 14"/>
          <p:cNvSpPr/>
          <p:nvPr>
            <p:custDataLst>
              <p:tags r:id="rId2"/>
            </p:custDataLst>
          </p:nvPr>
        </p:nvSpPr>
        <p:spPr>
          <a:xfrm>
            <a:off x="2376796" y="1261981"/>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19050">
            <a:gradFill>
              <a:gsLst>
                <a:gs pos="0">
                  <a:schemeClr val="accent6">
                    <a:alpha val="0"/>
                  </a:schemeClr>
                </a:gs>
                <a:gs pos="50000">
                  <a:schemeClr val="accent6"/>
                </a:gs>
                <a:gs pos="100000">
                  <a:schemeClr val="accent6">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5" name="组合 4"/>
          <p:cNvGrpSpPr/>
          <p:nvPr>
            <p:custDataLst>
              <p:tags r:id="rId3"/>
            </p:custDataLst>
          </p:nvPr>
        </p:nvGrpSpPr>
        <p:grpSpPr>
          <a:xfrm>
            <a:off x="377825" y="1706880"/>
            <a:ext cx="3560445" cy="1492250"/>
            <a:chOff x="1182" y="2068"/>
            <a:chExt cx="5607" cy="2350"/>
          </a:xfrm>
        </p:grpSpPr>
        <p:sp>
          <p:nvSpPr>
            <p:cNvPr id="8" name="文本框 7"/>
            <p:cNvSpPr txBox="1"/>
            <p:nvPr>
              <p:custDataLst>
                <p:tags r:id="rId4"/>
              </p:custDataLst>
            </p:nvPr>
          </p:nvSpPr>
          <p:spPr>
            <a:xfrm flipH="1">
              <a:off x="2248" y="2068"/>
              <a:ext cx="3927" cy="2082"/>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01</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9" name="组合 8"/>
            <p:cNvGrpSpPr/>
            <p:nvPr/>
          </p:nvGrpSpPr>
          <p:grpSpPr>
            <a:xfrm>
              <a:off x="1182" y="3211"/>
              <a:ext cx="5607" cy="1207"/>
              <a:chOff x="1279" y="3137"/>
              <a:chExt cx="5607" cy="1299"/>
            </a:xfrm>
          </p:grpSpPr>
          <p:sp>
            <p:nvSpPr>
              <p:cNvPr id="64" name="平行四边形 63"/>
              <p:cNvSpPr/>
              <p:nvPr>
                <p:custDataLst>
                  <p:tags r:id="rId5"/>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63" name="平行四边形 62"/>
              <p:cNvSpPr/>
              <p:nvPr>
                <p:custDataLst>
                  <p:tags r:id="rId6"/>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65" name="文本框 64"/>
            <p:cNvSpPr txBox="1"/>
            <p:nvPr>
              <p:custDataLst>
                <p:tags r:id="rId7"/>
              </p:custDataLst>
            </p:nvPr>
          </p:nvSpPr>
          <p:spPr>
            <a:xfrm flipH="1">
              <a:off x="2150" y="3429"/>
              <a:ext cx="3927" cy="822"/>
            </a:xfrm>
            <a:prstGeom prst="rect">
              <a:avLst/>
            </a:prstGeom>
            <a:noFill/>
          </p:spPr>
          <p:txBody>
            <a:bodyPr wrap="square" rtlCol="0">
              <a:spAutoFit/>
            </a:bodyPr>
            <a:p>
              <a:pPr algn="ctr"/>
              <a:r>
                <a:rPr lang="en-US" altLang="zh-CN" sz="2800" i="1" dirty="0">
                  <a:solidFill>
                    <a:schemeClr val="lt1"/>
                  </a:solidFill>
                  <a:latin typeface="Inter Black" panose="02000503000000020004" charset="0"/>
                  <a:ea typeface="Inter Black" panose="02000503000000020004" charset="0"/>
                  <a:cs typeface="Inter" panose="02000503000000020004" charset="0"/>
                </a:rPr>
                <a:t>Reja</a:t>
              </a:r>
              <a:endParaRPr lang="en-US" altLang="zh-CN" sz="2800" i="1" dirty="0">
                <a:solidFill>
                  <a:schemeClr val="lt1"/>
                </a:solidFill>
                <a:latin typeface="Inter Black" panose="02000503000000020004" charset="0"/>
                <a:ea typeface="Inter Black" panose="02000503000000020004" charset="0"/>
                <a:cs typeface="Inter" panose="02000503000000020004" charset="0"/>
              </a:endParaRPr>
            </a:p>
          </p:txBody>
        </p:sp>
      </p:grpSp>
      <p:sp>
        <p:nvSpPr>
          <p:cNvPr id="38" name="文本框 37"/>
          <p:cNvSpPr txBox="1"/>
          <p:nvPr>
            <p:custDataLst>
              <p:tags r:id="rId8"/>
            </p:custDataLst>
          </p:nvPr>
        </p:nvSpPr>
        <p:spPr>
          <a:xfrm>
            <a:off x="4150995" y="493395"/>
            <a:ext cx="3890010" cy="768350"/>
          </a:xfrm>
          <a:prstGeom prst="rect">
            <a:avLst/>
          </a:prstGeom>
          <a:noFill/>
        </p:spPr>
        <p:txBody>
          <a:bodyPr wrap="square" rtlCol="0">
            <a:spAutoFit/>
          </a:bodyPr>
          <a:p>
            <a:pPr algn="ctr">
              <a:buClrTx/>
              <a:buSzTx/>
              <a:buFontTx/>
            </a:pPr>
            <a:r>
              <a:rPr lang="en-US" altLang="zh-CN" sz="4400" i="1">
                <a:solidFill>
                  <a:schemeClr val="lt1"/>
                </a:solidFill>
                <a:latin typeface="Inter Black" panose="02000503000000020004" charset="0"/>
                <a:ea typeface="Inter Black" panose="02000503000000020004" charset="0"/>
                <a:cs typeface="Inter Black" panose="02000503000000020004" charset="0"/>
                <a:sym typeface="+mn-ea"/>
              </a:rPr>
              <a:t>REJA</a:t>
            </a:r>
            <a:endParaRPr lang="en-US" altLang="zh-CN" sz="4400" i="1">
              <a:solidFill>
                <a:schemeClr val="lt1"/>
              </a:solidFill>
              <a:latin typeface="Inter Black" panose="02000503000000020004" charset="0"/>
              <a:ea typeface="Inter Black" panose="02000503000000020004" charset="0"/>
              <a:cs typeface="Inter Black" panose="02000503000000020004" charset="0"/>
              <a:sym typeface="+mn-ea"/>
            </a:endParaRPr>
          </a:p>
        </p:txBody>
      </p:sp>
      <p:sp>
        <p:nvSpPr>
          <p:cNvPr id="11" name="文本框 10"/>
          <p:cNvSpPr txBox="1"/>
          <p:nvPr>
            <p:custDataLst>
              <p:tags r:id="rId9"/>
            </p:custDataLst>
          </p:nvPr>
        </p:nvSpPr>
        <p:spPr>
          <a:xfrm flipH="1">
            <a:off x="889000" y="3093085"/>
            <a:ext cx="2493645" cy="1322070"/>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02</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12" name="组合 11"/>
          <p:cNvGrpSpPr/>
          <p:nvPr>
            <p:custDataLst>
              <p:tags r:id="rId10"/>
            </p:custDataLst>
          </p:nvPr>
        </p:nvGrpSpPr>
        <p:grpSpPr>
          <a:xfrm rot="0">
            <a:off x="346075" y="3843020"/>
            <a:ext cx="3560445" cy="766445"/>
            <a:chOff x="1279" y="3137"/>
            <a:chExt cx="5607" cy="1299"/>
          </a:xfrm>
        </p:grpSpPr>
        <p:sp>
          <p:nvSpPr>
            <p:cNvPr id="13" name="平行四边形 12"/>
            <p:cNvSpPr/>
            <p:nvPr>
              <p:custDataLst>
                <p:tags r:id="rId11"/>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14" name="平行四边形 13"/>
            <p:cNvSpPr/>
            <p:nvPr>
              <p:custDataLst>
                <p:tags r:id="rId12"/>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15" name="文本框 14"/>
          <p:cNvSpPr txBox="1"/>
          <p:nvPr>
            <p:custDataLst>
              <p:tags r:id="rId13"/>
            </p:custDataLst>
          </p:nvPr>
        </p:nvSpPr>
        <p:spPr>
          <a:xfrm flipH="1">
            <a:off x="889000" y="3945255"/>
            <a:ext cx="2493645" cy="521970"/>
          </a:xfrm>
          <a:prstGeom prst="rect">
            <a:avLst/>
          </a:prstGeom>
          <a:noFill/>
        </p:spPr>
        <p:txBody>
          <a:bodyPr wrap="square" rtlCol="0">
            <a:spAutoFit/>
          </a:bodyPr>
          <a:p>
            <a:pPr algn="ctr"/>
            <a:r>
              <a:rPr lang="en-US" altLang="zh-CN" sz="2800" i="1">
                <a:solidFill>
                  <a:schemeClr val="bg1"/>
                </a:solidFill>
                <a:latin typeface="Inter Black" panose="02000503000000020004" charset="0"/>
                <a:ea typeface="Inter Black" panose="02000503000000020004" charset="0"/>
                <a:cs typeface="Inter Black" panose="02000503000000020004" charset="0"/>
                <a:sym typeface="+mn-ea"/>
              </a:rPr>
              <a:t>Reja</a:t>
            </a:r>
            <a:endParaRPr lang="en-US" altLang="zh-CN" sz="2800" i="1">
              <a:solidFill>
                <a:schemeClr val="bg1"/>
              </a:solidFill>
              <a:latin typeface="Inter Black" panose="02000503000000020004" charset="0"/>
              <a:ea typeface="Inter Black" panose="02000503000000020004" charset="0"/>
              <a:cs typeface="Inter Black" panose="02000503000000020004" charset="0"/>
              <a:sym typeface="+mn-ea"/>
            </a:endParaRPr>
          </a:p>
        </p:txBody>
      </p:sp>
      <p:sp>
        <p:nvSpPr>
          <p:cNvPr id="17" name="文本框 16"/>
          <p:cNvSpPr txBox="1"/>
          <p:nvPr>
            <p:custDataLst>
              <p:tags r:id="rId14"/>
            </p:custDataLst>
          </p:nvPr>
        </p:nvSpPr>
        <p:spPr>
          <a:xfrm flipH="1">
            <a:off x="889000" y="4496435"/>
            <a:ext cx="2493645" cy="1322070"/>
          </a:xfrm>
          <a:prstGeom prst="rect">
            <a:avLst/>
          </a:prstGeom>
          <a:noFill/>
        </p:spPr>
        <p:txBody>
          <a:bodyPr wrap="square" rtlCol="0">
            <a:spAutoFit/>
          </a:bodyPr>
          <a:p>
            <a:pPr algn="ctr"/>
            <a:r>
              <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rPr>
              <a:t>03</a:t>
            </a:r>
            <a:endParaRPr lang="en-US" altLang="zh-CN" sz="8000" i="1" dirty="0">
              <a:ln>
                <a:gradFill>
                  <a:gsLst>
                    <a:gs pos="0">
                      <a:schemeClr val="bg1"/>
                    </a:gs>
                    <a:gs pos="56000">
                      <a:srgbClr val="FFFFFF">
                        <a:alpha val="0"/>
                      </a:srgbClr>
                    </a:gs>
                    <a:gs pos="51000">
                      <a:schemeClr val="bg1"/>
                    </a:gs>
                  </a:gsLst>
                  <a:lin ang="5400000" scaled="1"/>
                </a:gradFill>
              </a:ln>
              <a:noFill/>
              <a:latin typeface="Inter Black" panose="02000503000000020004" charset="0"/>
              <a:ea typeface="Inter Black" panose="02000503000000020004" charset="0"/>
              <a:cs typeface="Inter" panose="02000503000000020004" charset="0"/>
            </a:endParaRPr>
          </a:p>
        </p:txBody>
      </p:sp>
      <p:grpSp>
        <p:nvGrpSpPr>
          <p:cNvPr id="18" name="组合 17"/>
          <p:cNvGrpSpPr/>
          <p:nvPr>
            <p:custDataLst>
              <p:tags r:id="rId15"/>
            </p:custDataLst>
          </p:nvPr>
        </p:nvGrpSpPr>
        <p:grpSpPr>
          <a:xfrm rot="0">
            <a:off x="346075" y="5247005"/>
            <a:ext cx="3560445" cy="766445"/>
            <a:chOff x="1279" y="3137"/>
            <a:chExt cx="5607" cy="1299"/>
          </a:xfrm>
        </p:grpSpPr>
        <p:sp>
          <p:nvSpPr>
            <p:cNvPr id="19" name="平行四边形 18"/>
            <p:cNvSpPr/>
            <p:nvPr>
              <p:custDataLst>
                <p:tags r:id="rId16"/>
              </p:custDataLst>
            </p:nvPr>
          </p:nvSpPr>
          <p:spPr>
            <a:xfrm rot="10800000">
              <a:off x="1635" y="3137"/>
              <a:ext cx="5251" cy="1109"/>
            </a:xfrm>
            <a:prstGeom prst="parallelogram">
              <a:avLst>
                <a:gd name="adj" fmla="val 68862"/>
              </a:avLst>
            </a:prstGeom>
            <a:noFill/>
            <a:ln w="25400">
              <a:gradFill flip="none" rotWithShape="1">
                <a:gsLst>
                  <a:gs pos="2000">
                    <a:schemeClr val="accent6">
                      <a:alpha val="0"/>
                    </a:schemeClr>
                  </a:gs>
                  <a:gs pos="50000">
                    <a:schemeClr val="accent6"/>
                  </a:gs>
                  <a:gs pos="100000">
                    <a:schemeClr val="accent6">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cs typeface="Inter" panose="02000503000000020004" charset="0"/>
              </a:endParaRPr>
            </a:p>
          </p:txBody>
        </p:sp>
        <p:sp>
          <p:nvSpPr>
            <p:cNvPr id="20" name="平行四边形 19"/>
            <p:cNvSpPr/>
            <p:nvPr>
              <p:custDataLst>
                <p:tags r:id="rId17"/>
              </p:custDataLst>
            </p:nvPr>
          </p:nvSpPr>
          <p:spPr>
            <a:xfrm rot="10800000">
              <a:off x="1279" y="3310"/>
              <a:ext cx="5242" cy="1126"/>
            </a:xfrm>
            <a:prstGeom prst="parallelogram">
              <a:avLst>
                <a:gd name="adj" fmla="val 68862"/>
              </a:avLst>
            </a:prstGeom>
            <a:noFill/>
            <a:ln w="25400">
              <a:gradFill>
                <a:gsLst>
                  <a:gs pos="2000">
                    <a:schemeClr val="accent1">
                      <a:alpha val="0"/>
                    </a:schemeClr>
                  </a:gs>
                  <a:gs pos="50000">
                    <a:schemeClr val="accent1"/>
                  </a:gs>
                  <a:gs pos="100000">
                    <a:schemeClr val="accent1">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21" name="文本框 20"/>
          <p:cNvSpPr txBox="1"/>
          <p:nvPr>
            <p:custDataLst>
              <p:tags r:id="rId18"/>
            </p:custDataLst>
          </p:nvPr>
        </p:nvSpPr>
        <p:spPr>
          <a:xfrm flipH="1">
            <a:off x="889000" y="5355590"/>
            <a:ext cx="2493645" cy="521970"/>
          </a:xfrm>
          <a:prstGeom prst="rect">
            <a:avLst/>
          </a:prstGeom>
          <a:noFill/>
        </p:spPr>
        <p:txBody>
          <a:bodyPr wrap="square" rtlCol="0">
            <a:spAutoFit/>
          </a:bodyPr>
          <a:p>
            <a:pPr algn="ctr"/>
            <a:r>
              <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rPr>
              <a:t>Reja</a:t>
            </a:r>
            <a:endParaRPr lang="en-US" altLang="zh-CN" sz="2800" i="1">
              <a:ln>
                <a:noFill/>
              </a:ln>
              <a:solidFill>
                <a:schemeClr val="bg1"/>
              </a:solidFill>
              <a:latin typeface="Inter Black" panose="02000503000000020004" charset="0"/>
              <a:ea typeface="Inter Black" panose="02000503000000020004" charset="0"/>
              <a:cs typeface="Inter Black" panose="02000503000000020004" charset="0"/>
              <a:sym typeface="+mn-ea"/>
            </a:endParaRPr>
          </a:p>
        </p:txBody>
      </p:sp>
      <p:sp>
        <p:nvSpPr>
          <p:cNvPr id="2" name="Text Box 1"/>
          <p:cNvSpPr txBox="1"/>
          <p:nvPr/>
        </p:nvSpPr>
        <p:spPr>
          <a:xfrm>
            <a:off x="4150995" y="2718435"/>
            <a:ext cx="7859395" cy="398780"/>
          </a:xfrm>
          <a:prstGeom prst="rect">
            <a:avLst/>
          </a:prstGeom>
          <a:noFill/>
        </p:spPr>
        <p:txBody>
          <a:bodyPr wrap="square" rtlCol="0">
            <a:spAutoFit/>
          </a:bodyPr>
          <a:p>
            <a:r>
              <a:rPr lang="en-US" sz="2000">
                <a:solidFill>
                  <a:schemeClr val="bg2">
                    <a:lumMod val="95000"/>
                  </a:schemeClr>
                </a:solidFill>
              </a:rPr>
              <a:t>Broken Access Control nima, Access Control ishlash qoidalar</a:t>
            </a:r>
            <a:r>
              <a:rPr lang="en-US" sz="2000"/>
              <a:t>i</a:t>
            </a:r>
            <a:endParaRPr lang="en-US" sz="2000"/>
          </a:p>
        </p:txBody>
      </p:sp>
      <p:sp>
        <p:nvSpPr>
          <p:cNvPr id="6" name="Text Box 5"/>
          <p:cNvSpPr txBox="1"/>
          <p:nvPr/>
        </p:nvSpPr>
        <p:spPr>
          <a:xfrm>
            <a:off x="4233545" y="4046855"/>
            <a:ext cx="6910070" cy="398780"/>
          </a:xfrm>
          <a:prstGeom prst="rect">
            <a:avLst/>
          </a:prstGeom>
          <a:noFill/>
        </p:spPr>
        <p:txBody>
          <a:bodyPr wrap="square" rtlCol="0">
            <a:spAutoFit/>
          </a:bodyPr>
          <a:p>
            <a:r>
              <a:rPr lang="en-US" sz="2000">
                <a:solidFill>
                  <a:schemeClr val="bg2">
                    <a:lumMod val="95000"/>
                  </a:schemeClr>
                </a:solidFill>
              </a:rPr>
              <a:t>Acess Control buzulishi va oldini olish choralari</a:t>
            </a:r>
            <a:endParaRPr lang="en-US" sz="2000">
              <a:solidFill>
                <a:schemeClr val="bg2">
                  <a:lumMod val="95000"/>
                </a:schemeClr>
              </a:solidFill>
            </a:endParaRPr>
          </a:p>
        </p:txBody>
      </p:sp>
      <p:sp>
        <p:nvSpPr>
          <p:cNvPr id="10" name="Text Box 9"/>
          <p:cNvSpPr txBox="1"/>
          <p:nvPr/>
        </p:nvSpPr>
        <p:spPr>
          <a:xfrm>
            <a:off x="4337685" y="5450205"/>
            <a:ext cx="6324600" cy="398780"/>
          </a:xfrm>
          <a:prstGeom prst="rect">
            <a:avLst/>
          </a:prstGeom>
          <a:noFill/>
        </p:spPr>
        <p:txBody>
          <a:bodyPr wrap="square" rtlCol="0">
            <a:spAutoFit/>
          </a:bodyPr>
          <a:p>
            <a:r>
              <a:rPr lang="en-US" sz="2000">
                <a:solidFill>
                  <a:schemeClr val="bg2">
                    <a:lumMod val="95000"/>
                  </a:schemeClr>
                </a:solidFill>
              </a:rPr>
              <a:t>Amaliy misollar, Web app zaifliklari</a:t>
            </a:r>
            <a:endParaRPr lang="en-US" sz="2000">
              <a:solidFill>
                <a:schemeClr val="bg2">
                  <a:lumMod val="95000"/>
                </a:schemeClr>
              </a:solidFill>
            </a:endParaRPr>
          </a:p>
        </p:txBody>
      </p:sp>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128905"/>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Access Control o’zi nima ?</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155950" y="44704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8128635"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445770" y="1100455"/>
            <a:ext cx="11298555" cy="645160"/>
          </a:xfrm>
          <a:prstGeom prst="rect">
            <a:avLst/>
          </a:prstGeom>
          <a:noFill/>
        </p:spPr>
        <p:txBody>
          <a:bodyPr wrap="square" rtlCol="0">
            <a:spAutoFit/>
          </a:bodyPr>
          <a:p>
            <a:r>
              <a:rPr lang="en-US">
                <a:solidFill>
                  <a:schemeClr val="bg2">
                    <a:lumMod val="95000"/>
                  </a:schemeClr>
                </a:solidFill>
              </a:rPr>
              <a:t>Access Control - Bu malum bir foydalanuvchi so’rovlariga  ruxsat berish yoki bermaslikni boshqaruvchi jarayon hisoblanadi. </a:t>
            </a:r>
            <a:endParaRPr lang="en-US">
              <a:solidFill>
                <a:schemeClr val="bg2">
                  <a:lumMod val="95000"/>
                </a:schemeClr>
              </a:solidFill>
            </a:endParaRPr>
          </a:p>
        </p:txBody>
      </p:sp>
      <p:sp>
        <p:nvSpPr>
          <p:cNvPr id="5" name="Rectangles 4"/>
          <p:cNvSpPr/>
          <p:nvPr/>
        </p:nvSpPr>
        <p:spPr>
          <a:xfrm>
            <a:off x="2023110" y="2202180"/>
            <a:ext cx="2609215" cy="67564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r>
              <a:rPr lang="en-US"/>
              <a:t>Authentication</a:t>
            </a:r>
            <a:endParaRPr lang="en-US"/>
          </a:p>
        </p:txBody>
      </p:sp>
      <p:sp>
        <p:nvSpPr>
          <p:cNvPr id="6" name="Rectangles 5"/>
          <p:cNvSpPr/>
          <p:nvPr/>
        </p:nvSpPr>
        <p:spPr>
          <a:xfrm>
            <a:off x="6746240" y="2183130"/>
            <a:ext cx="2609215" cy="67564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r>
              <a:rPr lang="en-US"/>
              <a:t>Authorization</a:t>
            </a:r>
            <a:endParaRPr lang="en-US"/>
          </a:p>
        </p:txBody>
      </p:sp>
      <p:cxnSp>
        <p:nvCxnSpPr>
          <p:cNvPr id="16" name="Straight Arrow Connector 15"/>
          <p:cNvCxnSpPr/>
          <p:nvPr/>
        </p:nvCxnSpPr>
        <p:spPr>
          <a:xfrm>
            <a:off x="3345180" y="3204845"/>
            <a:ext cx="9525" cy="8096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3" name="Straight Arrow Connector 22"/>
          <p:cNvCxnSpPr/>
          <p:nvPr/>
        </p:nvCxnSpPr>
        <p:spPr>
          <a:xfrm flipH="1">
            <a:off x="8115935" y="3204845"/>
            <a:ext cx="12065" cy="7924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4" name="Text Box 23"/>
          <p:cNvSpPr txBox="1"/>
          <p:nvPr/>
        </p:nvSpPr>
        <p:spPr>
          <a:xfrm>
            <a:off x="2113915" y="4197985"/>
            <a:ext cx="2571750" cy="1198880"/>
          </a:xfrm>
          <a:prstGeom prst="rect">
            <a:avLst/>
          </a:prstGeom>
          <a:noFill/>
        </p:spPr>
        <p:txBody>
          <a:bodyPr wrap="square" rtlCol="0">
            <a:spAutoFit/>
          </a:bodyPr>
          <a:p>
            <a:pPr algn="ctr"/>
            <a:r>
              <a:rPr lang="en-US">
                <a:solidFill>
                  <a:schemeClr val="bg2">
                    <a:lumMod val="95000"/>
                  </a:schemeClr>
                </a:solidFill>
              </a:rPr>
              <a:t>Kim ekanligingizni tasdiqlash</a:t>
            </a:r>
            <a:endParaRPr lang="en-US">
              <a:solidFill>
                <a:schemeClr val="bg2">
                  <a:lumMod val="95000"/>
                </a:schemeClr>
              </a:solidFill>
            </a:endParaRPr>
          </a:p>
          <a:p>
            <a:pPr algn="ctr"/>
            <a:endParaRPr lang="en-US">
              <a:solidFill>
                <a:schemeClr val="bg2">
                  <a:lumMod val="95000"/>
                </a:schemeClr>
              </a:solidFill>
            </a:endParaRPr>
          </a:p>
          <a:p>
            <a:pPr algn="ctr"/>
            <a:r>
              <a:rPr lang="en-US">
                <a:solidFill>
                  <a:schemeClr val="bg2">
                    <a:lumMod val="95000"/>
                  </a:schemeClr>
                </a:solidFill>
              </a:rPr>
              <a:t>Login/Parol</a:t>
            </a:r>
            <a:endParaRPr lang="en-US">
              <a:solidFill>
                <a:schemeClr val="bg2">
                  <a:lumMod val="95000"/>
                </a:schemeClr>
              </a:solidFill>
            </a:endParaRPr>
          </a:p>
        </p:txBody>
      </p:sp>
      <p:sp>
        <p:nvSpPr>
          <p:cNvPr id="25" name="Text Box 24"/>
          <p:cNvSpPr txBox="1"/>
          <p:nvPr/>
        </p:nvSpPr>
        <p:spPr>
          <a:xfrm>
            <a:off x="6746240" y="4128770"/>
            <a:ext cx="2729865" cy="1198880"/>
          </a:xfrm>
          <a:prstGeom prst="rect">
            <a:avLst/>
          </a:prstGeom>
          <a:noFill/>
        </p:spPr>
        <p:txBody>
          <a:bodyPr wrap="square" rtlCol="0">
            <a:spAutoFit/>
          </a:bodyPr>
          <a:p>
            <a:pPr algn="ctr"/>
            <a:r>
              <a:rPr lang="en-US">
                <a:solidFill>
                  <a:schemeClr val="bg2">
                    <a:lumMod val="95000"/>
                  </a:schemeClr>
                </a:solidFill>
              </a:rPr>
              <a:t>Nima qila olasiz? Nima qila olmaysiz?</a:t>
            </a:r>
            <a:endParaRPr lang="en-US">
              <a:solidFill>
                <a:schemeClr val="bg2">
                  <a:lumMod val="95000"/>
                </a:schemeClr>
              </a:solidFill>
            </a:endParaRPr>
          </a:p>
          <a:p>
            <a:pPr algn="ctr"/>
            <a:endParaRPr lang="en-US">
              <a:solidFill>
                <a:schemeClr val="bg2">
                  <a:lumMod val="95000"/>
                </a:schemeClr>
              </a:solidFill>
            </a:endParaRPr>
          </a:p>
          <a:p>
            <a:pPr algn="ctr"/>
            <a:r>
              <a:rPr lang="en-US">
                <a:solidFill>
                  <a:schemeClr val="bg2">
                    <a:lumMod val="95000"/>
                  </a:schemeClr>
                </a:solidFill>
              </a:rPr>
              <a:t>User/Admin</a:t>
            </a:r>
            <a:endParaRPr lang="en-US">
              <a:solidFill>
                <a:schemeClr val="bg2">
                  <a:lumMod val="95000"/>
                </a:schemeClr>
              </a:solidFill>
            </a:endParaRPr>
          </a:p>
        </p:txBody>
      </p:sp>
      <p:sp>
        <p:nvSpPr>
          <p:cNvPr id="29" name="Text Box 28"/>
          <p:cNvSpPr txBox="1"/>
          <p:nvPr/>
        </p:nvSpPr>
        <p:spPr>
          <a:xfrm>
            <a:off x="857250" y="5625465"/>
            <a:ext cx="10230485" cy="368300"/>
          </a:xfrm>
          <a:prstGeom prst="rect">
            <a:avLst/>
          </a:prstGeom>
          <a:noFill/>
        </p:spPr>
        <p:txBody>
          <a:bodyPr wrap="square" rtlCol="0">
            <a:spAutoFit/>
          </a:bodyPr>
          <a:p>
            <a:endParaRPr lang="en-US">
              <a:solidFill>
                <a:schemeClr val="bg2"/>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18796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Broken Access Control turlari</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2759075"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8555990" y="447040"/>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cxnSp>
        <p:nvCxnSpPr>
          <p:cNvPr id="2" name="Straight Connector 1"/>
          <p:cNvCxnSpPr/>
          <p:nvPr/>
        </p:nvCxnSpPr>
        <p:spPr>
          <a:xfrm>
            <a:off x="833755" y="5274945"/>
            <a:ext cx="10713085" cy="0"/>
          </a:xfrm>
          <a:prstGeom prst="line">
            <a:avLst/>
          </a:prstGeom>
        </p:spPr>
        <p:style>
          <a:lnRef idx="2">
            <a:schemeClr val="accent1"/>
          </a:lnRef>
          <a:fillRef idx="0">
            <a:srgbClr val="FFFFFF"/>
          </a:fillRef>
          <a:effectRef idx="0">
            <a:srgbClr val="FFFFFF"/>
          </a:effectRef>
          <a:fontRef idx="minor">
            <a:schemeClr val="tx1"/>
          </a:fontRef>
        </p:style>
      </p:cxnSp>
      <p:sp>
        <p:nvSpPr>
          <p:cNvPr id="5" name="Rectangles 4"/>
          <p:cNvSpPr/>
          <p:nvPr/>
        </p:nvSpPr>
        <p:spPr>
          <a:xfrm>
            <a:off x="1330325" y="5205095"/>
            <a:ext cx="218440" cy="1441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Text Box 5"/>
          <p:cNvSpPr txBox="1"/>
          <p:nvPr/>
        </p:nvSpPr>
        <p:spPr>
          <a:xfrm>
            <a:off x="928370" y="5463540"/>
            <a:ext cx="1022985" cy="368300"/>
          </a:xfrm>
          <a:prstGeom prst="rect">
            <a:avLst/>
          </a:prstGeom>
          <a:noFill/>
        </p:spPr>
        <p:txBody>
          <a:bodyPr wrap="square" rtlCol="0">
            <a:spAutoFit/>
          </a:bodyPr>
          <a:p>
            <a:pPr algn="ctr"/>
            <a:r>
              <a:rPr lang="en-US">
                <a:solidFill>
                  <a:schemeClr val="bg2">
                    <a:lumMod val="95000"/>
                  </a:schemeClr>
                </a:solidFill>
              </a:rPr>
              <a:t>User 1</a:t>
            </a:r>
            <a:endParaRPr lang="en-US">
              <a:solidFill>
                <a:schemeClr val="bg2">
                  <a:lumMod val="95000"/>
                </a:schemeClr>
              </a:solidFill>
            </a:endParaRPr>
          </a:p>
        </p:txBody>
      </p:sp>
      <p:sp>
        <p:nvSpPr>
          <p:cNvPr id="20" name="Rectangles 19"/>
          <p:cNvSpPr/>
          <p:nvPr/>
        </p:nvSpPr>
        <p:spPr>
          <a:xfrm>
            <a:off x="3322320" y="5205095"/>
            <a:ext cx="218440" cy="1441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Text Box 20"/>
          <p:cNvSpPr txBox="1"/>
          <p:nvPr/>
        </p:nvSpPr>
        <p:spPr>
          <a:xfrm>
            <a:off x="2929890" y="5463540"/>
            <a:ext cx="1002665" cy="368300"/>
          </a:xfrm>
          <a:prstGeom prst="rect">
            <a:avLst/>
          </a:prstGeom>
          <a:noFill/>
        </p:spPr>
        <p:txBody>
          <a:bodyPr wrap="square" rtlCol="0">
            <a:spAutoFit/>
          </a:bodyPr>
          <a:p>
            <a:pPr algn="ctr"/>
            <a:r>
              <a:rPr lang="en-US">
                <a:solidFill>
                  <a:schemeClr val="bg2">
                    <a:lumMod val="95000"/>
                  </a:schemeClr>
                </a:solidFill>
              </a:rPr>
              <a:t>User 2</a:t>
            </a:r>
            <a:endParaRPr lang="en-US">
              <a:solidFill>
                <a:schemeClr val="bg2">
                  <a:lumMod val="95000"/>
                </a:schemeClr>
              </a:solidFill>
            </a:endParaRPr>
          </a:p>
        </p:txBody>
      </p:sp>
      <p:sp>
        <p:nvSpPr>
          <p:cNvPr id="22" name="Rectangles 21"/>
          <p:cNvSpPr/>
          <p:nvPr/>
        </p:nvSpPr>
        <p:spPr>
          <a:xfrm>
            <a:off x="5415915" y="5205095"/>
            <a:ext cx="218440" cy="1441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4765675" y="5463540"/>
            <a:ext cx="1518920" cy="368300"/>
          </a:xfrm>
          <a:prstGeom prst="rect">
            <a:avLst/>
          </a:prstGeom>
          <a:noFill/>
        </p:spPr>
        <p:txBody>
          <a:bodyPr wrap="square" rtlCol="0">
            <a:spAutoFit/>
          </a:bodyPr>
          <a:p>
            <a:pPr algn="ctr"/>
            <a:r>
              <a:rPr lang="en-US">
                <a:solidFill>
                  <a:schemeClr val="bg2">
                    <a:lumMod val="95000"/>
                  </a:schemeClr>
                </a:solidFill>
              </a:rPr>
              <a:t>Hujumchi</a:t>
            </a:r>
            <a:endParaRPr lang="en-US">
              <a:solidFill>
                <a:schemeClr val="bg2">
                  <a:lumMod val="95000"/>
                </a:schemeClr>
              </a:solidFill>
            </a:endParaRPr>
          </a:p>
        </p:txBody>
      </p:sp>
      <p:sp>
        <p:nvSpPr>
          <p:cNvPr id="24" name="Rectangles 23"/>
          <p:cNvSpPr/>
          <p:nvPr/>
        </p:nvSpPr>
        <p:spPr>
          <a:xfrm>
            <a:off x="7568565" y="5205095"/>
            <a:ext cx="218440" cy="1441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5" name="Text Box 24"/>
          <p:cNvSpPr txBox="1"/>
          <p:nvPr/>
        </p:nvSpPr>
        <p:spPr>
          <a:xfrm>
            <a:off x="7176770" y="5463540"/>
            <a:ext cx="1002665" cy="368300"/>
          </a:xfrm>
          <a:prstGeom prst="rect">
            <a:avLst/>
          </a:prstGeom>
          <a:noFill/>
        </p:spPr>
        <p:txBody>
          <a:bodyPr wrap="square" rtlCol="0">
            <a:spAutoFit/>
          </a:bodyPr>
          <a:p>
            <a:pPr algn="ctr"/>
            <a:r>
              <a:rPr lang="en-US">
                <a:solidFill>
                  <a:schemeClr val="bg2">
                    <a:lumMod val="95000"/>
                  </a:schemeClr>
                </a:solidFill>
              </a:rPr>
              <a:t>User 4</a:t>
            </a:r>
            <a:endParaRPr lang="en-US">
              <a:solidFill>
                <a:schemeClr val="bg2">
                  <a:lumMod val="95000"/>
                </a:schemeClr>
              </a:solidFill>
            </a:endParaRPr>
          </a:p>
        </p:txBody>
      </p:sp>
      <p:sp>
        <p:nvSpPr>
          <p:cNvPr id="26" name="Rectangles 25"/>
          <p:cNvSpPr/>
          <p:nvPr/>
        </p:nvSpPr>
        <p:spPr>
          <a:xfrm>
            <a:off x="9324975" y="5187950"/>
            <a:ext cx="218440" cy="1441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8870950" y="5463540"/>
            <a:ext cx="1002665" cy="368300"/>
          </a:xfrm>
          <a:prstGeom prst="rect">
            <a:avLst/>
          </a:prstGeom>
          <a:noFill/>
        </p:spPr>
        <p:txBody>
          <a:bodyPr wrap="square" rtlCol="0">
            <a:spAutoFit/>
          </a:bodyPr>
          <a:p>
            <a:pPr algn="ctr"/>
            <a:r>
              <a:rPr lang="en-US">
                <a:solidFill>
                  <a:schemeClr val="bg2">
                    <a:lumMod val="95000"/>
                  </a:schemeClr>
                </a:solidFill>
              </a:rPr>
              <a:t>User 5</a:t>
            </a:r>
            <a:endParaRPr lang="en-US">
              <a:solidFill>
                <a:schemeClr val="bg2">
                  <a:lumMod val="95000"/>
                </a:schemeClr>
              </a:solidFill>
            </a:endParaRPr>
          </a:p>
        </p:txBody>
      </p:sp>
      <p:sp>
        <p:nvSpPr>
          <p:cNvPr id="28" name="Text Box 27"/>
          <p:cNvSpPr txBox="1"/>
          <p:nvPr/>
        </p:nvSpPr>
        <p:spPr>
          <a:xfrm>
            <a:off x="7604760" y="4480560"/>
            <a:ext cx="3445510" cy="368300"/>
          </a:xfrm>
          <a:prstGeom prst="rect">
            <a:avLst/>
          </a:prstGeom>
          <a:noFill/>
        </p:spPr>
        <p:txBody>
          <a:bodyPr wrap="square" rtlCol="0">
            <a:spAutoFit/>
          </a:bodyPr>
          <a:p>
            <a:r>
              <a:rPr lang="en-US">
                <a:solidFill>
                  <a:schemeClr val="bg2">
                    <a:lumMod val="95000"/>
                  </a:schemeClr>
                </a:solidFill>
              </a:rPr>
              <a:t>Horizontal</a:t>
            </a:r>
            <a:endParaRPr lang="en-US">
              <a:solidFill>
                <a:schemeClr val="bg2">
                  <a:lumMod val="95000"/>
                </a:schemeClr>
              </a:solidFill>
            </a:endParaRPr>
          </a:p>
        </p:txBody>
      </p:sp>
      <p:cxnSp>
        <p:nvCxnSpPr>
          <p:cNvPr id="30" name="Straight Arrow Connector 29"/>
          <p:cNvCxnSpPr/>
          <p:nvPr/>
        </p:nvCxnSpPr>
        <p:spPr>
          <a:xfrm>
            <a:off x="7167245" y="4972050"/>
            <a:ext cx="2320925" cy="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31" name="Straight Arrow Connector 30"/>
          <p:cNvCxnSpPr/>
          <p:nvPr/>
        </p:nvCxnSpPr>
        <p:spPr>
          <a:xfrm flipH="1" flipV="1">
            <a:off x="5528945" y="2101850"/>
            <a:ext cx="19050" cy="279463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32" name="Straight Arrow Connector 31"/>
          <p:cNvCxnSpPr/>
          <p:nvPr/>
        </p:nvCxnSpPr>
        <p:spPr>
          <a:xfrm flipV="1">
            <a:off x="5731510" y="2440940"/>
            <a:ext cx="1379855" cy="245554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33" name="Text Box 32"/>
          <p:cNvSpPr txBox="1"/>
          <p:nvPr/>
        </p:nvSpPr>
        <p:spPr>
          <a:xfrm>
            <a:off x="4563745" y="1424940"/>
            <a:ext cx="1922780" cy="398780"/>
          </a:xfrm>
          <a:prstGeom prst="rect">
            <a:avLst/>
          </a:prstGeom>
          <a:noFill/>
        </p:spPr>
        <p:txBody>
          <a:bodyPr wrap="square" rtlCol="0">
            <a:spAutoFit/>
          </a:bodyPr>
          <a:p>
            <a:pPr algn="ctr"/>
            <a:r>
              <a:rPr lang="en-US" sz="2000">
                <a:solidFill>
                  <a:schemeClr val="bg2">
                    <a:lumMod val="95000"/>
                  </a:schemeClr>
                </a:solidFill>
              </a:rPr>
              <a:t>Admin</a:t>
            </a:r>
            <a:endParaRPr lang="en-US" sz="2000">
              <a:solidFill>
                <a:schemeClr val="bg2">
                  <a:lumMod val="95000"/>
                </a:schemeClr>
              </a:solidFill>
            </a:endParaRPr>
          </a:p>
        </p:txBody>
      </p:sp>
      <p:sp>
        <p:nvSpPr>
          <p:cNvPr id="34" name="Text Box 33"/>
          <p:cNvSpPr txBox="1"/>
          <p:nvPr/>
        </p:nvSpPr>
        <p:spPr>
          <a:xfrm>
            <a:off x="6284595" y="1823720"/>
            <a:ext cx="1922780" cy="398780"/>
          </a:xfrm>
          <a:prstGeom prst="rect">
            <a:avLst/>
          </a:prstGeom>
          <a:noFill/>
        </p:spPr>
        <p:txBody>
          <a:bodyPr wrap="square" rtlCol="0">
            <a:spAutoFit/>
          </a:bodyPr>
          <a:p>
            <a:pPr algn="ctr"/>
            <a:r>
              <a:rPr lang="en-US" sz="2000">
                <a:solidFill>
                  <a:schemeClr val="bg2">
                    <a:lumMod val="95000"/>
                  </a:schemeClr>
                </a:solidFill>
              </a:rPr>
              <a:t>Support</a:t>
            </a:r>
            <a:endParaRPr lang="en-US" sz="2000">
              <a:solidFill>
                <a:schemeClr val="bg2">
                  <a:lumMod val="95000"/>
                </a:schemeClr>
              </a:solidFill>
            </a:endParaRPr>
          </a:p>
        </p:txBody>
      </p:sp>
      <p:sp>
        <p:nvSpPr>
          <p:cNvPr id="35" name="Text Box 34"/>
          <p:cNvSpPr txBox="1"/>
          <p:nvPr/>
        </p:nvSpPr>
        <p:spPr>
          <a:xfrm rot="10800000">
            <a:off x="5069205" y="2357755"/>
            <a:ext cx="459740" cy="2491105"/>
          </a:xfrm>
          <a:prstGeom prst="rect">
            <a:avLst/>
          </a:prstGeom>
          <a:noFill/>
        </p:spPr>
        <p:txBody>
          <a:bodyPr vert="eaVert" wrap="square" rtlCol="0">
            <a:spAutoFit/>
          </a:bodyPr>
          <a:p>
            <a:pPr algn="ctr"/>
            <a:r>
              <a:rPr lang="en-US">
                <a:solidFill>
                  <a:schemeClr val="bg2">
                    <a:lumMod val="95000"/>
                  </a:schemeClr>
                </a:solidFill>
              </a:rPr>
              <a:t>Vertical</a:t>
            </a:r>
            <a:endParaRPr lang="en-US">
              <a:solidFill>
                <a:schemeClr val="bg2">
                  <a:lumMod val="95000"/>
                </a:schemeClr>
              </a:solidFill>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8509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Access Control Tahdidlari</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169285" y="47688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8153400" y="466090"/>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18" name="Text Box 17"/>
          <p:cNvSpPr txBox="1"/>
          <p:nvPr/>
        </p:nvSpPr>
        <p:spPr>
          <a:xfrm>
            <a:off x="413385" y="1419860"/>
            <a:ext cx="11470640" cy="3415030"/>
          </a:xfrm>
          <a:prstGeom prst="rect">
            <a:avLst/>
          </a:prstGeom>
          <a:noFill/>
        </p:spPr>
        <p:txBody>
          <a:bodyPr wrap="square" rtlCol="0">
            <a:spAutoFit/>
          </a:bodyPr>
          <a:p>
            <a:r>
              <a:rPr lang="en-US">
                <a:solidFill>
                  <a:srgbClr val="00B050"/>
                </a:solidFill>
              </a:rPr>
              <a:t>1)</a:t>
            </a:r>
            <a:r>
              <a:rPr lang="en-US">
                <a:solidFill>
                  <a:schemeClr val="bg2">
                    <a:lumMod val="95000"/>
                  </a:schemeClr>
                </a:solidFill>
              </a:rPr>
              <a:t> “Least privilege” eng kam huquq berish qoidasini buzulishi. “Deny by default” odatda inkor qilish</a:t>
            </a:r>
            <a:br>
              <a:rPr lang="en-US">
                <a:solidFill>
                  <a:schemeClr val="bg2">
                    <a:lumMod val="95000"/>
                  </a:schemeClr>
                </a:solidFill>
              </a:rPr>
            </a:br>
            <a:r>
              <a:rPr lang="en-US">
                <a:solidFill>
                  <a:srgbClr val="00B050"/>
                </a:solidFill>
              </a:rPr>
              <a:t>2) </a:t>
            </a:r>
            <a:r>
              <a:rPr lang="en-US">
                <a:solidFill>
                  <a:schemeClr val="bg1"/>
                </a:solidFill>
              </a:rPr>
              <a:t>URL linkni va API so’rovolarini o’zgartirish orqali access control tizimini aylanib o’tish</a:t>
            </a:r>
            <a:br>
              <a:rPr lang="en-US">
                <a:solidFill>
                  <a:schemeClr val="bg1"/>
                </a:solidFill>
              </a:rPr>
            </a:br>
            <a:r>
              <a:rPr lang="en-US">
                <a:solidFill>
                  <a:srgbClr val="00B050"/>
                </a:solidFill>
              </a:rPr>
              <a:t>3) </a:t>
            </a:r>
            <a:r>
              <a:rPr lang="en-US">
                <a:solidFill>
                  <a:schemeClr val="bg1"/>
                </a:solidFill>
              </a:rPr>
              <a:t>Yagona identifikatsa raqamlari (ID) sodda bo’lishi, ko’ra olish yoki o’zgartirish imkoniyatlari. IDOR</a:t>
            </a:r>
            <a:br>
              <a:rPr lang="en-US">
                <a:solidFill>
                  <a:schemeClr val="bg1"/>
                </a:solidFill>
              </a:rPr>
            </a:br>
            <a:r>
              <a:rPr lang="en-US">
                <a:solidFill>
                  <a:srgbClr val="00B050"/>
                </a:solidFill>
              </a:rPr>
              <a:t>4) </a:t>
            </a:r>
            <a:r>
              <a:rPr lang="en-US">
                <a:solidFill>
                  <a:schemeClr val="bg2"/>
                </a:solidFill>
              </a:rPr>
              <a:t>“Force Browsing” URL taxmin qilish, brute force yo’li orqali foydalanuvchilar ko’rishi kerak bo’lmagan web sahifalarga kira olishi</a:t>
            </a:r>
            <a:br>
              <a:rPr lang="en-US">
                <a:solidFill>
                  <a:schemeClr val="bg2"/>
                </a:solidFill>
              </a:rPr>
            </a:br>
            <a:r>
              <a:rPr lang="en-US">
                <a:solidFill>
                  <a:srgbClr val="00B050"/>
                </a:solidFill>
              </a:rPr>
              <a:t>5) </a:t>
            </a:r>
            <a:r>
              <a:rPr lang="en-US">
                <a:solidFill>
                  <a:schemeClr val="bg2"/>
                </a:solidFill>
              </a:rPr>
              <a:t>“Data Manipulation” access control uchun o’rnatilgan malumotlar session id, access token, JSON web token o’zgartirish, qalbakilashitirish.</a:t>
            </a:r>
            <a:br>
              <a:rPr lang="en-US">
                <a:solidFill>
                  <a:schemeClr val="bg2"/>
                </a:solidFill>
              </a:rPr>
            </a:br>
            <a:r>
              <a:rPr lang="en-US">
                <a:solidFill>
                  <a:srgbClr val="00B050"/>
                </a:solidFill>
              </a:rPr>
              <a:t>6) </a:t>
            </a:r>
            <a:r>
              <a:rPr lang="en-US">
                <a:solidFill>
                  <a:schemeClr val="bg2"/>
                </a:solidFill>
              </a:rPr>
              <a:t>“Cors Misconfiguration” CORS noto’gri sozlash oqibatida kelib chiqish boshqa bo’lgan huquqi tasdiqlanmagan (unauthenticated) manbani ruxsat olishi.</a:t>
            </a:r>
            <a:br>
              <a:rPr lang="en-US">
                <a:solidFill>
                  <a:schemeClr val="bg2"/>
                </a:solidFill>
              </a:rPr>
            </a:br>
            <a:r>
              <a:rPr lang="en-US">
                <a:solidFill>
                  <a:srgbClr val="00B050"/>
                </a:solidFill>
              </a:rPr>
              <a:t>7) </a:t>
            </a:r>
            <a:r>
              <a:rPr lang="en-US">
                <a:solidFill>
                  <a:schemeClr val="bg2"/>
                </a:solidFill>
              </a:rPr>
              <a:t>“Elevation of Privilege” foydalanuvchi ko’zlangan huquqlardan boshqa huquq va imkoniyatlariga ega bo’lishi (admin user)</a:t>
            </a:r>
            <a:br>
              <a:rPr lang="en-US">
                <a:solidFill>
                  <a:schemeClr val="bg1"/>
                </a:solidFill>
              </a:rPr>
            </a:br>
            <a:endParaRPr lang="en-US">
              <a:solidFill>
                <a:schemeClr val="bg1"/>
              </a:solidFill>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Oldini Olish Choralari</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9" name="Text Box 28"/>
          <p:cNvSpPr txBox="1"/>
          <p:nvPr/>
        </p:nvSpPr>
        <p:spPr>
          <a:xfrm>
            <a:off x="497205" y="1192530"/>
            <a:ext cx="11348085" cy="4523105"/>
          </a:xfrm>
          <a:prstGeom prst="rect">
            <a:avLst/>
          </a:prstGeom>
          <a:noFill/>
        </p:spPr>
        <p:txBody>
          <a:bodyPr wrap="square" rtlCol="0">
            <a:spAutoFit/>
          </a:bodyPr>
          <a:p>
            <a:r>
              <a:rPr lang="en-US">
                <a:solidFill>
                  <a:srgbClr val="00B050"/>
                </a:solidFill>
              </a:rPr>
              <a:t>1)</a:t>
            </a:r>
            <a:r>
              <a:rPr lang="en-US"/>
              <a:t> </a:t>
            </a:r>
            <a:r>
              <a:rPr lang="en-US">
                <a:solidFill>
                  <a:schemeClr val="bg2"/>
                </a:solidFill>
              </a:rPr>
              <a:t>Ommaviy ochiq bo’lgan ma’lumotlardan tashqari barcha narsa odatda inkor qilish “Deny by default”</a:t>
            </a:r>
            <a:br>
              <a:rPr lang="en-US">
                <a:solidFill>
                  <a:schemeClr val="bg2"/>
                </a:solidFill>
              </a:rPr>
            </a:br>
            <a:r>
              <a:rPr lang="en-US">
                <a:solidFill>
                  <a:srgbClr val="00B050"/>
                </a:solidFill>
              </a:rPr>
              <a:t>2) </a:t>
            </a:r>
            <a:r>
              <a:rPr lang="en-US">
                <a:solidFill>
                  <a:schemeClr val="bg2"/>
                </a:solidFill>
              </a:rPr>
              <a:t>Access Control mexanizmni bir marta o’rnatish (xar bir loginda) va qayta foydalanish, hamda CORS mexanizmni minimallashtirish</a:t>
            </a:r>
            <a:br>
              <a:rPr lang="en-US">
                <a:solidFill>
                  <a:schemeClr val="bg2"/>
                </a:solidFill>
              </a:rPr>
            </a:br>
            <a:r>
              <a:rPr lang="en-US">
                <a:solidFill>
                  <a:srgbClr val="00B050"/>
                </a:solidFill>
              </a:rPr>
              <a:t>3) </a:t>
            </a:r>
            <a:r>
              <a:rPr lang="en-US">
                <a:solidFill>
                  <a:schemeClr val="bg2"/>
                </a:solidFill>
              </a:rPr>
              <a:t>Model Access Control - foydalanuvchilar model o’zgartirishda asosan egalik huquqini tekshirishni amalga oshirish kerak, aks xolda boshqa foydalanuvchilarga tegishli malumotlarga xavf tug’dirishi mumkin</a:t>
            </a:r>
            <a:br>
              <a:rPr lang="en-US">
                <a:solidFill>
                  <a:schemeClr val="bg2"/>
                </a:solidFill>
              </a:rPr>
            </a:br>
            <a:r>
              <a:rPr lang="en-US">
                <a:solidFill>
                  <a:srgbClr val="00B050"/>
                </a:solidFill>
              </a:rPr>
              <a:t>4) </a:t>
            </a:r>
            <a:r>
              <a:rPr lang="en-US">
                <a:solidFill>
                  <a:schemeClr val="bg2"/>
                </a:solidFill>
              </a:rPr>
              <a:t>Bizness websitelar faqatgina domen modellari orqali qoidalarni, so’rovlarni, ximoyalarni tekshirish mexanizmlarni o’rnatishi kerak.</a:t>
            </a:r>
            <a:br>
              <a:rPr lang="en-US">
                <a:solidFill>
                  <a:schemeClr val="bg2"/>
                </a:solidFill>
              </a:rPr>
            </a:br>
            <a:r>
              <a:rPr lang="en-US">
                <a:solidFill>
                  <a:srgbClr val="00B050"/>
                </a:solidFill>
              </a:rPr>
              <a:t>5) </a:t>
            </a:r>
            <a:r>
              <a:rPr lang="en-US">
                <a:solidFill>
                  <a:schemeClr val="bg2"/>
                </a:solidFill>
              </a:rPr>
              <a:t>Web saxifalarni ortiqcha qismiga kirishni ruxsat bermaslik kerak, malumot saqlash uchun shaxsiy yopiq githubdan foydalanish samaraliroq webrootni o’zida foydalangandan ko’ra</a:t>
            </a:r>
            <a:br>
              <a:rPr lang="en-US">
                <a:solidFill>
                  <a:schemeClr val="bg2"/>
                </a:solidFill>
              </a:rPr>
            </a:br>
            <a:r>
              <a:rPr lang="en-US">
                <a:solidFill>
                  <a:srgbClr val="00B050"/>
                </a:solidFill>
              </a:rPr>
              <a:t>6) </a:t>
            </a:r>
            <a:r>
              <a:rPr lang="en-US">
                <a:solidFill>
                  <a:schemeClr val="bg2"/>
                </a:solidFill>
              </a:rPr>
              <a:t>“Log access” login ulanishni boshqarishda ketma ket xato urunishlarda admini ogoxlantirish</a:t>
            </a:r>
            <a:br>
              <a:rPr lang="en-US">
                <a:solidFill>
                  <a:schemeClr val="bg2"/>
                </a:solidFill>
              </a:rPr>
            </a:br>
            <a:r>
              <a:rPr lang="en-US">
                <a:solidFill>
                  <a:srgbClr val="00B050"/>
                </a:solidFill>
              </a:rPr>
              <a:t>7) </a:t>
            </a:r>
            <a:r>
              <a:rPr lang="en-US">
                <a:solidFill>
                  <a:schemeClr val="bg2"/>
                </a:solidFill>
              </a:rPr>
              <a:t>“Rate Limiting” Avtomatlashitirlgan dasturlardan zararni kamayitirsh maqsadida kirish tizimini cheklov qo’yish</a:t>
            </a:r>
            <a:br>
              <a:rPr lang="en-US">
                <a:solidFill>
                  <a:schemeClr val="bg2"/>
                </a:solidFill>
              </a:rPr>
            </a:br>
            <a:r>
              <a:rPr lang="en-US">
                <a:solidFill>
                  <a:srgbClr val="00B050"/>
                </a:solidFill>
              </a:rPr>
              <a:t>8) </a:t>
            </a:r>
            <a:r>
              <a:rPr lang="en-US">
                <a:solidFill>
                  <a:schemeClr val="bg2"/>
                </a:solidFill>
              </a:rPr>
              <a:t>Har safar yangi loginda o’zgarib turadigan “Stateful” session ID foydalanish kerak JWT tokenlar uchun yaroqlilik muddati kam bo’lishi kerak har ehtimolga qarshi hujumchini vaqtidan cheklash uchun</a:t>
            </a:r>
            <a:br>
              <a:rPr lang="en-US">
                <a:solidFill>
                  <a:schemeClr val="bg2"/>
                </a:solidFill>
              </a:rPr>
            </a:br>
            <a:endParaRPr lang="en-US">
              <a:solidFill>
                <a:schemeClr val="bg2"/>
              </a:solidFill>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17" y="54673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61740" y="127000"/>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Pentestingda amaliy misollar</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2834005" y="46609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8533130" y="447040"/>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7" name="Text Box 6"/>
          <p:cNvSpPr txBox="1"/>
          <p:nvPr/>
        </p:nvSpPr>
        <p:spPr>
          <a:xfrm>
            <a:off x="743585" y="1163955"/>
            <a:ext cx="10344150" cy="521970"/>
          </a:xfrm>
          <a:prstGeom prst="rect">
            <a:avLst/>
          </a:prstGeom>
          <a:noFill/>
        </p:spPr>
        <p:txBody>
          <a:bodyPr wrap="square" rtlCol="0">
            <a:spAutoFit/>
          </a:bodyPr>
          <a:p>
            <a:pPr algn="ctr"/>
            <a:r>
              <a:rPr lang="en-US" sz="2800" b="1">
                <a:solidFill>
                  <a:schemeClr val="bg2"/>
                </a:solidFill>
              </a:rPr>
              <a:t>I</a:t>
            </a:r>
            <a:r>
              <a:rPr lang="en-US" sz="1600">
                <a:solidFill>
                  <a:schemeClr val="bg2"/>
                </a:solidFill>
              </a:rPr>
              <a:t>nsecure</a:t>
            </a:r>
            <a:r>
              <a:rPr lang="en-US">
                <a:solidFill>
                  <a:schemeClr val="bg2"/>
                </a:solidFill>
              </a:rPr>
              <a:t> </a:t>
            </a:r>
            <a:r>
              <a:rPr lang="en-US" sz="2800" b="1">
                <a:solidFill>
                  <a:schemeClr val="bg2"/>
                </a:solidFill>
              </a:rPr>
              <a:t>D</a:t>
            </a:r>
            <a:r>
              <a:rPr lang="en-US" sz="1600">
                <a:solidFill>
                  <a:schemeClr val="bg2"/>
                </a:solidFill>
              </a:rPr>
              <a:t>irect</a:t>
            </a:r>
            <a:r>
              <a:rPr lang="en-US">
                <a:solidFill>
                  <a:schemeClr val="bg2"/>
                </a:solidFill>
              </a:rPr>
              <a:t> </a:t>
            </a:r>
            <a:r>
              <a:rPr lang="en-US" sz="2800" b="1">
                <a:solidFill>
                  <a:schemeClr val="bg2"/>
                </a:solidFill>
              </a:rPr>
              <a:t>O</a:t>
            </a:r>
            <a:r>
              <a:rPr lang="en-US" sz="1600">
                <a:solidFill>
                  <a:schemeClr val="bg2"/>
                </a:solidFill>
              </a:rPr>
              <a:t>bject</a:t>
            </a:r>
            <a:r>
              <a:rPr lang="en-US">
                <a:solidFill>
                  <a:schemeClr val="bg2"/>
                </a:solidFill>
              </a:rPr>
              <a:t> </a:t>
            </a:r>
            <a:r>
              <a:rPr lang="en-US" sz="2800" b="1">
                <a:solidFill>
                  <a:schemeClr val="bg2"/>
                </a:solidFill>
              </a:rPr>
              <a:t>R</a:t>
            </a:r>
            <a:r>
              <a:rPr lang="en-US" sz="1600">
                <a:solidFill>
                  <a:schemeClr val="bg2"/>
                </a:solidFill>
              </a:rPr>
              <a:t>efernce</a:t>
            </a:r>
            <a:endParaRPr lang="en-US" sz="1600">
              <a:solidFill>
                <a:schemeClr val="bg2"/>
              </a:solidFill>
            </a:endParaRPr>
          </a:p>
        </p:txBody>
      </p:sp>
      <p:sp>
        <p:nvSpPr>
          <p:cNvPr id="16" name="Text Box 15"/>
          <p:cNvSpPr txBox="1"/>
          <p:nvPr/>
        </p:nvSpPr>
        <p:spPr>
          <a:xfrm>
            <a:off x="800735" y="2139950"/>
            <a:ext cx="4518025" cy="368300"/>
          </a:xfrm>
          <a:prstGeom prst="rect">
            <a:avLst/>
          </a:prstGeom>
          <a:noFill/>
        </p:spPr>
        <p:txBody>
          <a:bodyPr wrap="square" rtlCol="0">
            <a:spAutoFit/>
          </a:bodyPr>
          <a:p>
            <a:r>
              <a:rPr lang="en-US">
                <a:solidFill>
                  <a:schemeClr val="bg2"/>
                </a:solidFill>
              </a:rPr>
              <a:t>https://example.com/account?id=1001</a:t>
            </a:r>
            <a:endParaRPr lang="en-US">
              <a:solidFill>
                <a:schemeClr val="bg2"/>
              </a:solidFill>
            </a:endParaRPr>
          </a:p>
        </p:txBody>
      </p:sp>
      <p:cxnSp>
        <p:nvCxnSpPr>
          <p:cNvPr id="18" name="Straight Arrow Connector 17"/>
          <p:cNvCxnSpPr>
            <a:stCxn id="16" idx="3"/>
          </p:cNvCxnSpPr>
          <p:nvPr/>
        </p:nvCxnSpPr>
        <p:spPr>
          <a:xfrm flipV="1">
            <a:off x="5318760" y="2313305"/>
            <a:ext cx="1802130"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Text Box 19"/>
          <p:cNvSpPr txBox="1"/>
          <p:nvPr/>
        </p:nvSpPr>
        <p:spPr>
          <a:xfrm>
            <a:off x="7459345" y="2084070"/>
            <a:ext cx="2605405" cy="368300"/>
          </a:xfrm>
          <a:prstGeom prst="rect">
            <a:avLst/>
          </a:prstGeom>
          <a:noFill/>
        </p:spPr>
        <p:txBody>
          <a:bodyPr wrap="square" rtlCol="0">
            <a:spAutoFit/>
          </a:bodyPr>
          <a:p>
            <a:r>
              <a:rPr lang="en-US">
                <a:solidFill>
                  <a:schemeClr val="bg2"/>
                </a:solidFill>
              </a:rPr>
              <a:t>John</a:t>
            </a:r>
            <a:endParaRPr lang="en-US">
              <a:solidFill>
                <a:schemeClr val="bg2"/>
              </a:solidFill>
            </a:endParaRPr>
          </a:p>
        </p:txBody>
      </p:sp>
      <p:sp>
        <p:nvSpPr>
          <p:cNvPr id="21" name="Text Box 20"/>
          <p:cNvSpPr txBox="1"/>
          <p:nvPr/>
        </p:nvSpPr>
        <p:spPr>
          <a:xfrm>
            <a:off x="800735" y="2962275"/>
            <a:ext cx="4518025" cy="368300"/>
          </a:xfrm>
          <a:prstGeom prst="rect">
            <a:avLst/>
          </a:prstGeom>
          <a:noFill/>
        </p:spPr>
        <p:txBody>
          <a:bodyPr wrap="square" rtlCol="0">
            <a:spAutoFit/>
          </a:bodyPr>
          <a:p>
            <a:r>
              <a:rPr lang="en-US">
                <a:solidFill>
                  <a:schemeClr val="bg2"/>
                </a:solidFill>
              </a:rPr>
              <a:t>https://example.com/account?id=1002</a:t>
            </a:r>
            <a:endParaRPr lang="en-US">
              <a:solidFill>
                <a:schemeClr val="bg2"/>
              </a:solidFill>
            </a:endParaRPr>
          </a:p>
        </p:txBody>
      </p:sp>
      <p:cxnSp>
        <p:nvCxnSpPr>
          <p:cNvPr id="22" name="Straight Arrow Connector 21"/>
          <p:cNvCxnSpPr/>
          <p:nvPr/>
        </p:nvCxnSpPr>
        <p:spPr>
          <a:xfrm flipV="1">
            <a:off x="5318760" y="3140710"/>
            <a:ext cx="1802130"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3" name="Text Box 22"/>
          <p:cNvSpPr txBox="1"/>
          <p:nvPr/>
        </p:nvSpPr>
        <p:spPr>
          <a:xfrm>
            <a:off x="7459345" y="2962275"/>
            <a:ext cx="2605405" cy="368300"/>
          </a:xfrm>
          <a:prstGeom prst="rect">
            <a:avLst/>
          </a:prstGeom>
          <a:noFill/>
        </p:spPr>
        <p:txBody>
          <a:bodyPr wrap="square" rtlCol="0">
            <a:spAutoFit/>
          </a:bodyPr>
          <a:p>
            <a:r>
              <a:rPr lang="en-US">
                <a:solidFill>
                  <a:schemeClr val="bg2"/>
                </a:solidFill>
              </a:rPr>
              <a:t>Alex</a:t>
            </a:r>
            <a:endParaRPr lang="en-US">
              <a:solidFill>
                <a:schemeClr val="bg2"/>
              </a:solidFill>
            </a:endParaRPr>
          </a:p>
        </p:txBody>
      </p:sp>
      <p:sp>
        <p:nvSpPr>
          <p:cNvPr id="24" name="Text Box 23"/>
          <p:cNvSpPr txBox="1"/>
          <p:nvPr/>
        </p:nvSpPr>
        <p:spPr>
          <a:xfrm>
            <a:off x="829310" y="3429000"/>
            <a:ext cx="9813925" cy="645160"/>
          </a:xfrm>
          <a:prstGeom prst="rect">
            <a:avLst/>
          </a:prstGeom>
          <a:noFill/>
        </p:spPr>
        <p:txBody>
          <a:bodyPr wrap="square" rtlCol="0">
            <a:spAutoFit/>
          </a:bodyPr>
          <a:p>
            <a:r>
              <a:rPr lang="en-US">
                <a:solidFill>
                  <a:schemeClr val="bg2"/>
                </a:solidFill>
              </a:rPr>
              <a:t>Himoya uchun taxminiy bo’lgan UUID v4 hash foydalanish mumkin</a:t>
            </a:r>
            <a:br>
              <a:rPr lang="en-US">
                <a:solidFill>
                  <a:schemeClr val="bg2"/>
                </a:solidFill>
              </a:rPr>
            </a:br>
            <a:r>
              <a:rPr lang="en-US">
                <a:solidFill>
                  <a:schemeClr val="bg2"/>
                </a:solidFill>
              </a:rPr>
              <a:t>Namuna: </a:t>
            </a:r>
            <a:r>
              <a:rPr lang="en-US" altLang="en-US">
                <a:solidFill>
                  <a:srgbClr val="00B050"/>
                </a:solidFill>
              </a:rPr>
              <a:t>89c9b29b-d19f-4515-b2dd-abb6e693eb20</a:t>
            </a:r>
            <a:endParaRPr lang="en-US" altLang="en-US">
              <a:solidFill>
                <a:srgbClr val="00B050"/>
              </a:solidFill>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2" name="Text Box 1"/>
          <p:cNvSpPr txBox="1"/>
          <p:nvPr/>
        </p:nvSpPr>
        <p:spPr>
          <a:xfrm>
            <a:off x="743585" y="3153410"/>
            <a:ext cx="7520940" cy="368300"/>
          </a:xfrm>
          <a:prstGeom prst="rect">
            <a:avLst/>
          </a:prstGeom>
          <a:noFill/>
        </p:spPr>
        <p:txBody>
          <a:bodyPr wrap="square" rtlCol="0">
            <a:spAutoFit/>
          </a:bodyPr>
          <a:p>
            <a:r>
              <a:rPr lang="en-US">
                <a:solidFill>
                  <a:schemeClr val="bg2"/>
                </a:solidFill>
              </a:rPr>
              <a:t>Login &amp; Parol                        Server Session ID yaratadi</a:t>
            </a:r>
            <a:endParaRPr lang="en-US">
              <a:solidFill>
                <a:schemeClr val="bg2"/>
              </a:solidFill>
            </a:endParaRPr>
          </a:p>
        </p:txBody>
      </p:sp>
      <p:cxnSp>
        <p:nvCxnSpPr>
          <p:cNvPr id="3" name="Straight Arrow Connector 2"/>
          <p:cNvCxnSpPr/>
          <p:nvPr/>
        </p:nvCxnSpPr>
        <p:spPr>
          <a:xfrm flipV="1">
            <a:off x="2479040" y="3332480"/>
            <a:ext cx="1240790" cy="95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3007995" y="360045"/>
            <a:ext cx="5966460" cy="398780"/>
          </a:xfrm>
          <a:prstGeom prst="rect">
            <a:avLst/>
          </a:prstGeom>
          <a:noFill/>
        </p:spPr>
        <p:txBody>
          <a:bodyPr wrap="square" rtlCol="0">
            <a:spAutoFit/>
          </a:bodyPr>
          <a:p>
            <a:r>
              <a:rPr lang="en-US" sz="2000">
                <a:solidFill>
                  <a:schemeClr val="bg2"/>
                </a:solidFill>
              </a:rPr>
              <a:t>Stateful Session ID orqali himoya</a:t>
            </a:r>
            <a:endParaRPr lang="en-US" sz="2000">
              <a:solidFill>
                <a:schemeClr val="bg2"/>
              </a:solidFill>
            </a:endParaRPr>
          </a:p>
        </p:txBody>
      </p:sp>
      <p:cxnSp>
        <p:nvCxnSpPr>
          <p:cNvPr id="6" name="Straight Arrow Connector 5"/>
          <p:cNvCxnSpPr/>
          <p:nvPr/>
        </p:nvCxnSpPr>
        <p:spPr>
          <a:xfrm flipV="1">
            <a:off x="7008495" y="3352165"/>
            <a:ext cx="1181735" cy="101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8586470" y="1597025"/>
            <a:ext cx="2333625" cy="938530"/>
          </a:xfrm>
          <a:prstGeom prst="rect">
            <a:avLst/>
          </a:prstGeom>
          <a:noFill/>
        </p:spPr>
        <p:txBody>
          <a:bodyPr wrap="square" rtlCol="0">
            <a:noAutofit/>
          </a:bodyPr>
          <a:p>
            <a:endParaRPr lang="en-US"/>
          </a:p>
        </p:txBody>
      </p:sp>
      <p:cxnSp>
        <p:nvCxnSpPr>
          <p:cNvPr id="10" name="Straight Arrow Connector 9"/>
          <p:cNvCxnSpPr/>
          <p:nvPr/>
        </p:nvCxnSpPr>
        <p:spPr>
          <a:xfrm flipH="1">
            <a:off x="5052695" y="3666490"/>
            <a:ext cx="10160" cy="12312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3583305" y="5046345"/>
            <a:ext cx="4001770" cy="368300"/>
          </a:xfrm>
          <a:prstGeom prst="rect">
            <a:avLst/>
          </a:prstGeom>
          <a:noFill/>
        </p:spPr>
        <p:txBody>
          <a:bodyPr wrap="square" rtlCol="0">
            <a:spAutoFit/>
          </a:bodyPr>
          <a:p>
            <a:r>
              <a:rPr lang="en-US">
                <a:solidFill>
                  <a:schemeClr val="bg2"/>
                </a:solidFill>
              </a:rPr>
              <a:t>Cookie: PHPSESSID=1654nbuw...</a:t>
            </a:r>
            <a:endParaRPr lang="en-US">
              <a:solidFill>
                <a:schemeClr val="bg2"/>
              </a:solidFill>
            </a:endParaRPr>
          </a:p>
        </p:txBody>
      </p:sp>
      <p:sp>
        <p:nvSpPr>
          <p:cNvPr id="13" name="Rectangles 12"/>
          <p:cNvSpPr/>
          <p:nvPr/>
        </p:nvSpPr>
        <p:spPr>
          <a:xfrm>
            <a:off x="8368665" y="2711450"/>
            <a:ext cx="2769870" cy="12509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Text Box 13"/>
          <p:cNvSpPr txBox="1"/>
          <p:nvPr/>
        </p:nvSpPr>
        <p:spPr>
          <a:xfrm>
            <a:off x="8537575" y="2891790"/>
            <a:ext cx="2422525" cy="922020"/>
          </a:xfrm>
          <a:prstGeom prst="rect">
            <a:avLst/>
          </a:prstGeom>
          <a:noFill/>
        </p:spPr>
        <p:txBody>
          <a:bodyPr wrap="square" rtlCol="0">
            <a:spAutoFit/>
          </a:bodyPr>
          <a:p>
            <a:pPr algn="ctr"/>
            <a:r>
              <a:rPr lang="en-US">
                <a:sym typeface="+mn-ea"/>
              </a:rPr>
              <a:t>Session ID server xotirasida saqlanadi</a:t>
            </a:r>
            <a:endParaRPr lang="en-US"/>
          </a:p>
          <a:p>
            <a:pPr algn="ctr"/>
            <a:endParaRPr lang="en-US"/>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IDOR hujum</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4098925" y="44704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513320" y="44767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pic>
        <p:nvPicPr>
          <p:cNvPr id="5" name="Picture 4"/>
          <p:cNvPicPr/>
          <p:nvPr/>
        </p:nvPicPr>
        <p:blipFill>
          <a:blip r:embed="rId3"/>
          <a:stretch>
            <a:fillRect/>
          </a:stretch>
        </p:blipFill>
        <p:spPr>
          <a:xfrm>
            <a:off x="1390650" y="1080135"/>
            <a:ext cx="9088755" cy="5229860"/>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Race Condition</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841115" y="48450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526655" y="466090"/>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5" name="Text Box 4"/>
          <p:cNvSpPr txBox="1"/>
          <p:nvPr/>
        </p:nvSpPr>
        <p:spPr>
          <a:xfrm>
            <a:off x="535305" y="935990"/>
            <a:ext cx="10762615" cy="1476375"/>
          </a:xfrm>
          <a:prstGeom prst="rect">
            <a:avLst/>
          </a:prstGeom>
          <a:noFill/>
        </p:spPr>
        <p:txBody>
          <a:bodyPr wrap="square" rtlCol="0">
            <a:spAutoFit/>
          </a:bodyPr>
          <a:p>
            <a:r>
              <a:rPr lang="en-US">
                <a:solidFill>
                  <a:schemeClr val="bg2"/>
                </a:solidFill>
              </a:rPr>
              <a:t>Race Condition - Bunda malumotlar poyga holatida bo’ladi asosiy sabab web application bitta malumotni bir qancha sorovlarda ishlashi natijada malumotlar to’qnashuvini keltirib chiqaradi.</a:t>
            </a:r>
            <a:br>
              <a:rPr lang="en-US">
                <a:solidFill>
                  <a:schemeClr val="bg2"/>
                </a:solidFill>
              </a:rPr>
            </a:br>
            <a:br>
              <a:rPr lang="en-US">
                <a:solidFill>
                  <a:schemeClr val="bg2"/>
                </a:solidFill>
              </a:rPr>
            </a:br>
            <a:r>
              <a:rPr lang="en-US">
                <a:solidFill>
                  <a:schemeClr val="bg2"/>
                </a:solidFill>
              </a:rPr>
              <a:t>“Race Condition” biznes mantiqiy zaifliklariga (Business logic flaw) aloqador bo’ladi va Kirish tizimini buzilishga sabab ham bo’ladi (Broken Access Control)</a:t>
            </a:r>
            <a:endParaRPr lang="en-US">
              <a:solidFill>
                <a:schemeClr val="bg2"/>
              </a:solidFill>
            </a:endParaRPr>
          </a:p>
        </p:txBody>
      </p:sp>
      <p:sp>
        <p:nvSpPr>
          <p:cNvPr id="7" name="Text Box 6"/>
          <p:cNvSpPr txBox="1"/>
          <p:nvPr/>
        </p:nvSpPr>
        <p:spPr>
          <a:xfrm>
            <a:off x="1061720" y="2666365"/>
            <a:ext cx="2531745" cy="368300"/>
          </a:xfrm>
          <a:prstGeom prst="rect">
            <a:avLst/>
          </a:prstGeom>
          <a:noFill/>
        </p:spPr>
        <p:txBody>
          <a:bodyPr wrap="square" rtlCol="0">
            <a:spAutoFit/>
          </a:bodyPr>
          <a:p>
            <a:pPr algn="ctr"/>
            <a:r>
              <a:rPr lang="en-US">
                <a:solidFill>
                  <a:schemeClr val="bg2"/>
                </a:solidFill>
              </a:rPr>
              <a:t>Kupon jonatildi</a:t>
            </a:r>
            <a:endParaRPr lang="en-US">
              <a:solidFill>
                <a:schemeClr val="bg2"/>
              </a:solidFill>
            </a:endParaRPr>
          </a:p>
        </p:txBody>
      </p:sp>
      <p:sp>
        <p:nvSpPr>
          <p:cNvPr id="16" name="Text Box 15"/>
          <p:cNvSpPr txBox="1"/>
          <p:nvPr/>
        </p:nvSpPr>
        <p:spPr>
          <a:xfrm>
            <a:off x="1061720" y="3608705"/>
            <a:ext cx="2531745" cy="645160"/>
          </a:xfrm>
          <a:prstGeom prst="rect">
            <a:avLst/>
          </a:prstGeom>
          <a:noFill/>
        </p:spPr>
        <p:txBody>
          <a:bodyPr wrap="square" rtlCol="0">
            <a:spAutoFit/>
          </a:bodyPr>
          <a:p>
            <a:pPr algn="ctr"/>
            <a:r>
              <a:rPr lang="en-US">
                <a:solidFill>
                  <a:schemeClr val="bg2"/>
                </a:solidFill>
              </a:rPr>
              <a:t>Ishlatilganmi? </a:t>
            </a:r>
            <a:br>
              <a:rPr lang="en-US">
                <a:solidFill>
                  <a:schemeClr val="bg2"/>
                </a:solidFill>
              </a:rPr>
            </a:br>
            <a:r>
              <a:rPr lang="en-US">
                <a:solidFill>
                  <a:schemeClr val="bg2"/>
                </a:solidFill>
              </a:rPr>
              <a:t>Yo’q</a:t>
            </a:r>
            <a:endParaRPr lang="en-US">
              <a:solidFill>
                <a:schemeClr val="bg2"/>
              </a:solidFill>
            </a:endParaRPr>
          </a:p>
        </p:txBody>
      </p:sp>
      <p:cxnSp>
        <p:nvCxnSpPr>
          <p:cNvPr id="18" name="Straight Arrow Connector 17"/>
          <p:cNvCxnSpPr/>
          <p:nvPr/>
        </p:nvCxnSpPr>
        <p:spPr>
          <a:xfrm>
            <a:off x="2322195" y="3073400"/>
            <a:ext cx="10160" cy="5956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Straight Arrow Connector 18"/>
          <p:cNvCxnSpPr/>
          <p:nvPr/>
        </p:nvCxnSpPr>
        <p:spPr>
          <a:xfrm>
            <a:off x="2332355" y="4253865"/>
            <a:ext cx="10160" cy="5956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Text Box 19"/>
          <p:cNvSpPr txBox="1"/>
          <p:nvPr/>
        </p:nvSpPr>
        <p:spPr>
          <a:xfrm>
            <a:off x="1180465" y="4849495"/>
            <a:ext cx="2531745" cy="368300"/>
          </a:xfrm>
          <a:prstGeom prst="rect">
            <a:avLst/>
          </a:prstGeom>
          <a:noFill/>
        </p:spPr>
        <p:txBody>
          <a:bodyPr wrap="square" rtlCol="0">
            <a:spAutoFit/>
          </a:bodyPr>
          <a:p>
            <a:pPr algn="ctr"/>
            <a:r>
              <a:rPr lang="en-US">
                <a:solidFill>
                  <a:schemeClr val="bg2"/>
                </a:solidFill>
              </a:rPr>
              <a:t>Chegirma qo’yiladi</a:t>
            </a:r>
            <a:endParaRPr lang="en-US">
              <a:solidFill>
                <a:schemeClr val="bg2"/>
              </a:solidFill>
            </a:endParaRPr>
          </a:p>
        </p:txBody>
      </p:sp>
      <p:cxnSp>
        <p:nvCxnSpPr>
          <p:cNvPr id="21" name="Straight Arrow Connector 20"/>
          <p:cNvCxnSpPr/>
          <p:nvPr/>
        </p:nvCxnSpPr>
        <p:spPr>
          <a:xfrm>
            <a:off x="2352675" y="5217795"/>
            <a:ext cx="10160" cy="5956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2" name="Text Box 21"/>
          <p:cNvSpPr txBox="1"/>
          <p:nvPr/>
        </p:nvSpPr>
        <p:spPr>
          <a:xfrm>
            <a:off x="1180465" y="5979160"/>
            <a:ext cx="2531745" cy="645160"/>
          </a:xfrm>
          <a:prstGeom prst="rect">
            <a:avLst/>
          </a:prstGeom>
          <a:noFill/>
        </p:spPr>
        <p:txBody>
          <a:bodyPr wrap="square" rtlCol="0">
            <a:spAutoFit/>
          </a:bodyPr>
          <a:p>
            <a:pPr algn="ctr"/>
            <a:r>
              <a:rPr lang="en-US">
                <a:solidFill>
                  <a:schemeClr val="bg2"/>
                </a:solidFill>
              </a:rPr>
              <a:t>Kupon yaroqsiz holatga o’tadi</a:t>
            </a:r>
            <a:endParaRPr lang="en-US">
              <a:solidFill>
                <a:schemeClr val="bg2"/>
              </a:solidFill>
            </a:endParaRPr>
          </a:p>
        </p:txBody>
      </p:sp>
      <p:sp>
        <p:nvSpPr>
          <p:cNvPr id="23" name="Text Box 22"/>
          <p:cNvSpPr txBox="1"/>
          <p:nvPr/>
        </p:nvSpPr>
        <p:spPr>
          <a:xfrm>
            <a:off x="6033770" y="2666365"/>
            <a:ext cx="2531745" cy="368300"/>
          </a:xfrm>
          <a:prstGeom prst="rect">
            <a:avLst/>
          </a:prstGeom>
          <a:noFill/>
        </p:spPr>
        <p:txBody>
          <a:bodyPr wrap="square" rtlCol="0">
            <a:spAutoFit/>
          </a:bodyPr>
          <a:p>
            <a:pPr algn="ctr"/>
            <a:r>
              <a:rPr lang="en-US">
                <a:solidFill>
                  <a:schemeClr val="bg2"/>
                </a:solidFill>
              </a:rPr>
              <a:t>Kupon jonatildi</a:t>
            </a:r>
            <a:endParaRPr lang="en-US">
              <a:solidFill>
                <a:schemeClr val="bg2"/>
              </a:solidFill>
            </a:endParaRPr>
          </a:p>
        </p:txBody>
      </p:sp>
      <p:cxnSp>
        <p:nvCxnSpPr>
          <p:cNvPr id="24" name="Straight Arrow Connector 23"/>
          <p:cNvCxnSpPr/>
          <p:nvPr/>
        </p:nvCxnSpPr>
        <p:spPr>
          <a:xfrm>
            <a:off x="7314565" y="3013075"/>
            <a:ext cx="10160" cy="5956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5" name="Text Box 24"/>
          <p:cNvSpPr txBox="1"/>
          <p:nvPr/>
        </p:nvSpPr>
        <p:spPr>
          <a:xfrm>
            <a:off x="6033770" y="3669030"/>
            <a:ext cx="2531745" cy="645160"/>
          </a:xfrm>
          <a:prstGeom prst="rect">
            <a:avLst/>
          </a:prstGeom>
          <a:noFill/>
        </p:spPr>
        <p:txBody>
          <a:bodyPr wrap="square" rtlCol="0">
            <a:spAutoFit/>
          </a:bodyPr>
          <a:p>
            <a:pPr algn="ctr"/>
            <a:r>
              <a:rPr lang="en-US">
                <a:solidFill>
                  <a:schemeClr val="bg2"/>
                </a:solidFill>
              </a:rPr>
              <a:t>Ishlatilganmi? </a:t>
            </a:r>
            <a:br>
              <a:rPr lang="en-US">
                <a:solidFill>
                  <a:schemeClr val="bg2"/>
                </a:solidFill>
              </a:rPr>
            </a:br>
            <a:r>
              <a:rPr lang="en-US">
                <a:solidFill>
                  <a:schemeClr val="bg2"/>
                </a:solidFill>
              </a:rPr>
              <a:t>Ha</a:t>
            </a:r>
            <a:endParaRPr lang="en-US">
              <a:solidFill>
                <a:schemeClr val="bg2"/>
              </a:solidFill>
            </a:endParaRPr>
          </a:p>
        </p:txBody>
      </p:sp>
      <p:cxnSp>
        <p:nvCxnSpPr>
          <p:cNvPr id="26" name="Straight Arrow Connector 25"/>
          <p:cNvCxnSpPr/>
          <p:nvPr/>
        </p:nvCxnSpPr>
        <p:spPr>
          <a:xfrm>
            <a:off x="7324725" y="4314190"/>
            <a:ext cx="10160" cy="5956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Text Box 26"/>
          <p:cNvSpPr txBox="1"/>
          <p:nvPr/>
        </p:nvSpPr>
        <p:spPr>
          <a:xfrm>
            <a:off x="6064250" y="5037455"/>
            <a:ext cx="2531745" cy="368300"/>
          </a:xfrm>
          <a:prstGeom prst="rect">
            <a:avLst/>
          </a:prstGeom>
          <a:noFill/>
        </p:spPr>
        <p:txBody>
          <a:bodyPr wrap="square" rtlCol="0">
            <a:spAutoFit/>
          </a:bodyPr>
          <a:p>
            <a:pPr algn="ctr"/>
            <a:r>
              <a:rPr lang="en-US">
                <a:solidFill>
                  <a:schemeClr val="bg2"/>
                </a:solidFill>
              </a:rPr>
              <a:t>Taqiqlanadi !</a:t>
            </a:r>
            <a:endParaRPr lang="en-US">
              <a:solidFill>
                <a:schemeClr val="bg2"/>
              </a:solidFill>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2" name="Rectangles 1"/>
          <p:cNvSpPr/>
          <p:nvPr/>
        </p:nvSpPr>
        <p:spPr>
          <a:xfrm>
            <a:off x="1676400" y="757555"/>
            <a:ext cx="2323465" cy="5448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ext Box 2"/>
          <p:cNvSpPr txBox="1"/>
          <p:nvPr/>
        </p:nvSpPr>
        <p:spPr>
          <a:xfrm>
            <a:off x="1677035" y="845820"/>
            <a:ext cx="2322830" cy="368300"/>
          </a:xfrm>
          <a:prstGeom prst="rect">
            <a:avLst/>
          </a:prstGeom>
          <a:noFill/>
        </p:spPr>
        <p:txBody>
          <a:bodyPr wrap="square" rtlCol="0">
            <a:spAutoFit/>
          </a:bodyPr>
          <a:p>
            <a:pPr algn="ctr"/>
            <a:r>
              <a:rPr lang="en-US"/>
              <a:t>1- So’rov</a:t>
            </a:r>
            <a:endParaRPr lang="en-US"/>
          </a:p>
        </p:txBody>
      </p:sp>
      <p:sp>
        <p:nvSpPr>
          <p:cNvPr id="5" name="Rectangles 4"/>
          <p:cNvSpPr/>
          <p:nvPr/>
        </p:nvSpPr>
        <p:spPr>
          <a:xfrm>
            <a:off x="6559550" y="757555"/>
            <a:ext cx="2323465" cy="5448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Text Box 5"/>
          <p:cNvSpPr txBox="1"/>
          <p:nvPr/>
        </p:nvSpPr>
        <p:spPr>
          <a:xfrm>
            <a:off x="6560185" y="845820"/>
            <a:ext cx="2322830" cy="368300"/>
          </a:xfrm>
          <a:prstGeom prst="rect">
            <a:avLst/>
          </a:prstGeom>
          <a:noFill/>
        </p:spPr>
        <p:txBody>
          <a:bodyPr wrap="square" rtlCol="0">
            <a:spAutoFit/>
          </a:bodyPr>
          <a:p>
            <a:pPr algn="ctr"/>
            <a:r>
              <a:rPr lang="en-US"/>
              <a:t>2- So’rov</a:t>
            </a:r>
            <a:endParaRPr lang="en-US"/>
          </a:p>
        </p:txBody>
      </p:sp>
      <p:sp>
        <p:nvSpPr>
          <p:cNvPr id="7" name="Text Box 6"/>
          <p:cNvSpPr txBox="1"/>
          <p:nvPr/>
        </p:nvSpPr>
        <p:spPr>
          <a:xfrm>
            <a:off x="1835785" y="2216785"/>
            <a:ext cx="2134870" cy="368300"/>
          </a:xfrm>
          <a:prstGeom prst="rect">
            <a:avLst/>
          </a:prstGeom>
          <a:noFill/>
        </p:spPr>
        <p:txBody>
          <a:bodyPr wrap="square" rtlCol="0">
            <a:spAutoFit/>
          </a:bodyPr>
          <a:p>
            <a:pPr algn="ctr"/>
            <a:r>
              <a:rPr lang="en-US">
                <a:solidFill>
                  <a:schemeClr val="bg2"/>
                </a:solidFill>
              </a:rPr>
              <a:t>Kupon jonatiladi</a:t>
            </a:r>
            <a:endParaRPr lang="en-US">
              <a:solidFill>
                <a:schemeClr val="bg2"/>
              </a:solidFill>
            </a:endParaRPr>
          </a:p>
        </p:txBody>
      </p:sp>
      <p:sp>
        <p:nvSpPr>
          <p:cNvPr id="9" name="Text Box 8"/>
          <p:cNvSpPr txBox="1"/>
          <p:nvPr/>
        </p:nvSpPr>
        <p:spPr>
          <a:xfrm>
            <a:off x="6654165" y="2284095"/>
            <a:ext cx="2134870" cy="368300"/>
          </a:xfrm>
          <a:prstGeom prst="rect">
            <a:avLst/>
          </a:prstGeom>
          <a:noFill/>
        </p:spPr>
        <p:txBody>
          <a:bodyPr wrap="square" rtlCol="0">
            <a:spAutoFit/>
          </a:bodyPr>
          <a:p>
            <a:pPr algn="ctr"/>
            <a:r>
              <a:rPr lang="en-US">
                <a:solidFill>
                  <a:schemeClr val="bg2"/>
                </a:solidFill>
              </a:rPr>
              <a:t>Kupon jonatiladi</a:t>
            </a:r>
            <a:endParaRPr lang="en-US">
              <a:solidFill>
                <a:schemeClr val="bg2"/>
              </a:solidFill>
            </a:endParaRPr>
          </a:p>
        </p:txBody>
      </p:sp>
      <p:sp>
        <p:nvSpPr>
          <p:cNvPr id="10" name="Text Box 9"/>
          <p:cNvSpPr txBox="1"/>
          <p:nvPr/>
        </p:nvSpPr>
        <p:spPr>
          <a:xfrm>
            <a:off x="1835785" y="3244850"/>
            <a:ext cx="2134870" cy="645160"/>
          </a:xfrm>
          <a:prstGeom prst="rect">
            <a:avLst/>
          </a:prstGeom>
          <a:noFill/>
        </p:spPr>
        <p:txBody>
          <a:bodyPr wrap="square" rtlCol="0">
            <a:spAutoFit/>
          </a:bodyPr>
          <a:p>
            <a:pPr algn="ctr"/>
            <a:r>
              <a:rPr lang="en-US">
                <a:solidFill>
                  <a:schemeClr val="bg2"/>
                </a:solidFill>
              </a:rPr>
              <a:t>Ishlatilinganmi? Yo’q</a:t>
            </a:r>
            <a:endParaRPr lang="en-US">
              <a:solidFill>
                <a:schemeClr val="bg2"/>
              </a:solidFill>
            </a:endParaRPr>
          </a:p>
        </p:txBody>
      </p:sp>
      <p:sp>
        <p:nvSpPr>
          <p:cNvPr id="11" name="Text Box 10"/>
          <p:cNvSpPr txBox="1"/>
          <p:nvPr/>
        </p:nvSpPr>
        <p:spPr>
          <a:xfrm>
            <a:off x="6654165" y="3244850"/>
            <a:ext cx="2134870" cy="645160"/>
          </a:xfrm>
          <a:prstGeom prst="rect">
            <a:avLst/>
          </a:prstGeom>
          <a:noFill/>
        </p:spPr>
        <p:txBody>
          <a:bodyPr wrap="square" rtlCol="0">
            <a:spAutoFit/>
          </a:bodyPr>
          <a:p>
            <a:pPr algn="ctr"/>
            <a:r>
              <a:rPr lang="en-US">
                <a:solidFill>
                  <a:schemeClr val="bg2"/>
                </a:solidFill>
              </a:rPr>
              <a:t>Ishlatilinganmi? Yo’q</a:t>
            </a:r>
            <a:endParaRPr lang="en-US">
              <a:solidFill>
                <a:schemeClr val="bg2"/>
              </a:solidFill>
            </a:endParaRPr>
          </a:p>
        </p:txBody>
      </p:sp>
      <p:sp>
        <p:nvSpPr>
          <p:cNvPr id="12" name="Text Box 11"/>
          <p:cNvSpPr txBox="1"/>
          <p:nvPr/>
        </p:nvSpPr>
        <p:spPr>
          <a:xfrm>
            <a:off x="6654800" y="4482465"/>
            <a:ext cx="2455545" cy="645160"/>
          </a:xfrm>
          <a:prstGeom prst="rect">
            <a:avLst/>
          </a:prstGeom>
          <a:noFill/>
        </p:spPr>
        <p:txBody>
          <a:bodyPr wrap="square" rtlCol="0">
            <a:spAutoFit/>
          </a:bodyPr>
          <a:p>
            <a:pPr algn="ctr"/>
            <a:r>
              <a:rPr lang="en-US">
                <a:solidFill>
                  <a:schemeClr val="bg2"/>
                </a:solidFill>
              </a:rPr>
              <a:t>Chegirma qo’yiladi. 10%</a:t>
            </a:r>
            <a:endParaRPr lang="en-US">
              <a:solidFill>
                <a:schemeClr val="bg2"/>
              </a:solidFill>
            </a:endParaRPr>
          </a:p>
        </p:txBody>
      </p:sp>
      <p:sp>
        <p:nvSpPr>
          <p:cNvPr id="13" name="Text Box 12"/>
          <p:cNvSpPr txBox="1"/>
          <p:nvPr/>
        </p:nvSpPr>
        <p:spPr>
          <a:xfrm>
            <a:off x="1677035" y="4507865"/>
            <a:ext cx="2461260" cy="645160"/>
          </a:xfrm>
          <a:prstGeom prst="rect">
            <a:avLst/>
          </a:prstGeom>
          <a:noFill/>
        </p:spPr>
        <p:txBody>
          <a:bodyPr wrap="square" rtlCol="0">
            <a:spAutoFit/>
          </a:bodyPr>
          <a:p>
            <a:pPr algn="ctr"/>
            <a:r>
              <a:rPr lang="en-US">
                <a:solidFill>
                  <a:schemeClr val="bg2"/>
                </a:solidFill>
              </a:rPr>
              <a:t>Chegirma qo’yiladi. 10%</a:t>
            </a:r>
            <a:endParaRPr lang="en-US">
              <a:solidFill>
                <a:schemeClr val="bg2"/>
              </a:solidFill>
            </a:endParaRPr>
          </a:p>
        </p:txBody>
      </p:sp>
      <p:sp>
        <p:nvSpPr>
          <p:cNvPr id="14" name="Text Box 13"/>
          <p:cNvSpPr txBox="1"/>
          <p:nvPr/>
        </p:nvSpPr>
        <p:spPr>
          <a:xfrm>
            <a:off x="1958340" y="5686425"/>
            <a:ext cx="2134870" cy="645160"/>
          </a:xfrm>
          <a:prstGeom prst="rect">
            <a:avLst/>
          </a:prstGeom>
          <a:noFill/>
        </p:spPr>
        <p:txBody>
          <a:bodyPr wrap="square" rtlCol="0">
            <a:spAutoFit/>
          </a:bodyPr>
          <a:p>
            <a:pPr algn="ctr"/>
            <a:r>
              <a:rPr lang="en-US">
                <a:solidFill>
                  <a:schemeClr val="bg2"/>
                </a:solidFill>
              </a:rPr>
              <a:t>Kupon yaroqsiz xolatga o’tadi</a:t>
            </a:r>
            <a:endParaRPr lang="en-US">
              <a:solidFill>
                <a:schemeClr val="bg2"/>
              </a:solidFill>
            </a:endParaRPr>
          </a:p>
        </p:txBody>
      </p:sp>
      <p:sp>
        <p:nvSpPr>
          <p:cNvPr id="18" name="Text Box 17"/>
          <p:cNvSpPr txBox="1"/>
          <p:nvPr/>
        </p:nvSpPr>
        <p:spPr>
          <a:xfrm>
            <a:off x="6748145" y="5720080"/>
            <a:ext cx="2134870" cy="645160"/>
          </a:xfrm>
          <a:prstGeom prst="rect">
            <a:avLst/>
          </a:prstGeom>
          <a:noFill/>
        </p:spPr>
        <p:txBody>
          <a:bodyPr wrap="square" rtlCol="0">
            <a:spAutoFit/>
          </a:bodyPr>
          <a:p>
            <a:pPr algn="ctr"/>
            <a:r>
              <a:rPr lang="en-US">
                <a:solidFill>
                  <a:schemeClr val="bg2"/>
                </a:solidFill>
              </a:rPr>
              <a:t>Kupon yaroqsiz xolatga o’tadi</a:t>
            </a:r>
            <a:endParaRPr lang="en-US">
              <a:solidFill>
                <a:schemeClr val="bg2"/>
              </a:solidFill>
            </a:endParaRPr>
          </a:p>
        </p:txBody>
      </p:sp>
      <p:cxnSp>
        <p:nvCxnSpPr>
          <p:cNvPr id="19" name="Straight Arrow Connector 18"/>
          <p:cNvCxnSpPr/>
          <p:nvPr/>
        </p:nvCxnSpPr>
        <p:spPr>
          <a:xfrm>
            <a:off x="2788920" y="1522095"/>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0" name="Straight Arrow Connector 19"/>
          <p:cNvCxnSpPr/>
          <p:nvPr/>
        </p:nvCxnSpPr>
        <p:spPr>
          <a:xfrm>
            <a:off x="7811135" y="1591310"/>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Straight Arrow Connector 27"/>
          <p:cNvCxnSpPr/>
          <p:nvPr/>
        </p:nvCxnSpPr>
        <p:spPr>
          <a:xfrm>
            <a:off x="2798445" y="2654300"/>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Straight Arrow Connector 28"/>
          <p:cNvCxnSpPr/>
          <p:nvPr/>
        </p:nvCxnSpPr>
        <p:spPr>
          <a:xfrm>
            <a:off x="7820660" y="2641600"/>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0" name="Straight Arrow Connector 29"/>
          <p:cNvCxnSpPr/>
          <p:nvPr/>
        </p:nvCxnSpPr>
        <p:spPr>
          <a:xfrm>
            <a:off x="2807970" y="3950970"/>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1" name="Straight Arrow Connector 30"/>
          <p:cNvCxnSpPr/>
          <p:nvPr/>
        </p:nvCxnSpPr>
        <p:spPr>
          <a:xfrm>
            <a:off x="7839710" y="3890010"/>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2" name="Straight Arrow Connector 31"/>
          <p:cNvCxnSpPr/>
          <p:nvPr/>
        </p:nvCxnSpPr>
        <p:spPr>
          <a:xfrm>
            <a:off x="2817495" y="5153025"/>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3" name="Straight Arrow Connector 32"/>
          <p:cNvCxnSpPr/>
          <p:nvPr/>
        </p:nvCxnSpPr>
        <p:spPr>
          <a:xfrm>
            <a:off x="7849235" y="5127625"/>
            <a:ext cx="9525" cy="6254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4" name="Straight Arrow Connector 33"/>
          <p:cNvCxnSpPr/>
          <p:nvPr/>
        </p:nvCxnSpPr>
        <p:spPr>
          <a:xfrm>
            <a:off x="914400" y="725805"/>
            <a:ext cx="0" cy="5546090"/>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35" name="Straight Arrow Connector 34"/>
          <p:cNvCxnSpPr/>
          <p:nvPr/>
        </p:nvCxnSpPr>
        <p:spPr>
          <a:xfrm>
            <a:off x="9947275" y="725805"/>
            <a:ext cx="0" cy="5546090"/>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36" name="Text Box 35"/>
          <p:cNvSpPr txBox="1"/>
          <p:nvPr/>
        </p:nvSpPr>
        <p:spPr>
          <a:xfrm rot="10800000">
            <a:off x="411480" y="1522095"/>
            <a:ext cx="490220" cy="3464560"/>
          </a:xfrm>
          <a:prstGeom prst="rect">
            <a:avLst/>
          </a:prstGeom>
          <a:noFill/>
        </p:spPr>
        <p:txBody>
          <a:bodyPr vert="eaVert" wrap="square" rtlCol="0">
            <a:spAutoFit/>
          </a:bodyPr>
          <a:p>
            <a:pPr algn="ctr"/>
            <a:r>
              <a:rPr lang="en-US" sz="2000">
                <a:solidFill>
                  <a:schemeClr val="bg2"/>
                </a:solidFill>
              </a:rPr>
              <a:t>Race Condition</a:t>
            </a:r>
            <a:endParaRPr lang="en-US" sz="2000">
              <a:solidFill>
                <a:schemeClr val="bg2"/>
              </a:solidFill>
            </a:endParaRPr>
          </a:p>
        </p:txBody>
      </p:sp>
      <p:sp>
        <p:nvSpPr>
          <p:cNvPr id="37" name="Text Box 36"/>
          <p:cNvSpPr txBox="1"/>
          <p:nvPr/>
        </p:nvSpPr>
        <p:spPr>
          <a:xfrm>
            <a:off x="9947275" y="1522095"/>
            <a:ext cx="490220" cy="3464560"/>
          </a:xfrm>
          <a:prstGeom prst="rect">
            <a:avLst/>
          </a:prstGeom>
          <a:noFill/>
        </p:spPr>
        <p:txBody>
          <a:bodyPr vert="eaVert" wrap="square" rtlCol="0">
            <a:spAutoFit/>
          </a:bodyPr>
          <a:p>
            <a:pPr algn="ctr"/>
            <a:r>
              <a:rPr lang="en-US" sz="2000">
                <a:solidFill>
                  <a:schemeClr val="bg2"/>
                </a:solidFill>
              </a:rPr>
              <a:t>Poyga Xolati</a:t>
            </a:r>
            <a:endParaRPr lang="en-US" sz="2000">
              <a:solidFill>
                <a:schemeClr val="bg2"/>
              </a:solidFill>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Race Condition Login</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pic>
        <p:nvPicPr>
          <p:cNvPr id="5" name="Picture 4"/>
          <p:cNvPicPr>
            <a:picLocks noChangeAspect="1"/>
          </p:cNvPicPr>
          <p:nvPr/>
        </p:nvPicPr>
        <p:blipFill>
          <a:blip r:embed="rId3"/>
          <a:stretch>
            <a:fillRect/>
          </a:stretch>
        </p:blipFill>
        <p:spPr>
          <a:xfrm>
            <a:off x="514350" y="918210"/>
            <a:ext cx="7540625" cy="4124325"/>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BOLA &amp; BFLA</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676650" y="44831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602220" y="46672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7" name="Text Box 26"/>
          <p:cNvSpPr txBox="1"/>
          <p:nvPr/>
        </p:nvSpPr>
        <p:spPr>
          <a:xfrm>
            <a:off x="565150" y="1263650"/>
            <a:ext cx="10851515" cy="2584450"/>
          </a:xfrm>
          <a:prstGeom prst="rect">
            <a:avLst/>
          </a:prstGeom>
          <a:noFill/>
        </p:spPr>
        <p:txBody>
          <a:bodyPr wrap="square" rtlCol="0">
            <a:spAutoFit/>
          </a:bodyPr>
          <a:p>
            <a:r>
              <a:rPr lang="en-US">
                <a:solidFill>
                  <a:schemeClr val="bg2"/>
                </a:solidFill>
              </a:rPr>
              <a:t>Broken Object Level Authorization - Bu zaiflik web app siz kim ekanligingizni tekshiradi lekin aynan  biror data (hujjat, malumot)ga ruxsat bor yo’qligini tekshirishda xatolik sodir bo’ladi</a:t>
            </a:r>
            <a:br>
              <a:rPr lang="en-US">
                <a:solidFill>
                  <a:schemeClr val="bg2"/>
                </a:solidFill>
              </a:rPr>
            </a:br>
            <a:br>
              <a:rPr lang="en-US">
                <a:solidFill>
                  <a:schemeClr val="bg2"/>
                </a:solidFill>
              </a:rPr>
            </a:br>
            <a:r>
              <a:rPr lang="en-US">
                <a:solidFill>
                  <a:schemeClr val="bg2"/>
                </a:solidFill>
              </a:rPr>
              <a:t>https://example.com/documents/12345</a:t>
            </a:r>
            <a:br>
              <a:rPr lang="en-US">
                <a:solidFill>
                  <a:schemeClr val="bg2"/>
                </a:solidFill>
              </a:rPr>
            </a:br>
            <a:br>
              <a:rPr lang="en-US">
                <a:solidFill>
                  <a:schemeClr val="bg2"/>
                </a:solidFill>
              </a:rPr>
            </a:br>
            <a:r>
              <a:rPr lang="en-US">
                <a:solidFill>
                  <a:schemeClr val="bg2"/>
                </a:solidFill>
              </a:rPr>
              <a:t>Broken Function Level Authorization - Ba zaiflik web app aynan malum bir operatsiyani amalga oshirishga ruxsat bor yoki yo’qligini tekshirishda xato.</a:t>
            </a:r>
            <a:br>
              <a:rPr lang="en-US">
                <a:solidFill>
                  <a:schemeClr val="bg2"/>
                </a:solidFill>
              </a:rPr>
            </a:br>
            <a:br>
              <a:rPr lang="en-US">
                <a:solidFill>
                  <a:schemeClr val="bg2"/>
                </a:solidFill>
              </a:rPr>
            </a:br>
            <a:r>
              <a:rPr lang="en-US">
                <a:solidFill>
                  <a:schemeClr val="bg2"/>
                </a:solidFill>
              </a:rPr>
              <a:t>POST /api/admin/deleteUser</a:t>
            </a:r>
            <a:endParaRPr lang="en-US">
              <a:solidFill>
                <a:schemeClr val="bg2"/>
              </a:solidFill>
            </a:endParaRPr>
          </a:p>
        </p:txBody>
      </p:sp>
      <p:sp>
        <p:nvSpPr>
          <p:cNvPr id="28" name="Text Box 27"/>
          <p:cNvSpPr txBox="1"/>
          <p:nvPr/>
        </p:nvSpPr>
        <p:spPr>
          <a:xfrm>
            <a:off x="731520" y="4986655"/>
            <a:ext cx="6205220" cy="645160"/>
          </a:xfrm>
          <a:prstGeom prst="rect">
            <a:avLst/>
          </a:prstGeom>
          <a:noFill/>
        </p:spPr>
        <p:txBody>
          <a:bodyPr wrap="square" rtlCol="0">
            <a:spAutoFit/>
          </a:bodyPr>
          <a:p>
            <a:r>
              <a:rPr lang="en-US">
                <a:solidFill>
                  <a:schemeClr val="bg2"/>
                </a:solidFill>
              </a:rPr>
              <a:t>BOLA - Ruxsat bo’lmagan malumot</a:t>
            </a:r>
            <a:br>
              <a:rPr lang="en-US">
                <a:solidFill>
                  <a:schemeClr val="bg2"/>
                </a:solidFill>
              </a:rPr>
            </a:br>
            <a:r>
              <a:rPr lang="en-US">
                <a:solidFill>
                  <a:schemeClr val="bg2"/>
                </a:solidFill>
              </a:rPr>
              <a:t>BFLA - Ruxsat bo’lmagan harakat</a:t>
            </a:r>
            <a:endParaRPr lang="en-US">
              <a:solidFill>
                <a:schemeClr val="bg2"/>
              </a:solidFill>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b="1">
                <a:solidFill>
                  <a:schemeClr val="bg1"/>
                </a:solidFill>
                <a:latin typeface="Inter Black" panose="02000503000000020004" charset="0"/>
                <a:ea typeface="Inter Black" panose="02000503000000020004" charset="0"/>
                <a:cs typeface="Inter" panose="02000503000000020004" charset="0"/>
              </a:rPr>
              <a:t>Boshqa namunalar</a:t>
            </a:r>
            <a:endParaRPr lang="en-US" altLang="zh-CN"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676650" y="448310"/>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602220" y="46672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5" name="Text Box 4"/>
          <p:cNvSpPr txBox="1"/>
          <p:nvPr/>
        </p:nvSpPr>
        <p:spPr>
          <a:xfrm>
            <a:off x="873125" y="1253490"/>
            <a:ext cx="10027285" cy="1753235"/>
          </a:xfrm>
          <a:prstGeom prst="rect">
            <a:avLst/>
          </a:prstGeom>
          <a:noFill/>
        </p:spPr>
        <p:txBody>
          <a:bodyPr wrap="square" rtlCol="0">
            <a:spAutoFit/>
          </a:bodyPr>
          <a:p>
            <a:r>
              <a:rPr lang="en-US">
                <a:solidFill>
                  <a:schemeClr val="bg2"/>
                </a:solidFill>
              </a:rPr>
              <a:t>1) SSTI - Shablonga zararli kod kiritilish orqali hujum</a:t>
            </a:r>
            <a:br>
              <a:rPr lang="en-US">
                <a:solidFill>
                  <a:schemeClr val="bg2"/>
                </a:solidFill>
              </a:rPr>
            </a:br>
            <a:r>
              <a:rPr lang="en-US">
                <a:solidFill>
                  <a:schemeClr val="bg2"/>
                </a:solidFill>
              </a:rPr>
              <a:t> Shablonlar web saxifalar yartalishiga ishlatiladi</a:t>
            </a:r>
            <a:br>
              <a:rPr lang="en-US">
                <a:solidFill>
                  <a:schemeClr val="bg2"/>
                </a:solidFill>
              </a:rPr>
            </a:br>
            <a:r>
              <a:rPr lang="en-US">
                <a:solidFill>
                  <a:schemeClr val="bg2"/>
                </a:solidFill>
              </a:rPr>
              <a:t>2) SQL Injection - Database bilan bog’liq bo’lgan zaiflik user input, cookie, header o’zgartirishi orqali sodir bo’ladi</a:t>
            </a:r>
            <a:br>
              <a:rPr lang="en-US">
                <a:solidFill>
                  <a:schemeClr val="bg2"/>
                </a:solidFill>
              </a:rPr>
            </a:br>
            <a:r>
              <a:rPr lang="en-US">
                <a:solidFill>
                  <a:schemeClr val="bg2"/>
                </a:solidFill>
              </a:rPr>
              <a:t>3) Command Injection -  Bu zaif web site orqali host operatsion sistema kodlarni yuborish va javob olish orqali sodir bo’ladigan hujum</a:t>
            </a:r>
            <a:endParaRPr lang="en-US">
              <a:solidFill>
                <a:schemeClr val="bg2"/>
              </a:solidFill>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5" name="图片 14" descr="VCG2112800586751"/>
          <p:cNvPicPr>
            <a:picLocks noChangeAspect="1"/>
          </p:cNvPicPr>
          <p:nvPr/>
        </p:nvPicPr>
        <p:blipFill>
          <a:blip r:embed="rId1">
            <a:alphaModFix amt="20000"/>
          </a:blip>
          <a:stretch>
            <a:fillRect/>
          </a:stretch>
        </p:blipFill>
        <p:spPr>
          <a:xfrm flipH="1">
            <a:off x="4445" y="0"/>
            <a:ext cx="12183110" cy="6858000"/>
          </a:xfrm>
          <a:prstGeom prst="rect">
            <a:avLst/>
          </a:prstGeom>
        </p:spPr>
      </p:pic>
      <p:sp>
        <p:nvSpPr>
          <p:cNvPr id="55" name="半闭框 54"/>
          <p:cNvSpPr/>
          <p:nvPr/>
        </p:nvSpPr>
        <p:spPr>
          <a:xfrm rot="10800000" flipH="1" flipV="1">
            <a:off x="411554" y="2811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11538024" y="627177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2" name="Text Box 1"/>
          <p:cNvSpPr txBox="1"/>
          <p:nvPr/>
        </p:nvSpPr>
        <p:spPr>
          <a:xfrm>
            <a:off x="3037205" y="290830"/>
            <a:ext cx="5868035" cy="706755"/>
          </a:xfrm>
          <a:prstGeom prst="rect">
            <a:avLst/>
          </a:prstGeom>
          <a:noFill/>
        </p:spPr>
        <p:txBody>
          <a:bodyPr wrap="square" rtlCol="0">
            <a:spAutoFit/>
          </a:bodyPr>
          <a:p>
            <a:pPr algn="ctr"/>
            <a:r>
              <a:rPr lang="en-US" sz="4000">
                <a:solidFill>
                  <a:schemeClr val="bg2"/>
                </a:solidFill>
              </a:rPr>
              <a:t>Xulosa</a:t>
            </a:r>
            <a:endParaRPr lang="en-US" sz="4000">
              <a:solidFill>
                <a:schemeClr val="bg2"/>
              </a:solidFill>
            </a:endParaRPr>
          </a:p>
        </p:txBody>
      </p:sp>
      <p:sp>
        <p:nvSpPr>
          <p:cNvPr id="3" name="Text Box 2"/>
          <p:cNvSpPr txBox="1"/>
          <p:nvPr/>
        </p:nvSpPr>
        <p:spPr>
          <a:xfrm>
            <a:off x="575310" y="1511935"/>
            <a:ext cx="11139170" cy="2584450"/>
          </a:xfrm>
          <a:prstGeom prst="rect">
            <a:avLst/>
          </a:prstGeom>
          <a:noFill/>
        </p:spPr>
        <p:txBody>
          <a:bodyPr wrap="square" rtlCol="0">
            <a:spAutoFit/>
          </a:bodyPr>
          <a:p>
            <a:r>
              <a:rPr lang="en-US">
                <a:solidFill>
                  <a:schemeClr val="bg2"/>
                </a:solidFill>
              </a:rPr>
              <a:t>“Access Control” yoki kirish, ruxsatlarni boshqarishni amalga oshiradi. Kim qanday huquqga ega ekanligi, nimaga ega nimaga egamasligini tekshiradi. Buning buzulishi “Broken Access Control” esa malumotlar o’g’irlanishi, platforma egalariga moddiy zarar yetkazishi mumkin.</a:t>
            </a:r>
            <a:br>
              <a:rPr lang="en-US">
                <a:solidFill>
                  <a:schemeClr val="bg2"/>
                </a:solidFill>
              </a:rPr>
            </a:br>
            <a:br>
              <a:rPr lang="en-US">
                <a:solidFill>
                  <a:schemeClr val="bg2"/>
                </a:solidFill>
              </a:rPr>
            </a:br>
            <a:r>
              <a:rPr lang="en-US">
                <a:solidFill>
                  <a:schemeClr val="bg2"/>
                </a:solidFill>
              </a:rPr>
              <a:t>Asosiy qoidalari</a:t>
            </a:r>
            <a:br>
              <a:rPr lang="en-US">
                <a:solidFill>
                  <a:schemeClr val="bg2"/>
                </a:solidFill>
              </a:rPr>
            </a:br>
            <a:r>
              <a:rPr lang="en-US">
                <a:solidFill>
                  <a:schemeClr val="bg2"/>
                </a:solidFill>
              </a:rPr>
              <a:t>1. Client- Mijoz so’rovlariga ko’r ko’rona ishonmaslik kerak</a:t>
            </a:r>
            <a:endParaRPr lang="en-US">
              <a:solidFill>
                <a:schemeClr val="bg2"/>
              </a:solidFill>
            </a:endParaRPr>
          </a:p>
          <a:p>
            <a:r>
              <a:rPr lang="en-US">
                <a:solidFill>
                  <a:schemeClr val="bg2"/>
                </a:solidFill>
              </a:rPr>
              <a:t>2. Har bir obyekt va harakatlar uchun ruxsatni doimi tekshirish kerak</a:t>
            </a:r>
            <a:br>
              <a:rPr lang="en-US">
                <a:solidFill>
                  <a:schemeClr val="bg2"/>
                </a:solidFill>
              </a:rPr>
            </a:br>
            <a:r>
              <a:rPr lang="en-US">
                <a:solidFill>
                  <a:schemeClr val="bg2"/>
                </a:solidFill>
              </a:rPr>
              <a:t>3. Mijoz tomonlama emas (Client side) Server tomonlama (Server-side) himoya o’rnatish kerak</a:t>
            </a:r>
            <a:endParaRPr lang="en-US">
              <a:solidFill>
                <a:schemeClr val="bg2"/>
              </a:solidFill>
            </a:endParaRPr>
          </a:p>
          <a:p>
            <a:r>
              <a:rPr lang="en-US">
                <a:solidFill>
                  <a:schemeClr val="bg2"/>
                </a:solidFill>
              </a:rPr>
              <a:t>4. Minimal huquq (least privilege) tizimdan foydalanish kerak</a:t>
            </a:r>
            <a:endParaRPr lang="en-US">
              <a:solidFill>
                <a:schemeClr val="bg2"/>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2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8.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2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130.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1"/>
  <p:tag name="KSO_WM_UNIT_FILL_GRADIENT_TYPE" val="0"/>
  <p:tag name="KSO_WM_UNIT_FILL_GRADIENT_ANGLE" val="30"/>
  <p:tag name="KSO_WM_UNIT_FILL_GRADIENT_Direction" val="-2"/>
  <p:tag name="KSO_WM_UNIT_FILL_TYPE" val="3"/>
</p:tagLst>
</file>

<file path=ppt/tags/tag131.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Lst>
</file>

<file path=ppt/tags/tag13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35.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36.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37.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8.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40.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41.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4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45.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4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9.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53.xml><?xml version="1.0" encoding="utf-8"?>
<p:tagLst xmlns:p="http://schemas.openxmlformats.org/presentationml/2006/main">
  <p:tag name="KSO_WM_DIAGRAM_VIRTUALLY_FRAME" val="{&quot;height&quot;:296.5,&quot;left&quot;:29.75,&quot;top&quot;:134.4,&quot;width&quot;:900.45}"/>
</p:tagLst>
</file>

<file path=ppt/tags/tag154.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DIAGRAM_VIRTUALLY_FRAME" val="{&quot;height&quot;:296.5,&quot;left&quot;:29.75,&quot;top&quot;:134.4,&quot;width&quot;:900.45}"/>
</p:tagLst>
</file>

<file path=ppt/tags/tag155.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DIAGRAM_VIRTUALLY_FRAME" val="{&quot;height&quot;:296.5,&quot;left&quot;:29.75,&quot;top&quot;:134.4,&quot;width&quot;:900.45}"/>
</p:tagLst>
</file>

<file path=ppt/tags/tag156.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DIAGRAM_VIRTUALLY_FRAME" val="{&quot;height&quot;:296.5,&quot;left&quot;:29.75,&quot;top&quot;:134.4,&quot;width&quot;:900.45}"/>
</p:tagLst>
</file>

<file path=ppt/tags/tag157.xml><?xml version="1.0" encoding="utf-8"?>
<p:tagLst xmlns:p="http://schemas.openxmlformats.org/presentationml/2006/main">
  <p:tag name="KSO_WM_DIAGRAM_VIRTUALLY_FRAME" val="{&quot;height&quot;:296.5,&quot;left&quot;:29.75,&quot;top&quot;:134.4,&quot;width&quot;:900.45}"/>
</p:tagLst>
</file>

<file path=ppt/tags/tag158.xml><?xml version="1.0" encoding="utf-8"?>
<p:tagLst xmlns:p="http://schemas.openxmlformats.org/presentationml/2006/main">
  <p:tag name="KSO_WM_UNIT_TEXT_FILL_FORE_SCHEMECOLOR_INDEX_BRIGHTNESS" val="-0.35"/>
  <p:tag name="KSO_WM_UNIT_TEXT_FILL_FORE_SCHEMECOLOR_INDEX" val="14"/>
  <p:tag name="KSO_WM_UNIT_TEXT_FILL_TYPE" val="1"/>
</p:tagLst>
</file>

<file path=ppt/tags/tag159.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DIAGRAM_VIRTUALLY_FRAME" val="{&quot;height&quot;:296.5,&quot;left&quot;:29.75,&quot;top&quot;:134.4,&quot;width&quot;:900.45}"/>
</p:tagLst>
</file>

<file path=ppt/tags/tag160.xml><?xml version="1.0" encoding="utf-8"?>
<p:tagLst xmlns:p="http://schemas.openxmlformats.org/presentationml/2006/main">
  <p:tag name="KSO_WM_DIAGRAM_VIRTUALLY_FRAME" val="{&quot;height&quot;:296.5,&quot;left&quot;:29.75,&quot;top&quot;:134.4,&quot;width&quot;:900.45}"/>
</p:tagLst>
</file>

<file path=ppt/tags/tag161.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DIAGRAM_VIRTUALLY_FRAME" val="{&quot;height&quot;:296.5,&quot;left&quot;:29.75,&quot;top&quot;:134.4,&quot;width&quot;:900.45}"/>
</p:tagLst>
</file>

<file path=ppt/tags/tag162.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DIAGRAM_VIRTUALLY_FRAME" val="{&quot;height&quot;:296.5,&quot;left&quot;:29.75,&quot;top&quot;:134.4,&quot;width&quot;:900.45}"/>
</p:tagLst>
</file>

<file path=ppt/tags/tag163.xml><?xml version="1.0" encoding="utf-8"?>
<p:tagLst xmlns:p="http://schemas.openxmlformats.org/presentationml/2006/main">
  <p:tag name="KSO_WM_DIAGRAM_VIRTUALLY_FRAME" val="{&quot;height&quot;:296.5,&quot;left&quot;:29.75,&quot;top&quot;:134.4,&quot;width&quot;:900.45}"/>
</p:tagLst>
</file>

<file path=ppt/tags/tag164.xml><?xml version="1.0" encoding="utf-8"?>
<p:tagLst xmlns:p="http://schemas.openxmlformats.org/presentationml/2006/main">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DIAGRAM_VIRTUALLY_FRAME" val="{&quot;height&quot;:296.5,&quot;left&quot;:29.75,&quot;top&quot;:134.4,&quot;width&quot;:900.45}"/>
</p:tagLst>
</file>

<file path=ppt/tags/tag165.xml><?xml version="1.0" encoding="utf-8"?>
<p:tagLst xmlns:p="http://schemas.openxmlformats.org/presentationml/2006/main">
  <p:tag name="KSO_WM_DIAGRAM_VIRTUALLY_FRAME" val="{&quot;height&quot;:296.5,&quot;left&quot;:29.75,&quot;top&quot;:134.4,&quot;width&quot;:900.45}"/>
</p:tagLst>
</file>

<file path=ppt/tags/tag166.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DIAGRAM_VIRTUALLY_FRAME" val="{&quot;height&quot;:296.5,&quot;left&quot;:29.75,&quot;top&quot;:134.4,&quot;width&quot;:900.45}"/>
</p:tagLst>
</file>

<file path=ppt/tags/tag16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DIAGRAM_VIRTUALLY_FRAME" val="{&quot;height&quot;:296.5,&quot;left&quot;:29.75,&quot;top&quot;:134.4,&quot;width&quot;:900.45}"/>
</p:tagLst>
</file>

<file path=ppt/tags/tag168.xml><?xml version="1.0" encoding="utf-8"?>
<p:tagLst xmlns:p="http://schemas.openxmlformats.org/presentationml/2006/main">
  <p:tag name="KSO_WM_DIAGRAM_VIRTUALLY_FRAME" val="{&quot;height&quot;:296.5,&quot;left&quot;:29.75,&quot;top&quot;:134.4,&quot;width&quot;:900.45}"/>
</p:tagLst>
</file>

<file path=ppt/tags/tag1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0.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2.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4.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6.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8.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1.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8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5.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8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8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9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2.xml><?xml version="1.0" encoding="utf-8"?>
<p:tagLst xmlns:p="http://schemas.openxmlformats.org/presentationml/2006/main">
  <p:tag name="COMMONDATA" val="eyJoZGlkIjoiMmNmYmEwOWQ4Y2Q0M2IxMGZkNjI4ZjhkZDQyNzg1OTYifQ=="/>
  <p:tag name="KSO_WPP_MARK_KEY" val="37523c5a-f9bd-4157-ab56-121979c0b78d"/>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F1423"/>
      </a:dk2>
      <a:lt2>
        <a:srgbClr val="FFFFFF"/>
      </a:lt2>
      <a:accent1>
        <a:srgbClr val="4675FC"/>
      </a:accent1>
      <a:accent2>
        <a:srgbClr val="4589FB"/>
      </a:accent2>
      <a:accent3>
        <a:srgbClr val="54A6FB"/>
      </a:accent3>
      <a:accent4>
        <a:srgbClr val="47B2FA"/>
      </a:accent4>
      <a:accent5>
        <a:srgbClr val="4AC7F9"/>
      </a:accent5>
      <a:accent6>
        <a:srgbClr val="4DDBF8"/>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arrow"/>
        </a:ln>
      </a:spPr>
      <a:bodyPr/>
      <a:lstStyle/>
      <a:style>
        <a:lnRef idx="2">
          <a:schemeClr val="accent1"/>
        </a:lnRef>
        <a:fillRef idx="0">
          <a:srgbClr val="FFFFFF"/>
        </a:fillRef>
        <a:effectRef idx="0">
          <a:srgbClr val="FFFFFF"/>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5202</Words>
  <Application>WPS Presentation</Application>
  <PresentationFormat>宽屏</PresentationFormat>
  <Paragraphs>155</Paragraphs>
  <Slides>15</Slides>
  <Notes>4</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15</vt:i4>
      </vt:variant>
    </vt:vector>
  </HeadingPairs>
  <TitlesOfParts>
    <vt:vector size="37" baseType="lpstr">
      <vt:lpstr>Arial</vt:lpstr>
      <vt:lpstr>SimSun</vt:lpstr>
      <vt:lpstr>Wingdings</vt:lpstr>
      <vt:lpstr>Inter</vt:lpstr>
      <vt:lpstr>Inter Black</vt:lpstr>
      <vt:lpstr>Wingdings</vt:lpstr>
      <vt:lpstr>Helvetica</vt:lpstr>
      <vt:lpstr>Microsoft YaHei</vt:lpstr>
      <vt:lpstr>Arial Unicode MS</vt:lpstr>
      <vt:lpstr>Lato Regular</vt:lpstr>
      <vt:lpstr>Segoe Print</vt:lpstr>
      <vt:lpstr>Roboto Slab Bold</vt:lpstr>
      <vt:lpstr>Roboto Slab Regular</vt:lpstr>
      <vt:lpstr>Montserrat-Regular</vt:lpstr>
      <vt:lpstr>Helvetica Light</vt:lpstr>
      <vt:lpstr>Roboto Medium</vt:lpstr>
      <vt:lpstr>Open Sans Light</vt:lpstr>
      <vt:lpstr>Times New Roman</vt:lpstr>
      <vt:lpstr>Cascadia Code</vt:lpstr>
      <vt:lpstr>Verdana</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Penterasting</cp:lastModifiedBy>
  <cp:revision>164</cp:revision>
  <dcterms:created xsi:type="dcterms:W3CDTF">2019-06-19T02:08:00Z</dcterms:created>
  <dcterms:modified xsi:type="dcterms:W3CDTF">2026-01-05T07:00:49Z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982DB9BA291041839BC5C4B7E3503136_11</vt:lpwstr>
  </property>
</Properties>
</file>