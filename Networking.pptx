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3.webp" ContentType="image/webp"/>
  <Override PartName="/ppt/media/image4.webp" ContentType="image/webp"/>
  <Override PartName="/ppt/media/image5.webp" ContentType="image/webp"/>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webp"/></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webp"/></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webp"/></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Networking</a:t>
            </a:r>
            <a:endParaRPr lang="en-US" dirty="0"/>
          </a:p>
        </p:txBody>
      </p:sp>
      <p:sp>
        <p:nvSpPr>
          <p:cNvPr id="3" name="Subtitle 2"/>
          <p:cNvSpPr>
            <a:spLocks noGrp="1"/>
          </p:cNvSpPr>
          <p:nvPr>
            <p:ph type="subTitle" idx="1"/>
          </p:nvPr>
        </p:nvSpPr>
        <p:spPr>
          <a:xfrm>
            <a:off x="1524000" y="4419283"/>
            <a:ext cx="9144000" cy="1655762"/>
          </a:xfrm>
        </p:spPr>
        <p:txBody>
          <a:bodyPr/>
          <a:lstStyle/>
          <a:p>
            <a:r>
              <a:rPr lang="en-US"/>
              <a:t>Doston Abdullayev</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Tarmoq o’zi nima?</a:t>
            </a:r>
            <a:endParaRPr lang="en-US"/>
          </a:p>
        </p:txBody>
      </p:sp>
      <p:sp>
        <p:nvSpPr>
          <p:cNvPr id="3" name="Content Placeholder 2"/>
          <p:cNvSpPr>
            <a:spLocks noGrp="1"/>
          </p:cNvSpPr>
          <p:nvPr>
            <p:ph idx="1"/>
          </p:nvPr>
        </p:nvSpPr>
        <p:spPr/>
        <p:txBody>
          <a:bodyPr/>
          <a:p>
            <a:r>
              <a:rPr lang="en-US"/>
              <a:t>Networking - bu bir nechta qurulmilarni o’zaro bog’lanishi, malumot jo’natishi, qabul qilib olinishi, manbalarni ulashishi networking deb ataladi. Xar bir individuallarning tugash nuqtasi (endpoint) esa nodes deb ataladi.</a:t>
            </a:r>
            <a:br>
              <a:rPr lang="en-US"/>
            </a:br>
            <a:br>
              <a:rPr lang="en-US"/>
            </a:br>
            <a:r>
              <a:rPr lang="en-US"/>
              <a:t>Nodes (tugunlar) shoxlar - computer, smartphones, printer, servicelar nodes deb ataladi.</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Asosiy tushunchalar (concept)</a:t>
            </a:r>
            <a:endParaRPr lang="en-US"/>
          </a:p>
        </p:txBody>
      </p:sp>
      <p:sp>
        <p:nvSpPr>
          <p:cNvPr id="3" name="Content Placeholder 2"/>
          <p:cNvSpPr>
            <a:spLocks noGrp="1"/>
          </p:cNvSpPr>
          <p:nvPr>
            <p:ph idx="1"/>
          </p:nvPr>
        </p:nvSpPr>
        <p:spPr/>
        <p:txBody>
          <a:bodyPr/>
          <a:p>
            <a:r>
              <a:rPr lang="en-US"/>
              <a:t>Nodes - Tarmoqga ulangan individual qurilmalar</a:t>
            </a:r>
            <a:endParaRPr lang="en-US"/>
          </a:p>
          <a:p>
            <a:r>
              <a:rPr lang="en-US"/>
              <a:t>Links - Qurilmalarni tarmoqga ulanish yo’llari (simli/simsiz)</a:t>
            </a:r>
            <a:endParaRPr lang="en-US"/>
          </a:p>
          <a:p>
            <a:r>
              <a:rPr lang="en-US"/>
              <a:t>Data sharing - Malumotlarni almashish, tarmoqni asosiy maqsadlaridan biri</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Networkingni birinchi oddiy maqsadlari</a:t>
            </a:r>
            <a:endParaRPr lang="en-US"/>
          </a:p>
        </p:txBody>
      </p:sp>
      <p:sp>
        <p:nvSpPr>
          <p:cNvPr id="3" name="Content Placeholder 2"/>
          <p:cNvSpPr>
            <a:spLocks noGrp="1"/>
          </p:cNvSpPr>
          <p:nvPr>
            <p:ph idx="1"/>
          </p:nvPr>
        </p:nvSpPr>
        <p:spPr/>
        <p:txBody>
          <a:bodyPr/>
          <a:p>
            <a:r>
              <a:rPr lang="en-US"/>
              <a:t>Resource sharing - Manbalarni almashinuvi</a:t>
            </a:r>
            <a:endParaRPr lang="en-US"/>
          </a:p>
          <a:p>
            <a:r>
              <a:rPr lang="en-US"/>
              <a:t>Communication - O’zaro, masofaviy aloqalar</a:t>
            </a:r>
            <a:endParaRPr lang="en-US"/>
          </a:p>
          <a:p>
            <a:r>
              <a:rPr lang="en-US"/>
              <a:t>Data access - Malumotlarga ruxsat berish, accountlarga kirish</a:t>
            </a:r>
            <a:endParaRPr lang="en-US"/>
          </a:p>
          <a:p>
            <a:r>
              <a:rPr lang="en-US"/>
              <a:t>Collabration - Real-vaqtda birga ishlash, masofaviyni online proyektlarni amalga oshirish.</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Networking turlari</a:t>
            </a:r>
            <a:endParaRPr lang="en-US"/>
          </a:p>
        </p:txBody>
      </p:sp>
      <p:sp>
        <p:nvSpPr>
          <p:cNvPr id="3" name="Content Placeholder 2"/>
          <p:cNvSpPr>
            <a:spLocks noGrp="1"/>
          </p:cNvSpPr>
          <p:nvPr>
            <p:ph idx="1"/>
          </p:nvPr>
        </p:nvSpPr>
        <p:spPr/>
        <p:txBody>
          <a:bodyPr/>
          <a:p>
            <a:r>
              <a:rPr lang="en-US"/>
              <a:t>WPAN</a:t>
            </a:r>
            <a:endParaRPr lang="en-US"/>
          </a:p>
          <a:p>
            <a:r>
              <a:rPr lang="en-US"/>
              <a:t>LAN</a:t>
            </a:r>
            <a:endParaRPr lang="en-US"/>
          </a:p>
          <a:p>
            <a:r>
              <a:rPr lang="en-US"/>
              <a:t>MAN</a:t>
            </a:r>
            <a:endParaRPr lang="en-US"/>
          </a:p>
          <a:p>
            <a:r>
              <a:rPr lang="en-US"/>
              <a:t>WAN</a:t>
            </a:r>
            <a:endParaRPr lang="en-US"/>
          </a:p>
          <a:p>
            <a:r>
              <a:rPr lang="en-US"/>
              <a:t>CAN</a:t>
            </a:r>
            <a:endParaRPr lang="en-US"/>
          </a:p>
          <a:p>
            <a:r>
              <a:rPr lang="en-US"/>
              <a:t>GAN</a:t>
            </a:r>
            <a:endParaRPr lang="en-US"/>
          </a:p>
          <a:p>
            <a:r>
              <a:rPr lang="en-US"/>
              <a:t>VPN</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730885"/>
          </a:xfrm>
        </p:spPr>
        <p:txBody>
          <a:bodyPr>
            <a:normAutofit fontScale="90000"/>
          </a:bodyPr>
          <a:p>
            <a:r>
              <a:rPr lang="en-US"/>
              <a:t>Local Area Network</a:t>
            </a:r>
            <a:endParaRPr lang="en-US"/>
          </a:p>
        </p:txBody>
      </p:sp>
      <p:pic>
        <p:nvPicPr>
          <p:cNvPr id="4" name="Picture 3"/>
          <p:cNvPicPr/>
          <p:nvPr/>
        </p:nvPicPr>
        <p:blipFill>
          <a:blip r:embed="rId1"/>
          <a:stretch>
            <a:fillRect/>
          </a:stretch>
        </p:blipFill>
        <p:spPr>
          <a:xfrm>
            <a:off x="127635" y="848995"/>
            <a:ext cx="6915150" cy="6009640"/>
          </a:xfrm>
          <a:prstGeom prst="rect">
            <a:avLst/>
          </a:prstGeom>
        </p:spPr>
      </p:pic>
      <p:sp>
        <p:nvSpPr>
          <p:cNvPr id="5" name="Text Box 4"/>
          <p:cNvSpPr txBox="1"/>
          <p:nvPr/>
        </p:nvSpPr>
        <p:spPr>
          <a:xfrm>
            <a:off x="7245350" y="861060"/>
            <a:ext cx="4681855" cy="2771140"/>
          </a:xfrm>
          <a:prstGeom prst="rect">
            <a:avLst/>
          </a:prstGeom>
          <a:noFill/>
        </p:spPr>
        <p:txBody>
          <a:bodyPr wrap="square" rtlCol="0">
            <a:noAutofit/>
          </a:bodyPr>
          <a:p>
            <a:pPr algn="l"/>
            <a:r>
              <a:rPr lang="en-US">
                <a:sym typeface="+mn-ea"/>
              </a:rPr>
              <a:t>LAN - bu qurilmalarni qisqa masofada bir biriga bog’laydi ko’pincha bu uy, office, maktab yoki kichik bino hududi bo’lishi mumkin.</a:t>
            </a:r>
            <a:endParaRPr lang="en-US"/>
          </a:p>
          <a:p>
            <a:pPr algn="l"/>
            <a:endParaRPr lang="en-US"/>
          </a:p>
        </p:txBody>
      </p:sp>
      <p:graphicFrame>
        <p:nvGraphicFramePr>
          <p:cNvPr id="6" name="Table 5"/>
          <p:cNvGraphicFramePr/>
          <p:nvPr>
            <p:custDataLst>
              <p:tags r:id="rId2"/>
            </p:custDataLst>
          </p:nvPr>
        </p:nvGraphicFramePr>
        <p:xfrm>
          <a:off x="7360920" y="2010410"/>
          <a:ext cx="4566920" cy="3483610"/>
        </p:xfrm>
        <a:graphic>
          <a:graphicData uri="http://schemas.openxmlformats.org/drawingml/2006/table">
            <a:tbl>
              <a:tblPr/>
              <a:tblGrid>
                <a:gridCol w="2283460"/>
                <a:gridCol w="2283460"/>
              </a:tblGrid>
              <a:tr h="580390">
                <a:tc>
                  <a:txBody>
                    <a:bodyPr/>
                    <a:p>
                      <a:r>
                        <a:rPr sz="1100"/>
                        <a:t>Geographical Scope</a:t>
                      </a:r>
                      <a:endParaRPr sz="1100"/>
                    </a:p>
                  </a:txBody>
                  <a:tcPr marL="0" marR="0" marT="0" marB="0" anchor="ctr" anchorCtr="0">
                    <a:lnL>
                      <a:noFill/>
                    </a:lnL>
                    <a:lnR>
                      <a:noFill/>
                    </a:lnR>
                    <a:lnT>
                      <a:noFill/>
                    </a:lnT>
                    <a:lnB>
                      <a:noFill/>
                    </a:lnB>
                    <a:noFill/>
                  </a:tcPr>
                </a:tc>
                <a:tc>
                  <a:txBody>
                    <a:bodyPr/>
                    <a:p>
                      <a:r>
                        <a:rPr lang="en-US" sz="1100"/>
                        <a:t>Kichik hudud</a:t>
                      </a:r>
                      <a:r>
                        <a:rPr sz="1100"/>
                        <a:t>.</a:t>
                      </a:r>
                      <a:endParaRPr sz="1100"/>
                    </a:p>
                  </a:txBody>
                  <a:tcPr marL="0" marR="0" marT="0" marB="0" anchor="ctr" anchorCtr="0">
                    <a:lnL>
                      <a:noFill/>
                    </a:lnL>
                    <a:lnR>
                      <a:noFill/>
                    </a:lnR>
                    <a:lnT>
                      <a:noFill/>
                    </a:lnT>
                    <a:lnB>
                      <a:noFill/>
                    </a:lnB>
                    <a:noFill/>
                  </a:tcPr>
                </a:tc>
              </a:tr>
              <a:tr h="1162050">
                <a:tc>
                  <a:txBody>
                    <a:bodyPr/>
                    <a:p>
                      <a:r>
                        <a:rPr sz="1100"/>
                        <a:t>Ownership</a:t>
                      </a:r>
                      <a:endParaRPr sz="1100"/>
                    </a:p>
                  </a:txBody>
                  <a:tcPr marL="0" marR="0" marT="0" marB="0" anchor="ctr" anchorCtr="0">
                    <a:lnL>
                      <a:noFill/>
                    </a:lnL>
                    <a:lnR>
                      <a:noFill/>
                    </a:lnR>
                    <a:lnT>
                      <a:noFill/>
                    </a:lnT>
                    <a:lnB>
                      <a:noFill/>
                    </a:lnB>
                    <a:noFill/>
                  </a:tcPr>
                </a:tc>
                <a:tc>
                  <a:txBody>
                    <a:bodyPr/>
                    <a:p>
                      <a:r>
                        <a:rPr lang="en-US" sz="1100"/>
                        <a:t>Odatda bitta shaxs yoki Organizatsiya tomonidan egalik qilingan</a:t>
                      </a:r>
                      <a:endParaRPr lang="en-US" sz="1100"/>
                    </a:p>
                  </a:txBody>
                  <a:tcPr marL="0" marR="0" marT="0" marB="0" anchor="ctr" anchorCtr="0">
                    <a:lnL>
                      <a:noFill/>
                    </a:lnL>
                    <a:lnR>
                      <a:noFill/>
                    </a:lnR>
                    <a:lnT>
                      <a:noFill/>
                    </a:lnT>
                    <a:lnB>
                      <a:noFill/>
                    </a:lnB>
                    <a:noFill/>
                  </a:tcPr>
                </a:tc>
              </a:tr>
              <a:tr h="579755">
                <a:tc>
                  <a:txBody>
                    <a:bodyPr/>
                    <a:p>
                      <a:r>
                        <a:rPr sz="1100"/>
                        <a:t>Speed</a:t>
                      </a:r>
                      <a:endParaRPr sz="1100"/>
                    </a:p>
                  </a:txBody>
                  <a:tcPr marL="0" marR="0" marT="0" marB="0" anchor="ctr" anchorCtr="0">
                    <a:lnL>
                      <a:noFill/>
                    </a:lnL>
                    <a:lnR>
                      <a:noFill/>
                    </a:lnR>
                    <a:lnT>
                      <a:noFill/>
                    </a:lnT>
                    <a:lnB>
                      <a:noFill/>
                    </a:lnB>
                    <a:noFill/>
                  </a:tcPr>
                </a:tc>
                <a:tc>
                  <a:txBody>
                    <a:bodyPr/>
                    <a:p>
                      <a:r>
                        <a:rPr lang="en-US" sz="1100"/>
                        <a:t>Katta tezlikda malumotlar almashinuvi</a:t>
                      </a:r>
                      <a:r>
                        <a:rPr sz="1100"/>
                        <a:t>.</a:t>
                      </a:r>
                      <a:endParaRPr sz="1100"/>
                    </a:p>
                  </a:txBody>
                  <a:tcPr marL="0" marR="0" marT="0" marB="0" anchor="ctr" anchorCtr="0">
                    <a:lnL>
                      <a:noFill/>
                    </a:lnL>
                    <a:lnR>
                      <a:noFill/>
                    </a:lnR>
                    <a:lnT>
                      <a:noFill/>
                    </a:lnT>
                    <a:lnB>
                      <a:noFill/>
                    </a:lnB>
                    <a:noFill/>
                  </a:tcPr>
                </a:tc>
              </a:tr>
              <a:tr h="1161415">
                <a:tc>
                  <a:txBody>
                    <a:bodyPr/>
                    <a:p>
                      <a:r>
                        <a:rPr sz="1100"/>
                        <a:t>Media</a:t>
                      </a:r>
                      <a:endParaRPr sz="1100"/>
                    </a:p>
                  </a:txBody>
                  <a:tcPr marL="0" marR="0" marT="0" marB="0" anchor="ctr" anchorCtr="0">
                    <a:lnL>
                      <a:noFill/>
                    </a:lnL>
                    <a:lnR>
                      <a:noFill/>
                    </a:lnR>
                    <a:lnT>
                      <a:noFill/>
                    </a:lnT>
                    <a:lnB>
                      <a:noFill/>
                    </a:lnB>
                    <a:noFill/>
                  </a:tcPr>
                </a:tc>
                <a:tc>
                  <a:txBody>
                    <a:bodyPr/>
                    <a:p>
                      <a:r>
                        <a:rPr lang="en-US" sz="1100"/>
                        <a:t>Simli (ethernet) yoki simsiz (wireless) ulanish turlaridan foydalanadi</a:t>
                      </a:r>
                      <a:endParaRPr lang="en-US" sz="11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6515" y="-186055"/>
            <a:ext cx="7656195" cy="926465"/>
          </a:xfrm>
        </p:spPr>
        <p:txBody>
          <a:bodyPr/>
          <a:p>
            <a:r>
              <a:rPr lang="en-US"/>
              <a:t>Wide Area Network</a:t>
            </a:r>
            <a:endParaRPr lang="en-US"/>
          </a:p>
        </p:txBody>
      </p:sp>
      <p:pic>
        <p:nvPicPr>
          <p:cNvPr id="4" name="Picture 3"/>
          <p:cNvPicPr/>
          <p:nvPr/>
        </p:nvPicPr>
        <p:blipFill>
          <a:blip r:embed="rId1"/>
          <a:stretch>
            <a:fillRect/>
          </a:stretch>
        </p:blipFill>
        <p:spPr>
          <a:xfrm>
            <a:off x="0" y="523240"/>
            <a:ext cx="9101455" cy="5641340"/>
          </a:xfrm>
          <a:prstGeom prst="rect">
            <a:avLst/>
          </a:prstGeom>
        </p:spPr>
      </p:pic>
      <p:sp>
        <p:nvSpPr>
          <p:cNvPr id="5" name="Text Box 4"/>
          <p:cNvSpPr txBox="1"/>
          <p:nvPr/>
        </p:nvSpPr>
        <p:spPr>
          <a:xfrm>
            <a:off x="9199880" y="655320"/>
            <a:ext cx="2931795" cy="2030095"/>
          </a:xfrm>
          <a:prstGeom prst="rect">
            <a:avLst/>
          </a:prstGeom>
          <a:noFill/>
        </p:spPr>
        <p:txBody>
          <a:bodyPr wrap="square" rtlCol="0">
            <a:spAutoFit/>
          </a:bodyPr>
          <a:p>
            <a:r>
              <a:rPr lang="en-US"/>
              <a:t>WAN - O’zida millionlagan LAN tarmoqlarni birlashtirgan bo’ladi, ko’pincha internet deb ham ataladi.</a:t>
            </a:r>
            <a:br>
              <a:rPr lang="en-US"/>
            </a:br>
            <a:br>
              <a:rPr lang="en-US"/>
            </a:br>
            <a:br>
              <a:rPr lang="en-US"/>
            </a:br>
            <a:r>
              <a:rPr lang="en-US"/>
              <a:t>INTER</a:t>
            </a:r>
            <a:r>
              <a:rPr lang="en-US" sz="1000"/>
              <a:t>national</a:t>
            </a:r>
            <a:r>
              <a:rPr lang="en-US"/>
              <a:t>NET</a:t>
            </a:r>
            <a:r>
              <a:rPr lang="en-US" sz="1000"/>
              <a:t>work</a:t>
            </a:r>
            <a:endParaRPr lang="en-US"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72085" y="98425"/>
            <a:ext cx="10515600" cy="1325563"/>
          </a:xfrm>
        </p:spPr>
        <p:txBody>
          <a:bodyPr/>
          <a:p>
            <a:r>
              <a:rPr lang="en-US"/>
              <a:t>Metropolitan Area Network</a:t>
            </a:r>
            <a:endParaRPr lang="en-US"/>
          </a:p>
        </p:txBody>
      </p:sp>
      <p:pic>
        <p:nvPicPr>
          <p:cNvPr id="4" name="Picture 3"/>
          <p:cNvPicPr/>
          <p:nvPr/>
        </p:nvPicPr>
        <p:blipFill>
          <a:blip r:embed="rId1"/>
          <a:stretch>
            <a:fillRect/>
          </a:stretch>
        </p:blipFill>
        <p:spPr>
          <a:xfrm>
            <a:off x="118745" y="1189990"/>
            <a:ext cx="6777355" cy="4433570"/>
          </a:xfrm>
          <a:prstGeom prst="rect">
            <a:avLst/>
          </a:prstGeom>
        </p:spPr>
      </p:pic>
      <p:sp>
        <p:nvSpPr>
          <p:cNvPr id="5" name="Text Box 4"/>
          <p:cNvSpPr txBox="1"/>
          <p:nvPr/>
        </p:nvSpPr>
        <p:spPr>
          <a:xfrm>
            <a:off x="6934835" y="1083310"/>
            <a:ext cx="5214620" cy="2030095"/>
          </a:xfrm>
          <a:prstGeom prst="rect">
            <a:avLst/>
          </a:prstGeom>
          <a:noFill/>
        </p:spPr>
        <p:txBody>
          <a:bodyPr wrap="square" rtlCol="0">
            <a:spAutoFit/>
          </a:bodyPr>
          <a:p>
            <a:r>
              <a:rPr lang="en-US"/>
              <a:t>MAN - bu tarmoq malum bir shaxarda yoki bir nechta shaxarda tarmoqlarni birlashtirishi MAN tarmoq deyiladi. WAN tarmoqdan farqi MAN tarmoq malum bir shaxar yoki shaxarlar tuzilmasi bilan chegaralangan bo’ladi. WAN internetdan farqi esa WAN ham ma’lum bir chegaraga ega Internet esa butun dunyo bo’ylab global xech qanday chegaraga ega emas.</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WPAN</a:t>
            </a:r>
            <a:endParaRPr lang="en-US"/>
          </a:p>
        </p:txBody>
      </p:sp>
      <p:sp>
        <p:nvSpPr>
          <p:cNvPr id="3" name="Content Placeholder 2"/>
          <p:cNvSpPr>
            <a:spLocks noGrp="1"/>
          </p:cNvSpPr>
          <p:nvPr>
            <p:ph idx="1"/>
          </p:nvPr>
        </p:nvSpPr>
        <p:spPr>
          <a:xfrm>
            <a:off x="838200" y="1825625"/>
            <a:ext cx="10515600" cy="1092200"/>
          </a:xfrm>
        </p:spPr>
        <p:txBody>
          <a:bodyPr/>
          <a:p>
            <a:r>
              <a:rPr lang="en-US"/>
              <a:t>Wireless Personal Area Network - Simsiz Shaxsiy Hududagi Tarmoq</a:t>
            </a:r>
            <a:br>
              <a:rPr lang="en-US"/>
            </a:br>
            <a:r>
              <a:rPr lang="en-US"/>
              <a:t>Bluetooth, ratsiya, infrared yoki quloqchinga bo’glangan smartphone.</a:t>
            </a:r>
            <a:endParaRPr lang="en-US"/>
          </a:p>
          <a:p>
            <a:endParaRPr lang="en-US"/>
          </a:p>
          <a:p>
            <a:pPr marL="0" indent="0">
              <a:buNone/>
            </a:pPr>
            <a:endParaRPr lang="en-US"/>
          </a:p>
        </p:txBody>
      </p:sp>
      <p:pic>
        <p:nvPicPr>
          <p:cNvPr id="4" name="Picture 3"/>
          <p:cNvPicPr/>
          <p:nvPr/>
        </p:nvPicPr>
        <p:blipFill>
          <a:blip r:embed="rId1"/>
          <a:stretch>
            <a:fillRect/>
          </a:stretch>
        </p:blipFill>
        <p:spPr>
          <a:xfrm>
            <a:off x="2082165" y="2917825"/>
            <a:ext cx="5780405" cy="33369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Campus Area Network (CAN)</a:t>
            </a:r>
            <a:endParaRPr lang="en-US"/>
          </a:p>
        </p:txBody>
      </p:sp>
      <p:pic>
        <p:nvPicPr>
          <p:cNvPr id="4" name="Picture 3"/>
          <p:cNvPicPr/>
          <p:nvPr/>
        </p:nvPicPr>
        <p:blipFill>
          <a:blip r:embed="rId1"/>
          <a:stretch>
            <a:fillRect/>
          </a:stretch>
        </p:blipFill>
        <p:spPr>
          <a:xfrm>
            <a:off x="135414" y="1561624"/>
            <a:ext cx="5400992" cy="4943792"/>
          </a:xfrm>
          <a:prstGeom prst="rect">
            <a:avLst/>
          </a:prstGeom>
        </p:spPr>
      </p:pic>
      <p:sp>
        <p:nvSpPr>
          <p:cNvPr id="5" name="Text Box 4"/>
          <p:cNvSpPr txBox="1"/>
          <p:nvPr/>
        </p:nvSpPr>
        <p:spPr>
          <a:xfrm>
            <a:off x="5735320" y="1589405"/>
            <a:ext cx="6396355" cy="922020"/>
          </a:xfrm>
          <a:prstGeom prst="rect">
            <a:avLst/>
          </a:prstGeom>
          <a:noFill/>
        </p:spPr>
        <p:txBody>
          <a:bodyPr wrap="square" rtlCol="0">
            <a:spAutoFit/>
          </a:bodyPr>
          <a:p>
            <a:r>
              <a:rPr lang="en-US"/>
              <a:t>CAN - bu tarqmoq maktab yoki universitet hududida bir nechta LAN tarmoqlarni bitta organizatsiya ostida birlashtirish uchun ishlatiladigan tarmoq turi bo’ladi.</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VPN - Virtual Private Network</a:t>
            </a:r>
            <a:endParaRPr lang="en-US"/>
          </a:p>
        </p:txBody>
      </p:sp>
      <p:sp>
        <p:nvSpPr>
          <p:cNvPr id="3" name="Content Placeholder 2"/>
          <p:cNvSpPr>
            <a:spLocks noGrp="1"/>
          </p:cNvSpPr>
          <p:nvPr>
            <p:ph idx="1"/>
          </p:nvPr>
        </p:nvSpPr>
        <p:spPr/>
        <p:txBody>
          <a:bodyPr/>
          <a:p>
            <a:r>
              <a:rPr lang="en-US"/>
              <a:t>Ulangan tarmoqni o’zgartirish ishlatiladigan VPN. Buning 3 xil asosiy turlari bor:</a:t>
            </a:r>
            <a:br>
              <a:rPr lang="en-US"/>
            </a:br>
            <a:r>
              <a:rPr lang="en-US"/>
              <a:t>1. Site to site - Bu tarmoq ximoyalangan client va server tomonidan bir xil tarmoqni xosil qiladi natijada tarmoq huddi ikta ulanish ham local addres kabi bo’ladi</a:t>
            </a:r>
            <a:endParaRPr lang="en-US"/>
          </a:p>
          <a:p>
            <a:pPr marL="0" indent="0">
              <a:buNone/>
            </a:pPr>
            <a:r>
              <a:rPr lang="en-US"/>
              <a:t>   2. SSL VPN - Bu web brauzerlarga o’rnatiladigan dasturlarni stream qilish uchun ishlatiladigan VPN. Misol tryhackme, hackthebox, offsec hujum uchun ishlatiladigan OS brauzer bilan boshqarish </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Remote Access VPN</a:t>
            </a:r>
            <a:endParaRPr lang="en-US"/>
          </a:p>
        </p:txBody>
      </p:sp>
      <p:sp>
        <p:nvSpPr>
          <p:cNvPr id="3" name="Content Placeholder 2"/>
          <p:cNvSpPr>
            <a:spLocks noGrp="1"/>
          </p:cNvSpPr>
          <p:nvPr>
            <p:ph idx="1"/>
          </p:nvPr>
        </p:nvSpPr>
        <p:spPr>
          <a:xfrm>
            <a:off x="838200" y="1825625"/>
            <a:ext cx="10515600" cy="1829435"/>
          </a:xfrm>
        </p:spPr>
        <p:txBody>
          <a:bodyPr/>
          <a:p>
            <a:r>
              <a:rPr lang="en-US"/>
              <a:t>Bu VPN clientning qurilmasida virtual interface hosil qiladi chiquvchi tarmoq ana o’sha interface orqali yuboriladi bu masofaviy serverga bog’lanish uchun ishlatiladi. </a:t>
            </a:r>
            <a:br>
              <a:rPr lang="en-US"/>
            </a:br>
            <a:r>
              <a:rPr lang="en-US"/>
              <a:t>Misol: Openvpn tryhackme yoki hackthebox</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tretch>
            <a:fillRect/>
          </a:stretch>
        </p:blipFill>
        <p:spPr>
          <a:xfrm>
            <a:off x="-52705" y="0"/>
            <a:ext cx="12244070" cy="6857365"/>
          </a:xfrm>
          <a:prstGeom prst="rect">
            <a:avLst/>
          </a:prstGeom>
        </p:spPr>
      </p:pic>
    </p:spTree>
  </p:cSld>
  <p:clrMapOvr>
    <a:masterClrMapping/>
  </p:clrMapOvr>
</p:sld>
</file>

<file path=ppt/tags/tag1.xml><?xml version="1.0" encoding="utf-8"?>
<p:tagLst xmlns:p="http://schemas.openxmlformats.org/presentationml/2006/main">
  <p:tag name="TABLE_ENDDRAG_ORIGIN_RECT" val="359*274"/>
  <p:tag name="TABLE_ENDDRAG_RECT" val="579*158*359*27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2764</Words>
  <Application>WPS Presentation</Application>
  <PresentationFormat>Widescreen</PresentationFormat>
  <Paragraphs>79</Paragraphs>
  <Slides>13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13</vt:i4>
      </vt:variant>
    </vt:vector>
  </HeadingPairs>
  <TitlesOfParts>
    <vt:vector size="21" baseType="lpstr">
      <vt:lpstr>Arial</vt:lpstr>
      <vt:lpstr>SimSun</vt:lpstr>
      <vt:lpstr>Wingdings</vt:lpstr>
      <vt:lpstr>Calibri Light</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Penterasting</cp:lastModifiedBy>
  <cp:revision>4</cp:revision>
  <dcterms:created xsi:type="dcterms:W3CDTF">2025-07-23T00:59:00Z</dcterms:created>
  <dcterms:modified xsi:type="dcterms:W3CDTF">2026-01-19T14:44:54Z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6FA8FE8B7F0747AEA70D91060BEC7DA3_11</vt:lpwstr>
  </property>
  <property fmtid="{D5CDD505-2E9C-101B-9397-08002B2CF9AE}" pid="3" name="KSOProductBuildVer">
    <vt:lpwstr>1033-12.2.0.23196</vt:lpwstr>
  </property>
</Properties>
</file>