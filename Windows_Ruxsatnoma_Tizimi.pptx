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0" cy="685800"/>
          </a:xfrm>
          <a:prstGeom prst="ellipse">
            <a:avLst/>
          </a:prstGeom>
          <a:solidFill>
            <a:srgbClr val="0D1B3E">
              <a:alpha val="0"/>
            </a:srgbClr>
          </a:solidFill>
          <a:ln w="508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68880"/>
            <a:ext cx="8321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Ruxsatnoma Tizimi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Permission 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347472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95928"/>
            <a:ext cx="32918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⏱ Dars davomiyligi: </a:t>
            </a:r>
            <a:r>
              <a:rPr lang="en-US" sz="1300" dirty="0">
                <a:solidFill>
                  <a:srgbClr val="FFFFFF"/>
                </a:solidFill>
              </a:rPr>
              <a:t>1.5 soat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3931920"/>
            <a:ext cx="3291840" cy="62179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995928"/>
            <a:ext cx="31089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Muallif: </a:t>
            </a:r>
            <a:r>
              <a:rPr lang="en-US" sz="1300" dirty="0">
                <a:solidFill>
                  <a:srgbClr val="FFFFFF"/>
                </a:solidFill>
              </a:rPr>
              <a:t>Doston Abdullayev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Kirish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Rejasi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502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93268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0584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Kirish — Windows Ruxsatnoma nima?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71816" y="932688"/>
            <a:ext cx="914400" cy="4572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71816" y="9326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5 daq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27048"/>
            <a:ext cx="50292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2704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152704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0020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NTFS Ruxsatnoma turlari va ICACLS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71816" y="1527048"/>
            <a:ext cx="914400" cy="457200"/>
          </a:xfrm>
          <a:prstGeom prst="rect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15270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CC1"/>
                </a:solidFill>
              </a:rPr>
              <a:t>15 daq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502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" y="212140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19456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ACL va ACE tushunchasi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71816" y="2121408"/>
            <a:ext cx="914400" cy="4572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21214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15 daq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15768"/>
            <a:ext cx="50292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157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" y="271576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78892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Meros (Inheritance) — CI, OI, IO, NP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71816" y="2715768"/>
            <a:ext cx="914400" cy="457200"/>
          </a:xfrm>
          <a:prstGeom prst="rect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71816" y="271576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CC1"/>
                </a:solidFill>
              </a:rPr>
              <a:t>15 daq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5029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31012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5528" y="331012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38328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Share ruxsatlari va Effective Permissions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71816" y="3310128"/>
            <a:ext cx="914400" cy="457200"/>
          </a:xfrm>
          <a:prstGeom prst="rect">
            <a:avLst/>
          </a:prstGeom>
          <a:solidFill>
            <a:srgbClr val="6A1B9A">
              <a:alpha val="2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71816" y="331012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</a:rPr>
              <a:t>10 daq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904488"/>
            <a:ext cx="502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044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" y="390448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97764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Allow vs Deny va Best Practices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71816" y="3904488"/>
            <a:ext cx="914400" cy="4572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71816" y="39044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10 daq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498848"/>
            <a:ext cx="50292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9884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5528" y="4498848"/>
            <a:ext cx="6858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457200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</a:rPr>
              <a:t>Amaliy mashqlar — icacls, GUI, Registry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71816" y="4498848"/>
            <a:ext cx="914400" cy="457200"/>
          </a:xfrm>
          <a:prstGeom prst="rect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71816" y="44988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</a:rPr>
              <a:t>25 daq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Kirish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7E"/>
                </a:solidFill>
              </a:rPr>
              <a:t>Windows Ruxsatnoma Tizimi Nima?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E9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7043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Himoya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Foydalanuvchilar fayllar va papkalarga ruxsatsiz kira olmasligi uchun himoya qiladi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114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4688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322576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Boshqaruv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Har bir foydalanuvchi yoki guruhga alohida ruxsat darajasini belgilaydi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11296"/>
            <a:ext cx="4114800" cy="1143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76732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3621024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Kim qachon qaysi resursga kirganini kuzatib borish imkonini beradi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</a:rPr>
              <a:t>Ruxsatnoma Zanjiri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3657600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463040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Foydalanuvchi kirish so'rovi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1874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00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084832"/>
            <a:ext cx="3657600" cy="43891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84832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Access Token (SID + Groups)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24963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00"/>
                </a:solidFill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2706624"/>
            <a:ext cx="3657600" cy="43891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06624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Reference 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31181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00"/>
                </a:solidFill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3328416"/>
            <a:ext cx="36576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28416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Descriptor (ACL)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37398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00"/>
                </a:solidFill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3950208"/>
            <a:ext cx="36576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950208"/>
            <a:ext cx="3657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Ruxsat Berildi / Rad Etildi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NTFS Ruxsatnoma Turlari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CC1"/>
                </a:solidFill>
              </a:rPr>
              <a:t>Standard (asosiy) ruxsatlar — 6 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0" cy="1143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Full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To'liq huquq — o'qish, yozish, o'chirish, ruxsatlarni o'zgartirish, egalik olish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0008"/>
            <a:ext cx="548640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50008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Modify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07208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Read+Write+Delete. Ruxsatlarni o'zgartira olmaydi, lekin barcha boshqa ishlarni qila oladi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48456"/>
            <a:ext cx="548640" cy="11430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48456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3989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</a:rPr>
              <a:t>Read &amp; Execute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05656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Fayllarni o'qish va .exe/.bat fayllarni ishga tushirish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51560"/>
            <a:ext cx="54864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51560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143000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List Folder Contents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508760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Faqat papka ichidagi fayllar va papkalar ro'yxatini ko'rish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350008"/>
            <a:ext cx="548640" cy="11430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350008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441448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Read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807208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Fayllarni o'qish, xususiyatlarni ko'rish, ruxsatlarni ko'rish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206240" cy="1143000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648456"/>
            <a:ext cx="54864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48456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739896"/>
            <a:ext cx="3456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Write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4105656"/>
            <a:ext cx="34564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Yangi fayl/papka yaratish, fayl mazmunini o'zgartirish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CC1"/>
                </a:solidFill>
              </a:rPr>
              <a:t>NTFS Ruxsatlar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7E"/>
                </a:solidFill>
              </a:rPr>
              <a:t>ICACLS — Buyruq Satri Vositasi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Ruxsat belgilari (abbreviations):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" y="1207008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5272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Full Control — To'liq huquq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8249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1682496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72821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Modify — O'zgartirish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5798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" y="2157984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20370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Read &amp; Execute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3347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2633472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267919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Read — Faqat o'qish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0896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" y="3108960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1546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Write — Faqat yozish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8444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" y="3584448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363016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Delete — O'chirish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59936"/>
            <a:ext cx="502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5993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" y="4059936"/>
            <a:ext cx="34747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410565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No access — Ruxsat yo'q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804672"/>
            <a:ext cx="4297680" cy="4041648"/>
          </a:xfrm>
          <a:prstGeom prst="rect">
            <a:avLst/>
          </a:prstGeom>
          <a:solidFill>
            <a:srgbClr val="1A1A2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Buyruqlar namunalari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1261872"/>
            <a:ext cx="4023360" cy="3456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Ruxsatlarni ko'rish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Foydalanuvchiga ruxsat berish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user1:F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user2:(R,RX)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Meros bekor qilish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/inheritance:r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Ruxsatni olib tashlash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/remove user1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Taqiqlash (Deny)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/deny user1:W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Barcha ruxsatlarni qayta tiklash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/reset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5 / 22</a:t>
            </a:r>
            <a:endParaRPr lang="en-US" sz="900" dirty="0"/>
          </a:p>
        </p:txBody>
      </p:sp>
      <p:sp>
        <p:nvSpPr>
          <p:cNvPr id="38" name="Text Box 37"/>
          <p:cNvSpPr txBox="1"/>
          <p:nvPr/>
        </p:nvSpPr>
        <p:spPr>
          <a:xfrm>
            <a:off x="4678045" y="1290320"/>
            <a:ext cx="2919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solidFill>
                  <a:schemeClr val="bg2"/>
                </a:solidFill>
                <a:sym typeface="+mn-ea"/>
              </a:rPr>
              <a:t>net user student1 123abc /add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ACL — Access Control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B300"/>
                </a:solidFill>
              </a:rPr>
              <a:t>Kirish Nazorat Ro'yxati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170432"/>
          </a:xfrm>
          <a:prstGeom prst="rect">
            <a:avLst/>
          </a:prstGeom>
          <a:solidFill>
            <a:srgbClr val="14204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109728" cy="1170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ACL nima?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Har bir fayl va papkaga biriktirilgan xavfsizlik huquqlari ro'yxati. Windows bu ro'yxat asosida kirish imkonini aniqlaydi.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4206240" cy="1170432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22576"/>
            <a:ext cx="10972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14016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DACL (Discretionary ACL)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Kim kirishi mumkinligini belgilaydi — ruxsat Allow yoki Deny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621024"/>
            <a:ext cx="4206240" cy="1170432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621024"/>
            <a:ext cx="109728" cy="1170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SACL (System ACL)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3886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Audit uchun ishlatiladi — kim kirishga urindi, muvaffaqiyatli yoki yo'q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987552"/>
            <a:ext cx="411480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</a:rPr>
              <a:t>ACL Tuzilishi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1481328"/>
            <a:ext cx="22860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48132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Fayl/Papka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9659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↓ Security Descriptor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2286000"/>
            <a:ext cx="3566160" cy="2194560"/>
          </a:xfrm>
          <a:prstGeom prst="rect">
            <a:avLst/>
          </a:prstGeom>
          <a:solidFill>
            <a:srgbClr val="1A1A3E"/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</a:rPr>
              <a:t>DACL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697480"/>
            <a:ext cx="3291840" cy="457200"/>
          </a:xfrm>
          <a:prstGeom prst="rect">
            <a:avLst/>
          </a:prstGeom>
          <a:solidFill>
            <a:srgbClr val="1420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6974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</a:rPr>
              <a:t>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50408" y="274320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Administrators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0408" y="294436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</a:rPr>
              <a:t>Full 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05472" y="2697480"/>
            <a:ext cx="1005840" cy="457200"/>
          </a:xfrm>
          <a:prstGeom prst="rect">
            <a:avLst/>
          </a:prstGeom>
          <a:solidFill>
            <a:srgbClr val="C62828">
              <a:alpha val="6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269748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3264408"/>
            <a:ext cx="3291840" cy="457200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264408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50408" y="33101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50408" y="3511296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</a:rPr>
              <a:t>Read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05472" y="3264408"/>
            <a:ext cx="1005840" cy="457200"/>
          </a:xfrm>
          <a:prstGeom prst="rect">
            <a:avLst/>
          </a:prstGeom>
          <a:solidFill>
            <a:srgbClr val="2E7D32">
              <a:alpha val="6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326440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3831336"/>
            <a:ext cx="3291840" cy="457200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831336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</a:rPr>
              <a:t>ACE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0408" y="3877056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student1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50408" y="407822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00"/>
                </a:solidFill>
              </a:rPr>
              <a:t>Modify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05472" y="3831336"/>
            <a:ext cx="1005840" cy="457200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38313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</a:rPr>
              <a:t>ACL va 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7E"/>
                </a:solidFill>
              </a:rPr>
              <a:t>ACE — Access Control Entry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Har bir ACE quyidagi 4 ta qismdan iborat: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188720" cy="7315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1170432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30759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Security Identifier — foydalanuvchi yoki guruhning noyob identifikatori (masalan: S-1-5-21-...)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1188720" cy="7315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48256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ACE 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81328" y="2048256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185416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Allow (ruxsat berish) yoki Deny (taqiqlash) — ruxsatnoma turi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118872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26080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Rights Mask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81328" y="292608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06324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Qanday huquqlar berilgani: Full Control (F), Modify (M), Read (R), Write (W)...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03904"/>
            <a:ext cx="118872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03904"/>
            <a:ext cx="1188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81328" y="3803904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941064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Meros qanday amalga oshirishi: CI, OI, IO, NP — quyidagi slaydda batafsil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804672"/>
            <a:ext cx="3429000" cy="4041648"/>
          </a:xfrm>
          <a:prstGeom prst="rect">
            <a:avLst/>
          </a:prstGeom>
          <a:solidFill>
            <a:srgbClr val="F9FA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86868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Allow va Deny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1298448"/>
            <a:ext cx="320040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3716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ALLOW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1764792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Foydalanuvchiga ruxsat beradi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ACL ro'yxatiga Allow ACE qo'shiladi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Sukut bo'yicha kirishga RUXSAT YO'Q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2834640"/>
            <a:ext cx="3200400" cy="171907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9077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DENY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23560" y="3291840"/>
            <a:ext cx="301752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Foydalanuvchiga kirishni taqiqlaydi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DENY har doim ALLOWdan ustun turadi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Ehtiyotkorlik bilan foydalaning!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</a:rPr>
              <a:t>Guruh a'zosi bo'lsa ham Deny ishlaydi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Meros (Inheritance) Nima?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D32"/>
                </a:solidFill>
              </a:rPr>
              <a:t>Access Control List (ACL) dan meros olish mexanizmi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Meros (Inheritance) — ota-ona papkasining ruxsatlari farzand papka va fayllariga avtomatik o'tishi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C:\Ota-Papka (Parent)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18288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834640"/>
            <a:ext cx="182880" cy="1828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834640"/>
            <a:ext cx="182880" cy="1828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834640"/>
            <a:ext cx="3566160" cy="1828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834640"/>
            <a:ext cx="182880" cy="4754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834640"/>
            <a:ext cx="182880" cy="47548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10128"/>
            <a:ext cx="2286000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10128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SubFolder1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310128"/>
            <a:ext cx="2286000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310128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SubFolder2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00"/>
                </a:solidFill>
              </a:rPr>
              <a:t>Meros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↓ Fayllar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8862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00"/>
                </a:solidFill>
              </a:rPr>
              <a:t>Meros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↓ Fayllar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2011680" cy="2926080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019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Eslatma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286000"/>
            <a:ext cx="1828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DEE"/>
                </a:solidFill>
              </a:rPr>
              <a:t>Meros yoqilgan bo'lsa ota-ona ruxsatlari avtomatik o'tadi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DEE"/>
                </a:solidFill>
              </a:rPr>
              <a:t>Meros o'chirilsa, ruxsatlar mustaqil bo'ladi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DEE"/>
                </a:solidFill>
              </a:rPr>
              <a:t>Inheritansi bekor qilish: /inheritance:r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Meros (Inheritance)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7E"/>
                </a:solidFill>
              </a:rPr>
              <a:t>Meros Turlari (Flags)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858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8408" y="914400"/>
            <a:ext cx="7882128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960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Container Inherit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Subfolder (papkalar) ham asosiy papka ruxsatini meros oladi. Mazmun: Container=Folder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969264"/>
            <a:ext cx="28346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005840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user1:(CI)(F)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685800" cy="685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373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(OI)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" y="1737360"/>
            <a:ext cx="7882128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</a:rPr>
              <a:t>Object Inherit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Faqat fayllar asosiy papka ruxsatini meros oladi. Mazmun: Object=File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1792224"/>
            <a:ext cx="28346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828800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user1:(OI)(R)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68580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603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(IO)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" y="2560320"/>
            <a:ext cx="7882128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585" y="2606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Inherit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288036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Bu ruxsat faqat farzand (child) elementlarga meros qilinadi. O'zi uchun amal qilmaydi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2615184"/>
            <a:ext cx="28346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651760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user1:(IO)(M)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68580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832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(NP)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" y="3383280"/>
            <a:ext cx="7882128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429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No Propagate Inherit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70332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Ruxsat faqat birinchi farzand (child)ga meros qilinadi, undan keyingiga o'tmaydi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3438144"/>
            <a:ext cx="28346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474720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user1:(NP)(R)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6858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06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(I)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78408" y="4206240"/>
            <a:ext cx="7882128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251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Inherited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452628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</a:rPr>
              <a:t>Bu belgi ruxsat ota-ona (parent) papkadan meros qilinganini ifodalaydi — o'qish uchun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97880" y="4261104"/>
            <a:ext cx="283464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297680"/>
            <a:ext cx="2743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— (I)(F) ko'rinadi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Share Ruxsatnomalari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90D9"/>
                </a:solidFill>
              </a:rPr>
              <a:t>Tarmoq orqali ulashilgan papkalar uchun ruxsatlar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777240"/>
          </a:xfrm>
          <a:prstGeom prst="rect">
            <a:avLst/>
          </a:prstGeom>
          <a:solidFill>
            <a:srgbClr val="1420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430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Full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O'qish, yozish, o'chirish va boshqalarga ruxsatlarni o'zgartirish huquqi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14204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574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Change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O'qish + fayllarni qo'shish/o'chirish/o'zgartirish. Ruxsatlarni o'zgartira olmaydi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777240"/>
          </a:xfrm>
          <a:prstGeom prst="rect">
            <a:avLst/>
          </a:prstGeom>
          <a:solidFill>
            <a:srgbClr val="14204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80360"/>
            <a:ext cx="548640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718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Read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CDD"/>
                </a:solidFill>
              </a:rPr>
              <a:t>Faqat fayllarni o'qish va dasturlarni ishga tushirish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4705" y="1018540"/>
            <a:ext cx="4514215" cy="2788920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78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</a:rPr>
              <a:t>Share vs NTFS — Farqi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77410" y="1527175"/>
            <a:ext cx="1572768" cy="347472"/>
          </a:xfrm>
          <a:prstGeom prst="rect">
            <a:avLst/>
          </a:prstGeom>
          <a:solidFill>
            <a:srgbClr val="1A1A3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0876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0305" y="1527175"/>
            <a:ext cx="1572768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0305" y="1527175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22565" y="1508760"/>
            <a:ext cx="1318260" cy="347345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9550" y="1508760"/>
            <a:ext cx="131445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NTFS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7410" y="1874520"/>
            <a:ext cx="1572768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7410" y="187452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Qo'llanish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0305" y="1874520"/>
            <a:ext cx="1572768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0305" y="187452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Tarmoqdan kirish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30820" y="1874520"/>
            <a:ext cx="1297305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0185" y="1874520"/>
            <a:ext cx="12979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Lokal va tarmoq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77410" y="2308860"/>
            <a:ext cx="1572768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7410" y="228600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Turlari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50305" y="2308860"/>
            <a:ext cx="1572768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0305" y="230886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3 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17485" y="2286000"/>
            <a:ext cx="1316990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0185" y="2286000"/>
            <a:ext cx="94805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6 ta (ko'proq)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77410" y="2720340"/>
            <a:ext cx="1572768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7410" y="272034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Batafsil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50305" y="2720340"/>
            <a:ext cx="1572768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0305" y="272034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829550" y="2697480"/>
            <a:ext cx="1314450" cy="41148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22565" y="2697480"/>
            <a:ext cx="105473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Juda batafsil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77410" y="3131820"/>
            <a:ext cx="1572768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7410" y="310896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Ustunlik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50305" y="3131820"/>
            <a:ext cx="1572768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0305" y="313182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Kamroq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831455" y="3108960"/>
            <a:ext cx="1312545" cy="411480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3108960"/>
            <a:ext cx="7391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Ko'proq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3913632"/>
            <a:ext cx="8595360" cy="841248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913632"/>
            <a:ext cx="109728" cy="8412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977640"/>
            <a:ext cx="8183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MUHIM: Tarmoqdan kirishda amal qiladigan ruxsat = Share ruxsati VA NTFS ruxsatining KICHIGI (the most restrictive wins)!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Effective Permissions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7E"/>
                </a:solidFill>
              </a:rPr>
              <a:t>Effective Permissions — Haqiqiy Ruxsatlar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</a:rPr>
              <a:t>Foydalanuvchining haqiqatda qanday ruxsatlarga ega ekanligini aniqlash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695"/>
            <a:ext cx="8595360" cy="3730625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Misol: student1 foydalanuvchisi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743200" cy="457200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 guruhi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</a:rPr>
              <a:t>→ Read (R)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2743200" cy="457200"/>
          </a:xfrm>
          <a:prstGeom prst="rect">
            <a:avLst/>
          </a:prstGeom>
          <a:solidFill>
            <a:srgbClr val="7B1FA2">
              <a:alpha val="8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Developers guruhi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16712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</a:rPr>
              <a:t>→ Modify (M)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2743200" cy="457200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34056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student1 shaxsan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73405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→ Write (W)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</a:rPr>
              <a:t>Effective Permission =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58390" y="3337560"/>
            <a:ext cx="3086100" cy="384175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7280" y="3337560"/>
            <a:ext cx="306387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+ Modify + Write = Modify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115695"/>
            <a:ext cx="3429000" cy="3533140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1887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Hisoblash qoidalari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32120" y="1627632"/>
            <a:ext cx="32186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627632"/>
            <a:ext cx="10972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7099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1. Barcha guruh ruxsatlari qo'shiladi (cumulative)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2249424"/>
            <a:ext cx="32186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2249424"/>
            <a:ext cx="109728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2. DENY har doim ALLOW dan ustun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2871216"/>
            <a:ext cx="32186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871216"/>
            <a:ext cx="109728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9535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3. Share + NTFS: eng kichigi qo'llanadi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3493008"/>
            <a:ext cx="32186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3493008"/>
            <a:ext cx="109728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5753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4. Explicit &gt; Inherited ruxsatlar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32120" y="4114800"/>
            <a:ext cx="32186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4114800"/>
            <a:ext cx="109728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41970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5. Lokal admin = to'liq huquq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Allow va Deny — Amaliy Misollar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2828"/>
                </a:solidFill>
              </a:rPr>
              <a:t>Deny ALWAYS wins — Taqiqlash har doim ustun turadi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965960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Senariy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user1 Users guruhiga a'zo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Users guruhi: Read (Allow)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user1 shaxsan: Write (Allow)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Natija: Read + Write = Modify ga teng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017520"/>
            <a:ext cx="4114800" cy="457200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4495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Natija: Read + Write ruxsatlari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965960"/>
          </a:xfrm>
          <a:prstGeom prst="rect">
            <a:avLst/>
          </a:prstGeom>
          <a:solidFill>
            <a:srgbClr val="1420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7899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Senariy 2 — DENY holati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user2 Admins guruhiga a'zo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Admins guruhi: Full Control (Allow)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user2 shaxsan: Write (DENY)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DDEE"/>
                </a:solidFill>
              </a:rPr>
              <a:t>Natija: Write DENY — o'zgartira olmaydi!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114800" cy="457200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4495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Natija: Write taqiqlandi (DENY ustun!)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8595360" cy="1170432"/>
          </a:xfrm>
          <a:prstGeom prst="rect">
            <a:avLst/>
          </a:prstGeom>
          <a:solidFill>
            <a:srgbClr val="2A0A0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11880"/>
            <a:ext cx="109728" cy="1170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82296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</a:rPr>
              <a:t>OGOHLANTIRISH: DENY dan ehtiyotkorlik bilan foydalaning! Agar administrator akkauntiga Deny bersangiz, tizimga kirishingiz qiyinlashadi. Faqat kerak bo'lgandagina ishlating.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</a:rPr>
              <a:t>Yaxshi Amaliyotlar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7E"/>
                </a:solidFill>
              </a:rPr>
              <a:t>Best Practices — Ruxsatlarni Boshqarish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502920" cy="1188720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1. Least Privilege (Minimal Ruxsat)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Foydalanuvchiga faqat kerakli minimum ruxsat bering. Full Control kerak bo'lmasa bermang.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58568"/>
            <a:ext cx="502920" cy="118872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5856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3500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2. Guruhlar orqali boshqaring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Shaxsiy foydalanuvchiga emas, guruhlarga ruxsat bering. Bu boshqaruvni osonlashtiradi.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00ACC1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502920" cy="1188720"/>
          </a:xfrm>
          <a:prstGeom prst="rect">
            <a:avLst/>
          </a:prstGeom>
          <a:solidFill>
            <a:srgbClr val="00ACC1">
              <a:alpha val="8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8444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</a:rPr>
              <a:t>3. Meros orqali boshqaring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Har bir faylga alohida ruxsat o'rniga, papka darajasida meros bering.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3268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FB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32688"/>
            <a:ext cx="502920" cy="1188720"/>
          </a:xfrm>
          <a:prstGeom prst="rect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3268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0241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4. Deny dan qoching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37160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Deny o'rniga Allow ni cheklang. Deny murakkablikka olib keladi.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5856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58568"/>
            <a:ext cx="502920" cy="1188720"/>
          </a:xfrm>
          <a:prstGeom prst="rect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25856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3500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5. Doimiy audit qiling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69748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icacls /save va /restore yordamida ruxsatlarni muntazam tekshirib turing.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8444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84448"/>
            <a:ext cx="502920" cy="1188720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84448"/>
            <a:ext cx="502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6758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6. Administrator hisobini himoyalang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023360"/>
            <a:ext cx="3566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Administrator ga keraksiz ruxsat bermang. Doimiy Admin bo'lib ishlamang.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Amaliy Mashq — Tayyorgarlik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B300"/>
                </a:solidFill>
              </a:rPr>
              <a:t>Foydalanuvchilar yaratish va test muhiti sozlash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3822192"/>
          </a:xfrm>
          <a:prstGeom prst="rect">
            <a:avLst/>
          </a:prstGeom>
          <a:solidFill>
            <a:srgbClr val="0A162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75488" cy="685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754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143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</a:rPr>
              <a:t>Kim ekanligimizni tekshirish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097280"/>
            <a:ext cx="5760720" cy="685800"/>
          </a:xfrm>
          <a:prstGeom prst="rect">
            <a:avLst/>
          </a:prstGeom>
          <a:solidFill>
            <a:srgbClr val="14204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14300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 /all  -- SID va guruhlarni ko'rish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useraccount list brief -- barcha userlar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47548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4754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Yangi foydalanuvchilar yaratish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920240"/>
            <a:ext cx="5760720" cy="685800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96596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student1 123abc /add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student2 123abc /add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user -- yaratilganini tekshirish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475488" cy="685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4754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" y="2788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Test papka yaratish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2743200"/>
            <a:ext cx="5760720" cy="685800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78892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C:\Test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C:\Test\SubFolder1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C:\Test\SubFolder2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475488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66160"/>
            <a:ext cx="4754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3611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Mavjud ruxsatlarni ko'rish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0360" y="3566160"/>
            <a:ext cx="5760720" cy="685800"/>
          </a:xfrm>
          <a:prstGeom prst="rect">
            <a:avLst/>
          </a:prstGeom>
          <a:solidFill>
            <a:srgbClr val="14204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611880"/>
            <a:ext cx="5577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</a:rPr>
              <a:t>Amaliy Mashqlar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Amaliy 2 — icacls bilan Ruxsat Boshqarish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05072"/>
          </a:xfrm>
          <a:prstGeom prst="rect">
            <a:avLst/>
          </a:prstGeom>
          <a:solidFill>
            <a:srgbClr val="1A1A2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321040" cy="3840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Merosni o'chirish (clean slate)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/inheritance:r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 # endi faqat explicit ruxsatlar ko'rinadi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student1 ga Full Control berish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student1:(CI)(OI)(F)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student2 ga faqat Read berish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student2:(CI)(OI)(R)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Ruxsatlarni ko'rish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student1 sifatida CMD ochish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runas /user:student1 cmd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Tekshirish (student1 CMD da)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Salom &gt; test.txt  # Yozish tekshiruvi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test.txt          # O'qish tekshiruvi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test.txt           # O'chirish tekshiruvi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15 / 22</a:t>
            </a:r>
            <a:endParaRPr lang="en-US" sz="900" dirty="0"/>
          </a:p>
        </p:txBody>
      </p:sp>
      <p:sp>
        <p:nvSpPr>
          <p:cNvPr id="8" name="Text Box 7"/>
          <p:cNvSpPr txBox="1"/>
          <p:nvPr/>
        </p:nvSpPr>
        <p:spPr>
          <a:xfrm>
            <a:off x="445135" y="972820"/>
            <a:ext cx="19691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2"/>
                </a:solidFill>
                <a:sym typeface="+mn-ea"/>
              </a:rPr>
              <a:t>net user student1 123abc /add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Amaliy 3 — Ruxsatlarni Tekshirish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CC1"/>
                </a:solidFill>
              </a:rPr>
              <a:t>student2 (faqat Read) va natijalarni solishtirish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</a:rPr>
              <a:t>student2 CMD da (faqat R):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84048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runas /user:student2 cmd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# Ko'rishi mumkin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test.txt  # O'qishi mumkin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 yerda xato bo'ladi: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Salom &gt; new.txt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Xato: Ruxsat rad etildi!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test.txt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Xato: Ruxsat rad etildi!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7899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Natijalar taqqoslamasi: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1481328"/>
            <a:ext cx="1261872" cy="384048"/>
          </a:xfrm>
          <a:prstGeom prst="rect">
            <a:avLst/>
          </a:prstGeom>
          <a:solidFill>
            <a:srgbClr val="1A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81328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Amal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81328"/>
            <a:ext cx="126187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81328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S1 (F)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1481328"/>
            <a:ext cx="1261872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481328"/>
            <a:ext cx="12618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S2 (R)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883664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8366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dir (ko'rish)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83664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88366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43800" y="1883664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88366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2359152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59152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type (o'qish)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359152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359152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3800" y="2359152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2359152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92040" y="2834640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34640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echo &gt; (yozish)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834640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34640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43800" y="2834640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834640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92040" y="3310128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10128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del (o'chirish)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310128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310128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43800" y="3310128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3310128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92040" y="3785616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785616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mkdir (papka)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785616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785616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43800" y="3785616"/>
            <a:ext cx="1261872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3785616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92040" y="4261104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26110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icacls /grant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261104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26110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43800" y="4261104"/>
            <a:ext cx="1261872" cy="475488"/>
          </a:xfrm>
          <a:prstGeom prst="rect">
            <a:avLst/>
          </a:prstGeom>
          <a:solidFill>
            <a:srgbClr val="172035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4261104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Amaliy Mashqlar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Amaliy 4 — GUI (Grafik interfeys) Orqali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47548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10241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Papkani toping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38988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Desktop yoki C:\ da test papkasini toping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00ACC1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58568"/>
            <a:ext cx="475488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5856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23500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Properties oching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71576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Papka ustida o'ng click → Properties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7B1FA2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475488" cy="1188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8444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" y="36758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</a:rPr>
              <a:t>Security tab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04164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Properties → Security tab ni bosing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3268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32688"/>
            <a:ext cx="47548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3268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76088" y="10241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Edit tugmasi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76088" y="138988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Security → Edit tugmasini bosing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5856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FB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58568"/>
            <a:ext cx="475488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25856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76088" y="23500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Foydalanuvchi qo'shish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271576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Add → foydalanuvchi nomini kiriting → Check Names → OK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84448"/>
            <a:ext cx="42519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84448"/>
            <a:ext cx="475488" cy="1188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84448"/>
            <a:ext cx="4754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76088" y="367588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Ruxsat belgilash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76088" y="4041648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</a:rPr>
              <a:t>Allow yoki Deny katakchalarini belgilang → Apply → OK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CC1"/>
                </a:solidFill>
              </a:rPr>
              <a:t>Ilg'or Buyruqlar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Ruxsatlarni Saqlash, Tiklash va Ko'chirish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005072"/>
          </a:xfrm>
          <a:prstGeom prst="rect">
            <a:avLst/>
          </a:prstGeom>
          <a:solidFill>
            <a:srgbClr val="1A1A2E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321040" cy="3840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Ruxsatlarni fayl ga saqlash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/save permissions.txt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Ruxsatlarni fayldan tiklash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 /restore permissions.txt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Barcha uchun bir xil ruxsat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Everyone:(R)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Meros sozlamalari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/inheritance:e  # Enable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/inheritance:d  # Disable, copy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/inheritance:r  # Remove inherited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Butun katalog uchun rekursiv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C:\Test\* /grant student1:(CI)(OI)(F) /T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Ruxsatlarni nollash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/reset /T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Egalikni olish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takeown /f C:\Test /r /d 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icacls C:\Test /grant Administrators:(F) /T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PowerShell bilan Ruxsatlar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94DA"/>
                </a:solidFill>
              </a:rPr>
              <a:t>Get-Acl va Set-Acl cmdlet lari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3858768"/>
          </a:xfrm>
          <a:prstGeom prst="rect">
            <a:avLst/>
          </a:prstGeom>
          <a:solidFill>
            <a:srgbClr val="0A0A1A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8321040" cy="3712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9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Ruxsatlarni ko'rish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Get-Acl C:\Test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Get-Acl C:\Test | Format-List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9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Ruxsatni o'qish va chiqarish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$acl = Get-Acl C:\Test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$acl.Access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9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Yangi ruxsat qo'shish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$rule = New-Object System.Security.AccessControl.FileSystemAccessRule(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"student1", "FullControl", "Allow")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$acl.SetAccessRule($rule)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Set-Acl C:\Test $acl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9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Ruxsatni olib tashlash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$acl.RemoveAccessRule($rule)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Set-Acl C:\Test $acl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9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Meros sozlash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$acl.SetAccessRuleProtection($true, $false)  # Inheritance off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Set-Acl C:\Test $acl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Troubleshooting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7E"/>
                </a:solidFill>
              </a:rPr>
              <a:t>Ko'p Uchraydigan Muammolar va Yechimlari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109728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⚠ Ruxsat rad etildi (Access Denied)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9776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1. icacls buyruqi bilan ruxsatlarni tekshiring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2. Foydalanuvchi to'g'ri guruhda ekanligini tekshiring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3. Deny mavjud emasligini tekshiring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990088"/>
            <a:ext cx="425196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FB30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90088"/>
            <a:ext cx="109728" cy="1920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08152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⚠ Meros kutilgancha ishlamayapti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493008"/>
            <a:ext cx="39776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1. /inheritance:r bilan meros bekor qilinganmi?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2. (CI)(OI) flaglar to'g'ri belgilanganmi?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3. Ota-ona papka ruxsatlarini tekshiring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932688"/>
            <a:ext cx="425196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32688"/>
            <a:ext cx="109728" cy="1920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02412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⚠ Ruxsatlarni o'zgartira olmayapman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1435608"/>
            <a:ext cx="39776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1. Administrator huquqi bormi? (whoami /groups)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2. takeown bilan egalikni oling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3. SYSTEM ga ham Full Control bering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90088"/>
            <a:ext cx="4251960" cy="1920240"/>
          </a:xfrm>
          <a:prstGeom prst="rect">
            <a:avLst/>
          </a:prstGeom>
          <a:solidFill>
            <a:srgbClr val="F5F7FA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90088"/>
            <a:ext cx="109728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08152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⚠ Share papkaga kirish muammosi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493008"/>
            <a:ext cx="39776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1. Share ruxsati va NTFS ruxsatining ikkalasini tekshiring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2. Firewall papka ulashishiga ruxsat berganmi?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</a:rPr>
              <a:t>3. Tarmoq ulanishini tekshiring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Xulosa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Windows Ruxsatnoma Tizimi — Asosiy Tushunchalar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17320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508760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NTFS Ruxsatlar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F, M, RX, L, R, W — 6 asosiy ruxsat turi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87752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679192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ACL va 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44952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DACL (kim kiradi), SACL (audit), har bir ACE = user/group + ruxsat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58184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849624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Meros (Inheritance)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215384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CI, OI, IO, NP, I — papkadan farzandlarga ruxsat o'tishi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17320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1508760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Share 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874520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Tarmoqda: 3 tur, NTFS bilan birgalikda, eng kichigi qo'llanadi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87752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587752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2679192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Allow vs Deny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044952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Deny har doim Allow dan ustun. Ehtiyotkorlik bilan ishlating!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58184"/>
            <a:ext cx="4206240" cy="1024128"/>
          </a:xfrm>
          <a:prstGeom prst="rect">
            <a:avLst/>
          </a:prstGeom>
          <a:solidFill>
            <a:srgbClr val="14204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758184"/>
            <a:ext cx="530352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0680" y="3849624"/>
            <a:ext cx="34015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</a:rPr>
              <a:t>Best Practices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4215384"/>
            <a:ext cx="34015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</a:rPr>
              <a:t>Least Privilege, guruhlar orqali, meros orqali boshqaring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300"/>
                </a:solidFill>
              </a:rPr>
              <a:t>Savollaringiz bormi? 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10975</Words>
  <Application>WPS Presentation</Application>
  <PresentationFormat>On-screen Show (16:9)</PresentationFormat>
  <Paragraphs>825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Consolas</vt:lpstr>
      <vt:lpstr>Quicksand Light</vt:lpstr>
      <vt:lpstr>Consolas</vt:lpstr>
      <vt:lpstr>Consolas</vt:lpstr>
      <vt:lpstr>Microsoft YaHei</vt:lpstr>
      <vt:lpstr>Droid Sans Fallback</vt:lpstr>
      <vt:lpstr>Arial Unicode MS</vt:lpstr>
      <vt:lpstr>FreeSans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Ruxsatnoma Tizimi</dc:title>
  <dc:creator>Doston Abdullayev</dc:creator>
  <dc:subject>PptxGenJS Presentation</dc:subject>
  <cp:lastModifiedBy>lobo</cp:lastModifiedBy>
  <cp:revision>4</cp:revision>
  <dcterms:created xsi:type="dcterms:W3CDTF">2026-06-03T14:51:34Z</dcterms:created>
  <dcterms:modified xsi:type="dcterms:W3CDTF">2026-06-03T14:51:34Z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