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Lst>
  <p:notesMasterIdLst>
    <p:notesMasterId r:id="rId5"/>
  </p:notesMasterIdLst>
  <p:handoutMasterIdLst>
    <p:handoutMasterId r:id="rId27"/>
  </p:handoutMasterIdLst>
  <p:sldIdLst>
    <p:sldId id="340" r:id="rId4"/>
    <p:sldId id="341" r:id="rId6"/>
    <p:sldId id="372" r:id="rId7"/>
    <p:sldId id="376" r:id="rId8"/>
    <p:sldId id="381" r:id="rId9"/>
    <p:sldId id="408" r:id="rId10"/>
    <p:sldId id="373" r:id="rId11"/>
    <p:sldId id="377" r:id="rId12"/>
    <p:sldId id="375" r:id="rId13"/>
    <p:sldId id="343" r:id="rId14"/>
    <p:sldId id="384" r:id="rId15"/>
    <p:sldId id="354" r:id="rId16"/>
    <p:sldId id="379" r:id="rId17"/>
    <p:sldId id="383" r:id="rId18"/>
    <p:sldId id="412" r:id="rId19"/>
    <p:sldId id="374" r:id="rId20"/>
    <p:sldId id="382" r:id="rId21"/>
    <p:sldId id="378" r:id="rId22"/>
    <p:sldId id="393" r:id="rId23"/>
    <p:sldId id="415" r:id="rId24"/>
    <p:sldId id="416" r:id="rId25"/>
    <p:sldId id="417" r:id="rId26"/>
  </p:sldIdLst>
  <p:sldSz cx="12192000" cy="6858000"/>
  <p:notesSz cx="6858000" cy="9144000"/>
  <p:embeddedFontLst>
    <p:embeddedFont>
      <p:font typeface="Inter" panose="02000503000000020004" charset="0"/>
      <p:regular r:id="rId31"/>
      <p:bold r:id="rId32"/>
    </p:embeddedFont>
    <p:embeddedFont>
      <p:font typeface="Inter Black" panose="02000503000000020004" charset="0"/>
      <p:bold r:id="rId33"/>
    </p:embeddedFont>
  </p:embeddedFontLst>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DBF8"/>
    <a:srgbClr val="4AC7F9"/>
    <a:srgbClr val="47B2FA"/>
    <a:srgbClr val="54A6FB"/>
    <a:srgbClr val="4589FB"/>
    <a:srgbClr val="4675FC"/>
    <a:srgbClr val="54FDED"/>
    <a:srgbClr val="4EE4F0"/>
    <a:srgbClr val="49CCF3"/>
    <a:srgbClr val="44B3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4" Type="http://schemas.openxmlformats.org/officeDocument/2006/relationships/tags" Target="tags/tag229.xml"/><Relationship Id="rId33" Type="http://schemas.openxmlformats.org/officeDocument/2006/relationships/font" Target="fonts/font3.fntdata"/><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Inter Black" panose="02000503000000020004" charset="0"/>
              <a:ea typeface="Inter Black" panose="02000503000000020004" charset="0"/>
              <a:cs typeface="Inter" panose="0200050300000002000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Inter Black" panose="02000503000000020004" charset="0"/>
                <a:ea typeface="Inter Black" panose="02000503000000020004" charset="0"/>
                <a:cs typeface="Inter" panose="02000503000000020004" charset="0"/>
              </a:rPr>
            </a:fld>
            <a:endParaRPr lang="zh-CN" altLang="en-US">
              <a:latin typeface="Inter Black" panose="02000503000000020004" charset="0"/>
              <a:ea typeface="Inter Black" panose="02000503000000020004" charset="0"/>
              <a:cs typeface="Inter" panose="020005030000000200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Inter Black" panose="02000503000000020004" charset="0"/>
              <a:ea typeface="Inter Black" panose="02000503000000020004" charset="0"/>
              <a:cs typeface="Inter" panose="0200050300000002000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Inter Black" panose="02000503000000020004" charset="0"/>
                <a:ea typeface="Inter Black" panose="02000503000000020004" charset="0"/>
                <a:cs typeface="Inter" panose="02000503000000020004" charset="0"/>
              </a:rPr>
            </a:fld>
            <a:endParaRPr lang="zh-CN" altLang="en-US">
              <a:latin typeface="Inter Black" panose="02000503000000020004" charset="0"/>
              <a:ea typeface="Inter Black" panose="02000503000000020004" charset="0"/>
              <a:cs typeface="Inter" panose="0200050300000002000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nter Black" panose="02000503000000020004" charset="0"/>
                <a:ea typeface="Inter Black" panose="02000503000000020004" charset="0"/>
                <a:cs typeface="Inter" panose="0200050300000002000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nter Black" panose="02000503000000020004" charset="0"/>
                <a:ea typeface="Inter Black" panose="02000503000000020004" charset="0"/>
                <a:cs typeface="Inter" panose="02000503000000020004" charset="0"/>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nter Black" panose="02000503000000020004" charset="0"/>
                <a:ea typeface="Inter Black" panose="02000503000000020004" charset="0"/>
                <a:cs typeface="Inter" panose="0200050300000002000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nter Black" panose="02000503000000020004" charset="0"/>
                <a:ea typeface="Inter Black" panose="02000503000000020004" charset="0"/>
                <a:cs typeface="Inter" panose="02000503000000020004" charset="0"/>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1pPr>
    <a:lvl2pPr marL="4572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2pPr>
    <a:lvl3pPr marL="9144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3pPr>
    <a:lvl4pPr marL="13716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4pPr>
    <a:lvl5pPr marL="18288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Inter" panose="02000503000000020004" charset="0"/>
          <a:ea typeface="Inter Black" panose="02000503000000020004" charset="0"/>
          <a:cs typeface="Inter" panose="0200050300000002000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Inter" panose="02000503000000020004" charset="0"/>
          <a:ea typeface="Inter Black" panose="02000503000000020004" charset="0"/>
          <a:cs typeface="Inter" panose="0200050300000002000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5" Type="http://schemas.openxmlformats.org/officeDocument/2006/relationships/notesSlide" Target="../notesSlides/notesSlide1.xml"/><Relationship Id="rId24" Type="http://schemas.openxmlformats.org/officeDocument/2006/relationships/slideLayout" Target="../slideLayouts/slideLayout12.xml"/><Relationship Id="rId23" Type="http://schemas.openxmlformats.org/officeDocument/2006/relationships/tags" Target="../tags/tag146.xml"/><Relationship Id="rId22" Type="http://schemas.openxmlformats.org/officeDocument/2006/relationships/tags" Target="../tags/tag145.xml"/><Relationship Id="rId21" Type="http://schemas.openxmlformats.org/officeDocument/2006/relationships/tags" Target="../tags/tag144.xml"/><Relationship Id="rId20" Type="http://schemas.openxmlformats.org/officeDocument/2006/relationships/tags" Target="../tags/tag143.xml"/><Relationship Id="rId2" Type="http://schemas.openxmlformats.org/officeDocument/2006/relationships/tags" Target="../tags/tag125.xml"/><Relationship Id="rId19" Type="http://schemas.openxmlformats.org/officeDocument/2006/relationships/tags" Target="../tags/tag142.xml"/><Relationship Id="rId18" Type="http://schemas.openxmlformats.org/officeDocument/2006/relationships/tags" Target="../tags/tag141.xml"/><Relationship Id="rId17" Type="http://schemas.openxmlformats.org/officeDocument/2006/relationships/tags" Target="../tags/tag140.xml"/><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tags" Target="../tags/tag153.xml"/><Relationship Id="rId3" Type="http://schemas.openxmlformats.org/officeDocument/2006/relationships/image" Target="../media/image4.jpeg"/><Relationship Id="rId2" Type="http://schemas.openxmlformats.org/officeDocument/2006/relationships/tags" Target="../tags/tag15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tags" Target="../tags/tag156.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tags" Target="../tags/tag158.xml"/><Relationship Id="rId3" Type="http://schemas.openxmlformats.org/officeDocument/2006/relationships/image" Target="../media/image5.png"/><Relationship Id="rId2" Type="http://schemas.openxmlformats.org/officeDocument/2006/relationships/tags" Target="../tags/tag157.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tags" Target="../tags/tag160.xml"/><Relationship Id="rId3" Type="http://schemas.openxmlformats.org/officeDocument/2006/relationships/image" Target="../media/image6.png"/><Relationship Id="rId2" Type="http://schemas.openxmlformats.org/officeDocument/2006/relationships/tags" Target="../tags/tag159.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tags" Target="../tags/tag168.xml"/><Relationship Id="rId3" Type="http://schemas.openxmlformats.org/officeDocument/2006/relationships/image" Target="../media/image7.png"/><Relationship Id="rId2" Type="http://schemas.openxmlformats.org/officeDocument/2006/relationships/tags" Target="../tags/tag167.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tags" Target="../tags/tag170.xml"/><Relationship Id="rId3" Type="http://schemas.openxmlformats.org/officeDocument/2006/relationships/image" Target="../media/image8.png"/><Relationship Id="rId2" Type="http://schemas.openxmlformats.org/officeDocument/2006/relationships/tags" Target="../tags/tag169.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tags" Target="../tags/tag172.xml"/><Relationship Id="rId2" Type="http://schemas.openxmlformats.org/officeDocument/2006/relationships/image" Target="../media/image9.png"/><Relationship Id="rId1" Type="http://schemas.openxmlformats.org/officeDocument/2006/relationships/tags" Target="../tags/tag171.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2.xml"/><Relationship Id="rId3" Type="http://schemas.openxmlformats.org/officeDocument/2006/relationships/tags" Target="../tags/tag173.xml"/><Relationship Id="rId2" Type="http://schemas.openxmlformats.org/officeDocument/2006/relationships/image" Target="../media/image10.pn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tags" Target="../tags/tag175.xml"/><Relationship Id="rId3" Type="http://schemas.openxmlformats.org/officeDocument/2006/relationships/image" Target="../media/image11.png"/><Relationship Id="rId2" Type="http://schemas.openxmlformats.org/officeDocument/2006/relationships/tags" Target="../tags/tag174.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tags" Target="../tags/tag179.xml"/><Relationship Id="rId1" Type="http://schemas.openxmlformats.org/officeDocument/2006/relationships/tags" Target="../tags/tag178.xml"/></Relationships>
</file>

<file path=ppt/slides/_rels/slide19.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0" Type="http://schemas.openxmlformats.org/officeDocument/2006/relationships/notesSlide" Target="../notesSlides/notesSlide19.xml"/><Relationship Id="rId2" Type="http://schemas.openxmlformats.org/officeDocument/2006/relationships/tags" Target="../tags/tag180.xml"/><Relationship Id="rId19" Type="http://schemas.openxmlformats.org/officeDocument/2006/relationships/slideLayout" Target="../slideLayouts/slideLayout12.xml"/><Relationship Id="rId18" Type="http://schemas.openxmlformats.org/officeDocument/2006/relationships/tags" Target="../tags/tag196.xml"/><Relationship Id="rId17" Type="http://schemas.openxmlformats.org/officeDocument/2006/relationships/tags" Target="../tags/tag195.xml"/><Relationship Id="rId16" Type="http://schemas.openxmlformats.org/officeDocument/2006/relationships/tags" Target="../tags/tag194.xml"/><Relationship Id="rId15" Type="http://schemas.openxmlformats.org/officeDocument/2006/relationships/tags" Target="../tags/tag193.xml"/><Relationship Id="rId14" Type="http://schemas.openxmlformats.org/officeDocument/2006/relationships/tags" Target="../tags/tag192.xml"/><Relationship Id="rId13" Type="http://schemas.openxmlformats.org/officeDocument/2006/relationships/tags" Target="../tags/tag191.xml"/><Relationship Id="rId12" Type="http://schemas.openxmlformats.org/officeDocument/2006/relationships/tags" Target="../tags/tag190.xml"/><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9" Type="http://schemas.openxmlformats.org/officeDocument/2006/relationships/tags" Target="../tags/tag204.xml"/><Relationship Id="rId8" Type="http://schemas.openxmlformats.org/officeDocument/2006/relationships/tags" Target="../tags/tag203.xml"/><Relationship Id="rId7" Type="http://schemas.openxmlformats.org/officeDocument/2006/relationships/tags" Target="../tags/tag202.xml"/><Relationship Id="rId6" Type="http://schemas.openxmlformats.org/officeDocument/2006/relationships/tags" Target="../tags/tag201.xml"/><Relationship Id="rId5" Type="http://schemas.openxmlformats.org/officeDocument/2006/relationships/tags" Target="../tags/tag200.xml"/><Relationship Id="rId4" Type="http://schemas.openxmlformats.org/officeDocument/2006/relationships/tags" Target="../tags/tag199.xml"/><Relationship Id="rId3" Type="http://schemas.openxmlformats.org/officeDocument/2006/relationships/tags" Target="../tags/tag198.xml"/><Relationship Id="rId2" Type="http://schemas.openxmlformats.org/officeDocument/2006/relationships/tags" Target="../tags/tag197.xml"/><Relationship Id="rId14" Type="http://schemas.openxmlformats.org/officeDocument/2006/relationships/notesSlide" Target="../notesSlides/notesSlide20.xml"/><Relationship Id="rId13" Type="http://schemas.openxmlformats.org/officeDocument/2006/relationships/slideLayout" Target="../slideLayouts/slideLayout12.xml"/><Relationship Id="rId12" Type="http://schemas.openxmlformats.org/officeDocument/2006/relationships/tags" Target="../tags/tag207.xml"/><Relationship Id="rId11" Type="http://schemas.openxmlformats.org/officeDocument/2006/relationships/tags" Target="../tags/tag206.xml"/><Relationship Id="rId10" Type="http://schemas.openxmlformats.org/officeDocument/2006/relationships/tags" Target="../tags/tag205.xml"/><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9" Type="http://schemas.openxmlformats.org/officeDocument/2006/relationships/tags" Target="../tags/tag215.xml"/><Relationship Id="rId8" Type="http://schemas.openxmlformats.org/officeDocument/2006/relationships/tags" Target="../tags/tag214.xml"/><Relationship Id="rId7" Type="http://schemas.openxmlformats.org/officeDocument/2006/relationships/tags" Target="../tags/tag213.xml"/><Relationship Id="rId6" Type="http://schemas.openxmlformats.org/officeDocument/2006/relationships/tags" Target="../tags/tag212.xml"/><Relationship Id="rId5" Type="http://schemas.openxmlformats.org/officeDocument/2006/relationships/tags" Target="../tags/tag211.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tags" Target="../tags/tag208.xml"/><Relationship Id="rId14" Type="http://schemas.openxmlformats.org/officeDocument/2006/relationships/notesSlide" Target="../notesSlides/notesSlide21.xml"/><Relationship Id="rId13" Type="http://schemas.openxmlformats.org/officeDocument/2006/relationships/slideLayout" Target="../slideLayouts/slideLayout12.xml"/><Relationship Id="rId12" Type="http://schemas.openxmlformats.org/officeDocument/2006/relationships/tags" Target="../tags/tag218.xml"/><Relationship Id="rId11" Type="http://schemas.openxmlformats.org/officeDocument/2006/relationships/tags" Target="../tags/tag217.xml"/><Relationship Id="rId10" Type="http://schemas.openxmlformats.org/officeDocument/2006/relationships/tags" Target="../tags/tag216.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9" Type="http://schemas.openxmlformats.org/officeDocument/2006/relationships/tags" Target="../tags/tag226.xml"/><Relationship Id="rId8" Type="http://schemas.openxmlformats.org/officeDocument/2006/relationships/tags" Target="../tags/tag225.xml"/><Relationship Id="rId7" Type="http://schemas.openxmlformats.org/officeDocument/2006/relationships/tags" Target="../tags/tag224.xml"/><Relationship Id="rId6" Type="http://schemas.openxmlformats.org/officeDocument/2006/relationships/tags" Target="../tags/tag223.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4" Type="http://schemas.openxmlformats.org/officeDocument/2006/relationships/notesSlide" Target="../notesSlides/notesSlide22.xml"/><Relationship Id="rId13" Type="http://schemas.openxmlformats.org/officeDocument/2006/relationships/slideLayout" Target="../slideLayouts/slideLayout12.xml"/><Relationship Id="rId12" Type="http://schemas.openxmlformats.org/officeDocument/2006/relationships/tags" Target="../tags/tag228.xml"/><Relationship Id="rId11" Type="http://schemas.openxmlformats.org/officeDocument/2006/relationships/image" Target="../media/image12.png"/><Relationship Id="rId10" Type="http://schemas.openxmlformats.org/officeDocument/2006/relationships/tags" Target="../tags/tag227.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2" name="图片 51" descr="VCG21128005867512"/>
          <p:cNvPicPr>
            <a:picLocks noChangeAspect="1"/>
          </p:cNvPicPr>
          <p:nvPr/>
        </p:nvPicPr>
        <p:blipFill>
          <a:blip r:embed="rId1">
            <a:alphaModFix amt="20000"/>
          </a:blip>
          <a:stretch>
            <a:fillRect/>
          </a:stretch>
        </p:blipFill>
        <p:spPr>
          <a:xfrm>
            <a:off x="-62865" y="0"/>
            <a:ext cx="12160885" cy="6857365"/>
          </a:xfrm>
          <a:prstGeom prst="rect">
            <a:avLst/>
          </a:prstGeom>
        </p:spPr>
      </p:pic>
      <p:sp>
        <p:nvSpPr>
          <p:cNvPr id="22" name="任意多边形: 形状 14"/>
          <p:cNvSpPr/>
          <p:nvPr>
            <p:custDataLst>
              <p:tags r:id="rId2"/>
            </p:custDataLst>
          </p:nvPr>
        </p:nvSpPr>
        <p:spPr>
          <a:xfrm>
            <a:off x="2377516" y="4206476"/>
            <a:ext cx="7438409" cy="110315"/>
          </a:xfrm>
          <a:custGeom>
            <a:avLst/>
            <a:gdLst>
              <a:gd name="connsiteX0" fmla="*/ 0 w 10926501"/>
              <a:gd name="connsiteY0" fmla="*/ 0 h 162045"/>
              <a:gd name="connsiteX1" fmla="*/ 3761772 w 10926501"/>
              <a:gd name="connsiteY1" fmla="*/ 0 h 162045"/>
              <a:gd name="connsiteX2" fmla="*/ 3923817 w 10926501"/>
              <a:gd name="connsiteY2" fmla="*/ 162045 h 162045"/>
              <a:gd name="connsiteX3" fmla="*/ 6979534 w 10926501"/>
              <a:gd name="connsiteY3" fmla="*/ 162045 h 162045"/>
              <a:gd name="connsiteX4" fmla="*/ 7141579 w 10926501"/>
              <a:gd name="connsiteY4" fmla="*/ 0 h 162045"/>
              <a:gd name="connsiteX5" fmla="*/ 10926501 w 10926501"/>
              <a:gd name="connsiteY5" fmla="*/ 0 h 162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6501" h="162045">
                <a:moveTo>
                  <a:pt x="0" y="0"/>
                </a:moveTo>
                <a:lnTo>
                  <a:pt x="3761772" y="0"/>
                </a:lnTo>
                <a:lnTo>
                  <a:pt x="3923817" y="162045"/>
                </a:lnTo>
                <a:lnTo>
                  <a:pt x="6979534" y="162045"/>
                </a:lnTo>
                <a:lnTo>
                  <a:pt x="7141579" y="0"/>
                </a:lnTo>
                <a:lnTo>
                  <a:pt x="10926501" y="0"/>
                </a:lnTo>
              </a:path>
            </a:pathLst>
          </a:custGeom>
          <a:noFill/>
          <a:ln w="38100">
            <a:gradFill>
              <a:gsLst>
                <a:gs pos="200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159" name="任意多边形: 形状 158"/>
          <p:cNvSpPr/>
          <p:nvPr/>
        </p:nvSpPr>
        <p:spPr>
          <a:xfrm>
            <a:off x="4629150" y="4827270"/>
            <a:ext cx="2934335" cy="559435"/>
          </a:xfrm>
          <a:custGeom>
            <a:avLst/>
            <a:gdLst>
              <a:gd name="connsiteX0" fmla="*/ 0 w 2880000"/>
              <a:gd name="connsiteY0" fmla="*/ 0 h 3600000"/>
              <a:gd name="connsiteX1" fmla="*/ 882815 w 2880000"/>
              <a:gd name="connsiteY1" fmla="*/ 0 h 3600000"/>
              <a:gd name="connsiteX2" fmla="*/ 942863 w 2880000"/>
              <a:gd name="connsiteY2" fmla="*/ 60048 h 3600000"/>
              <a:gd name="connsiteX3" fmla="*/ 1902766 w 2880000"/>
              <a:gd name="connsiteY3" fmla="*/ 60048 h 3600000"/>
              <a:gd name="connsiteX4" fmla="*/ 1962813 w 2880000"/>
              <a:gd name="connsiteY4" fmla="*/ 0 h 3600000"/>
              <a:gd name="connsiteX5" fmla="*/ 2880000 w 2880000"/>
              <a:gd name="connsiteY5" fmla="*/ 0 h 3600000"/>
              <a:gd name="connsiteX6" fmla="*/ 2880000 w 2880000"/>
              <a:gd name="connsiteY6" fmla="*/ 3600000 h 3600000"/>
              <a:gd name="connsiteX7" fmla="*/ 1957099 w 2880000"/>
              <a:gd name="connsiteY7" fmla="*/ 3600000 h 3600000"/>
              <a:gd name="connsiteX8" fmla="*/ 1902766 w 2880000"/>
              <a:gd name="connsiteY8" fmla="*/ 3545666 h 3600000"/>
              <a:gd name="connsiteX9" fmla="*/ 942863 w 2880000"/>
              <a:gd name="connsiteY9" fmla="*/ 3545666 h 3600000"/>
              <a:gd name="connsiteX10" fmla="*/ 888529 w 2880000"/>
              <a:gd name="connsiteY10" fmla="*/ 3600000 h 3600000"/>
              <a:gd name="connsiteX11" fmla="*/ 0 w 2880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0000" h="3600000">
                <a:moveTo>
                  <a:pt x="0" y="0"/>
                </a:moveTo>
                <a:lnTo>
                  <a:pt x="882815" y="0"/>
                </a:lnTo>
                <a:lnTo>
                  <a:pt x="942863" y="60048"/>
                </a:lnTo>
                <a:lnTo>
                  <a:pt x="1902766" y="60048"/>
                </a:lnTo>
                <a:lnTo>
                  <a:pt x="1962813" y="0"/>
                </a:lnTo>
                <a:lnTo>
                  <a:pt x="2880000" y="0"/>
                </a:lnTo>
                <a:lnTo>
                  <a:pt x="2880000" y="3600000"/>
                </a:lnTo>
                <a:lnTo>
                  <a:pt x="1957099" y="3600000"/>
                </a:lnTo>
                <a:lnTo>
                  <a:pt x="1902766" y="3545666"/>
                </a:lnTo>
                <a:lnTo>
                  <a:pt x="942863" y="3545666"/>
                </a:lnTo>
                <a:lnTo>
                  <a:pt x="888529" y="3600000"/>
                </a:lnTo>
                <a:lnTo>
                  <a:pt x="0" y="3600000"/>
                </a:lnTo>
                <a:close/>
              </a:path>
            </a:pathLst>
          </a:custGeom>
          <a:gradFill>
            <a:gsLst>
              <a:gs pos="0">
                <a:schemeClr val="accent1"/>
              </a:gs>
              <a:gs pos="75000">
                <a:schemeClr val="accent1">
                  <a:alpha val="0"/>
                </a:schemeClr>
              </a:gs>
              <a:gs pos="94000">
                <a:schemeClr val="accent1"/>
              </a:gs>
              <a:gs pos="25000">
                <a:schemeClr val="accent1">
                  <a:alpha val="0"/>
                </a:schemeClr>
              </a:gs>
            </a:gsLst>
            <a:lin ang="0" scaled="0"/>
          </a:gradFill>
          <a:ln w="19050">
            <a:gradFill>
              <a:gsLst>
                <a:gs pos="0">
                  <a:schemeClr val="accent6"/>
                </a:gs>
                <a:gs pos="100000">
                  <a:schemeClr val="accent1"/>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cs typeface="Inter" panose="02000503000000020004" charset="0"/>
            </a:endParaRPr>
          </a:p>
        </p:txBody>
      </p:sp>
      <p:sp>
        <p:nvSpPr>
          <p:cNvPr id="23" name="文本框 22"/>
          <p:cNvSpPr txBox="1"/>
          <p:nvPr>
            <p:custDataLst>
              <p:tags r:id="rId3"/>
            </p:custDataLst>
          </p:nvPr>
        </p:nvSpPr>
        <p:spPr>
          <a:xfrm>
            <a:off x="4476750" y="4907598"/>
            <a:ext cx="3238500" cy="398780"/>
          </a:xfrm>
          <a:prstGeom prst="rect">
            <a:avLst/>
          </a:prstGeom>
          <a:noFill/>
        </p:spPr>
        <p:txBody>
          <a:bodyPr wrap="square" rtlCol="0">
            <a:spAutoFit/>
          </a:bodyPr>
          <a:p>
            <a:pPr algn="ctr"/>
            <a:r>
              <a:rPr lang="en-US" sz="2000" dirty="0">
                <a:solidFill>
                  <a:schemeClr val="lt2"/>
                </a:solidFill>
                <a:latin typeface="Inter Black" panose="02000503000000020004" charset="0"/>
                <a:ea typeface="Inter Black" panose="02000503000000020004" charset="0"/>
                <a:cs typeface="Inter" panose="02000503000000020004" charset="0"/>
              </a:rPr>
              <a:t>Doston Abdullayev</a:t>
            </a:r>
            <a:endParaRPr lang="en-US" sz="2000" dirty="0">
              <a:solidFill>
                <a:schemeClr val="lt2"/>
              </a:solidFill>
              <a:latin typeface="Inter Black" panose="02000503000000020004" charset="0"/>
              <a:ea typeface="Inter Black" panose="02000503000000020004" charset="0"/>
              <a:cs typeface="Inter" panose="02000503000000020004" charset="0"/>
            </a:endParaRPr>
          </a:p>
        </p:txBody>
      </p:sp>
      <p:sp>
        <p:nvSpPr>
          <p:cNvPr id="41" name="任意多边形: 形状 138"/>
          <p:cNvSpPr/>
          <p:nvPr>
            <p:custDataLst>
              <p:tags r:id="rId4"/>
            </p:custDataLst>
          </p:nvPr>
        </p:nvSpPr>
        <p:spPr>
          <a:xfrm>
            <a:off x="308610" y="503873"/>
            <a:ext cx="11576685" cy="585025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cs typeface="Inter" panose="02000503000000020004" charset="0"/>
            </a:endParaRPr>
          </a:p>
        </p:txBody>
      </p:sp>
      <p:sp>
        <p:nvSpPr>
          <p:cNvPr id="5" name="任意多边形: 形状 21"/>
          <p:cNvSpPr/>
          <p:nvPr>
            <p:custDataLst>
              <p:tags r:id="rId5"/>
            </p:custDataLst>
          </p:nvPr>
        </p:nvSpPr>
        <p:spPr>
          <a:xfrm rot="16200000" flipV="1">
            <a:off x="-2199640"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0" name="组合 29"/>
          <p:cNvGrpSpPr/>
          <p:nvPr/>
        </p:nvGrpSpPr>
        <p:grpSpPr>
          <a:xfrm>
            <a:off x="317818" y="176530"/>
            <a:ext cx="11556365" cy="135890"/>
            <a:chOff x="625" y="278"/>
            <a:chExt cx="18199" cy="214"/>
          </a:xfrm>
        </p:grpSpPr>
        <p:sp>
          <p:nvSpPr>
            <p:cNvPr id="24" name="任意多边形: 形状 21"/>
            <p:cNvSpPr/>
            <p:nvPr>
              <p:custDataLst>
                <p:tags r:id="rId6"/>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9" name="直接连接符 8"/>
            <p:cNvCxnSpPr/>
            <p:nvPr>
              <p:custDataLst>
                <p:tags r:id="rId7"/>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8"/>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6200000">
            <a:off x="11279505" y="749082"/>
            <a:ext cx="252730" cy="375920"/>
            <a:chOff x="17336" y="1136"/>
            <a:chExt cx="466" cy="911"/>
          </a:xfrm>
          <a:solidFill>
            <a:srgbClr val="2CF5FC"/>
          </a:solidFill>
        </p:grpSpPr>
        <p:sp>
          <p:nvSpPr>
            <p:cNvPr id="14" name="矩形 13"/>
            <p:cNvSpPr/>
            <p:nvPr>
              <p:custDataLst>
                <p:tags r:id="rId9"/>
              </p:custDataLst>
            </p:nvPr>
          </p:nvSpPr>
          <p:spPr>
            <a:xfrm>
              <a:off x="17448" y="1136"/>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0" name="矩形 39"/>
            <p:cNvSpPr/>
            <p:nvPr>
              <p:custDataLst>
                <p:tags r:id="rId10"/>
              </p:custDataLst>
            </p:nvPr>
          </p:nvSpPr>
          <p:spPr>
            <a:xfrm>
              <a:off x="17448" y="1532"/>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2" name="矩形 41"/>
            <p:cNvSpPr/>
            <p:nvPr>
              <p:custDataLst>
                <p:tags r:id="rId11"/>
              </p:custDataLst>
            </p:nvPr>
          </p:nvSpPr>
          <p:spPr>
            <a:xfrm>
              <a:off x="17336" y="1334"/>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3" name="矩形 42"/>
            <p:cNvSpPr/>
            <p:nvPr>
              <p:custDataLst>
                <p:tags r:id="rId12"/>
              </p:custDataLst>
            </p:nvPr>
          </p:nvSpPr>
          <p:spPr>
            <a:xfrm>
              <a:off x="17336" y="1729"/>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4" name="矩形 43"/>
            <p:cNvSpPr/>
            <p:nvPr>
              <p:custDataLst>
                <p:tags r:id="rId13"/>
              </p:custDataLst>
            </p:nvPr>
          </p:nvSpPr>
          <p:spPr>
            <a:xfrm>
              <a:off x="17448" y="1927"/>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grpSp>
      <p:sp>
        <p:nvSpPr>
          <p:cNvPr id="29" name="矩形 28"/>
          <p:cNvSpPr/>
          <p:nvPr>
            <p:custDataLst>
              <p:tags r:id="rId14"/>
            </p:custDataLst>
          </p:nvPr>
        </p:nvSpPr>
        <p:spPr>
          <a:xfrm>
            <a:off x="760730" y="5462270"/>
            <a:ext cx="187960" cy="4394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1" name="组合 30"/>
          <p:cNvGrpSpPr/>
          <p:nvPr/>
        </p:nvGrpSpPr>
        <p:grpSpPr>
          <a:xfrm rot="10800000">
            <a:off x="317818" y="6526530"/>
            <a:ext cx="11556365" cy="135890"/>
            <a:chOff x="625" y="278"/>
            <a:chExt cx="18199" cy="214"/>
          </a:xfrm>
        </p:grpSpPr>
        <p:sp>
          <p:nvSpPr>
            <p:cNvPr id="32" name="任意多边形: 形状 21"/>
            <p:cNvSpPr/>
            <p:nvPr>
              <p:custDataLst>
                <p:tags r:id="rId15"/>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34" name="直接连接符 33"/>
            <p:cNvCxnSpPr/>
            <p:nvPr>
              <p:custDataLst>
                <p:tags r:id="rId16"/>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17"/>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6" name="任意多边形: 形状 21"/>
          <p:cNvSpPr/>
          <p:nvPr>
            <p:custDataLst>
              <p:tags r:id="rId18"/>
            </p:custDataLst>
          </p:nvPr>
        </p:nvSpPr>
        <p:spPr>
          <a:xfrm rot="5400000" flipH="1" flipV="1">
            <a:off x="9685655"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55" name="半闭框 54"/>
          <p:cNvSpPr/>
          <p:nvPr/>
        </p:nvSpPr>
        <p:spPr>
          <a:xfrm rot="10800000" flipH="1" flipV="1">
            <a:off x="4577154" y="47769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7279714" y="509956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46" name="矩形 45"/>
          <p:cNvSpPr/>
          <p:nvPr>
            <p:custDataLst>
              <p:tags r:id="rId19"/>
            </p:custDataLst>
          </p:nvPr>
        </p:nvSpPr>
        <p:spPr>
          <a:xfrm>
            <a:off x="890905" y="5485765"/>
            <a:ext cx="187960" cy="19939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7" name="矩形 46"/>
          <p:cNvSpPr/>
          <p:nvPr>
            <p:custDataLst>
              <p:tags r:id="rId20"/>
            </p:custDataLst>
          </p:nvPr>
        </p:nvSpPr>
        <p:spPr>
          <a:xfrm>
            <a:off x="11586845" y="5439410"/>
            <a:ext cx="76200" cy="4394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8" name="矩形 47"/>
          <p:cNvSpPr/>
          <p:nvPr>
            <p:custDataLst>
              <p:tags r:id="rId21"/>
            </p:custDataLst>
          </p:nvPr>
        </p:nvSpPr>
        <p:spPr>
          <a:xfrm flipH="1">
            <a:off x="11461750" y="5718175"/>
            <a:ext cx="150495" cy="1606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9" name="矩形 48"/>
          <p:cNvSpPr/>
          <p:nvPr>
            <p:custDataLst>
              <p:tags r:id="rId22"/>
            </p:custDataLst>
          </p:nvPr>
        </p:nvSpPr>
        <p:spPr>
          <a:xfrm flipH="1">
            <a:off x="11430635" y="5520690"/>
            <a:ext cx="85725" cy="914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 name="Text Box 3"/>
          <p:cNvSpPr txBox="1"/>
          <p:nvPr/>
        </p:nvSpPr>
        <p:spPr>
          <a:xfrm>
            <a:off x="2094865" y="1900555"/>
            <a:ext cx="8368030" cy="583565"/>
          </a:xfrm>
          <a:prstGeom prst="rect">
            <a:avLst/>
          </a:prstGeom>
          <a:noFill/>
        </p:spPr>
        <p:txBody>
          <a:bodyPr wrap="square" rtlCol="0">
            <a:spAutoFit/>
          </a:bodyPr>
          <a:p>
            <a:pPr algn="ctr"/>
            <a:r>
              <a:rPr lang="en-US" sz="3200">
                <a:solidFill>
                  <a:schemeClr val="bg2"/>
                </a:solidFill>
              </a:rPr>
              <a:t>OS boot arxitechturasi va fayl sistemasi</a:t>
            </a:r>
            <a:endParaRPr lang="en-US" sz="3200">
              <a:solidFill>
                <a:schemeClr val="bg2"/>
              </a:solidFill>
            </a:endParaRPr>
          </a:p>
        </p:txBody>
      </p:sp>
    </p:spTree>
    <p:custDataLst>
      <p:tags r:id="rId2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46" name="图片 45" descr="VCG211280058674"/>
          <p:cNvPicPr>
            <a:picLocks noChangeAspect="1"/>
          </p:cNvPicPr>
          <p:nvPr/>
        </p:nvPicPr>
        <p:blipFill>
          <a:blip r:embed="rId1">
            <a:alphaModFix amt="10000"/>
          </a:blip>
          <a:stretch>
            <a:fillRect/>
          </a:stretch>
        </p:blipFill>
        <p:spPr>
          <a:xfrm rot="10800000">
            <a:off x="0" y="0"/>
            <a:ext cx="12192635" cy="6858000"/>
          </a:xfrm>
          <a:prstGeom prst="rect">
            <a:avLst/>
          </a:prstGeom>
        </p:spPr>
      </p:pic>
      <p:sp>
        <p:nvSpPr>
          <p:cNvPr id="3" name="任意多边形: 形状 14"/>
          <p:cNvSpPr/>
          <p:nvPr>
            <p:custDataLst>
              <p:tags r:id="rId2"/>
            </p:custDataLst>
          </p:nvPr>
        </p:nvSpPr>
        <p:spPr>
          <a:xfrm>
            <a:off x="2376796" y="1261981"/>
            <a:ext cx="7438409" cy="110315"/>
          </a:xfrm>
          <a:custGeom>
            <a:avLst/>
            <a:gdLst>
              <a:gd name="connsiteX0" fmla="*/ 0 w 10926501"/>
              <a:gd name="connsiteY0" fmla="*/ 0 h 162045"/>
              <a:gd name="connsiteX1" fmla="*/ 3761772 w 10926501"/>
              <a:gd name="connsiteY1" fmla="*/ 0 h 162045"/>
              <a:gd name="connsiteX2" fmla="*/ 3923817 w 10926501"/>
              <a:gd name="connsiteY2" fmla="*/ 162045 h 162045"/>
              <a:gd name="connsiteX3" fmla="*/ 6979534 w 10926501"/>
              <a:gd name="connsiteY3" fmla="*/ 162045 h 162045"/>
              <a:gd name="connsiteX4" fmla="*/ 7141579 w 10926501"/>
              <a:gd name="connsiteY4" fmla="*/ 0 h 162045"/>
              <a:gd name="connsiteX5" fmla="*/ 10926501 w 10926501"/>
              <a:gd name="connsiteY5" fmla="*/ 0 h 162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6501" h="162045">
                <a:moveTo>
                  <a:pt x="0" y="0"/>
                </a:moveTo>
                <a:lnTo>
                  <a:pt x="3761772" y="0"/>
                </a:lnTo>
                <a:lnTo>
                  <a:pt x="3923817" y="162045"/>
                </a:lnTo>
                <a:lnTo>
                  <a:pt x="6979534" y="162045"/>
                </a:lnTo>
                <a:lnTo>
                  <a:pt x="7141579" y="0"/>
                </a:lnTo>
                <a:lnTo>
                  <a:pt x="10926501" y="0"/>
                </a:lnTo>
              </a:path>
            </a:pathLst>
          </a:custGeom>
          <a:noFill/>
          <a:ln w="19050">
            <a:gradFill>
              <a:gsLst>
                <a:gs pos="0">
                  <a:schemeClr val="accent6">
                    <a:alpha val="0"/>
                  </a:schemeClr>
                </a:gs>
                <a:gs pos="50000">
                  <a:schemeClr val="accent6"/>
                </a:gs>
                <a:gs pos="100000">
                  <a:schemeClr val="accent6">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38" name="文本框 37"/>
          <p:cNvSpPr txBox="1"/>
          <p:nvPr>
            <p:custDataLst>
              <p:tags r:id="rId3"/>
            </p:custDataLst>
          </p:nvPr>
        </p:nvSpPr>
        <p:spPr>
          <a:xfrm>
            <a:off x="4150995" y="493395"/>
            <a:ext cx="3890010" cy="583565"/>
          </a:xfrm>
          <a:prstGeom prst="rect">
            <a:avLst/>
          </a:prstGeom>
          <a:noFill/>
        </p:spPr>
        <p:txBody>
          <a:bodyPr wrap="square" rtlCol="0">
            <a:spAutoFit/>
          </a:bodyPr>
          <a:p>
            <a:pPr algn="ctr">
              <a:buClrTx/>
              <a:buSzTx/>
              <a:buFontTx/>
            </a:pPr>
            <a:r>
              <a:rPr lang="en-US" altLang="zh-CN" sz="3200" i="1">
                <a:solidFill>
                  <a:schemeClr val="lt1"/>
                </a:solidFill>
                <a:latin typeface="Inter Black" panose="02000503000000020004" charset="0"/>
                <a:ea typeface="Inter Black" panose="02000503000000020004" charset="0"/>
                <a:cs typeface="Inter Black" panose="02000503000000020004" charset="0"/>
                <a:sym typeface="+mn-ea"/>
              </a:rPr>
              <a:t>BOOT o’zi nima?</a:t>
            </a:r>
            <a:endParaRPr lang="en-US" altLang="zh-CN" sz="3200" i="1">
              <a:solidFill>
                <a:schemeClr val="lt1"/>
              </a:solidFill>
              <a:latin typeface="Inter Black" panose="02000503000000020004" charset="0"/>
              <a:ea typeface="Inter Black" panose="02000503000000020004" charset="0"/>
              <a:cs typeface="Inter Black" panose="02000503000000020004" charset="0"/>
              <a:sym typeface="+mn-ea"/>
            </a:endParaRPr>
          </a:p>
        </p:txBody>
      </p:sp>
      <p:sp>
        <p:nvSpPr>
          <p:cNvPr id="2" name="Text Box 1"/>
          <p:cNvSpPr txBox="1"/>
          <p:nvPr/>
        </p:nvSpPr>
        <p:spPr>
          <a:xfrm>
            <a:off x="1045845" y="1660525"/>
            <a:ext cx="10322560" cy="1198880"/>
          </a:xfrm>
          <a:prstGeom prst="rect">
            <a:avLst/>
          </a:prstGeom>
          <a:noFill/>
        </p:spPr>
        <p:txBody>
          <a:bodyPr wrap="square" rtlCol="0">
            <a:spAutoFit/>
          </a:bodyPr>
          <a:p>
            <a:r>
              <a:rPr lang="en-US">
                <a:solidFill>
                  <a:schemeClr val="bg2"/>
                </a:solidFill>
              </a:rPr>
              <a:t>BOOT - (Build Own Operate Transfer) - Bu kompyuter ishga tushirish jarayonida Operatsion Sistemani (OS) ikkinchi darajali xotiradan (secondary storage) asosiy xotiraga (RAM) olib o’tish jarayoni. Sabab?! Operatsion sistema hardware va software dasturlari bilan ishlashi va ularni boshqarish uchun RAM xotirada xozir (present) bo’lishi kerak.</a:t>
            </a:r>
            <a:endParaRPr lang="en-US">
              <a:solidFill>
                <a:schemeClr val="bg2"/>
              </a:solidFill>
            </a:endParaRPr>
          </a:p>
        </p:txBody>
      </p:sp>
      <p:sp>
        <p:nvSpPr>
          <p:cNvPr id="4" name="Text Box 3"/>
          <p:cNvSpPr txBox="1"/>
          <p:nvPr/>
        </p:nvSpPr>
        <p:spPr>
          <a:xfrm>
            <a:off x="318135" y="3622675"/>
            <a:ext cx="11777345" cy="1076325"/>
          </a:xfrm>
          <a:prstGeom prst="rect">
            <a:avLst/>
          </a:prstGeom>
          <a:noFill/>
        </p:spPr>
        <p:txBody>
          <a:bodyPr wrap="square" rtlCol="0">
            <a:spAutoFit/>
          </a:bodyPr>
          <a:p>
            <a:r>
              <a:rPr lang="en-US" sz="1600">
                <a:solidFill>
                  <a:schemeClr val="bg2"/>
                </a:solidFill>
              </a:rPr>
              <a:t>1. Boot jarayoni kompyuter sistemasi quvvatga ulanganda boshlanadi</a:t>
            </a:r>
            <a:endParaRPr lang="en-US" sz="1600">
              <a:solidFill>
                <a:schemeClr val="bg2"/>
              </a:solidFill>
            </a:endParaRPr>
          </a:p>
          <a:p>
            <a:r>
              <a:rPr lang="en-US" sz="1600">
                <a:solidFill>
                  <a:schemeClr val="bg2"/>
                </a:solidFill>
              </a:rPr>
              <a:t>2. Bu jarayonda OS ikkinchi darajali xotiradan (HDD, SSD, nvmea, Sata) asosiy xotiraga (RAM) xotiraga yuklanadi</a:t>
            </a:r>
            <a:endParaRPr lang="en-US" sz="1600">
              <a:solidFill>
                <a:schemeClr val="bg2"/>
              </a:solidFill>
            </a:endParaRPr>
          </a:p>
          <a:p>
            <a:r>
              <a:rPr lang="en-US" sz="1600">
                <a:solidFill>
                  <a:schemeClr val="bg2"/>
                </a:solidFill>
              </a:rPr>
              <a:t>3. OS sistema funksiyalarni bajarishi va foydalanishga yaroqli bo’lishi uchun asosiy xotira (RAM) da bo’lishi kerak</a:t>
            </a:r>
            <a:endParaRPr lang="en-US" sz="1600">
              <a:solidFill>
                <a:schemeClr val="bg2"/>
              </a:solidFill>
            </a:endParaRPr>
          </a:p>
          <a:p>
            <a:r>
              <a:rPr lang="en-US" sz="1600">
                <a:solidFill>
                  <a:schemeClr val="bg2"/>
                </a:solidFill>
              </a:rPr>
              <a:t>4. Bu yuklash mexanizmi sistemani foydalanishga tayyorlidi qaysiki “booting process” deb ataladi.</a:t>
            </a:r>
            <a:endParaRPr lang="en-US" sz="1600">
              <a:solidFill>
                <a:schemeClr val="bg2"/>
              </a:solidFill>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5236210"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Firmware nima?</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094355" y="447040"/>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8729345" y="466090"/>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854075" y="932180"/>
            <a:ext cx="10482580" cy="1198880"/>
          </a:xfrm>
          <a:prstGeom prst="rect">
            <a:avLst/>
          </a:prstGeom>
          <a:noFill/>
        </p:spPr>
        <p:txBody>
          <a:bodyPr wrap="square" rtlCol="0">
            <a:spAutoFit/>
          </a:bodyPr>
          <a:p>
            <a:r>
              <a:rPr lang="en-US">
                <a:solidFill>
                  <a:schemeClr val="bg2"/>
                </a:solidFill>
              </a:rPr>
              <a:t>Firmware- Bu maxsus dastur bo’lib hardware qanday ishlashini boshqaradi va “software for hardware” nomi bilan ham mashxur. Firmware ROM yoki EPROM xotirada yozilgan dastur bo’ladi va u uchun kernel yoki operatsion sistema kerak emas. Ona plata chipda, TV pultida, printerlarda va boshqa qurilmalar ham firmware bilan ishlaydi.</a:t>
            </a:r>
            <a:endParaRPr lang="en-US">
              <a:solidFill>
                <a:schemeClr val="bg2"/>
              </a:solidFill>
            </a:endParaRPr>
          </a:p>
        </p:txBody>
      </p:sp>
      <p:sp>
        <p:nvSpPr>
          <p:cNvPr id="5" name="Text Box 4"/>
          <p:cNvSpPr txBox="1"/>
          <p:nvPr/>
        </p:nvSpPr>
        <p:spPr>
          <a:xfrm>
            <a:off x="854075" y="2993390"/>
            <a:ext cx="11113135" cy="1322070"/>
          </a:xfrm>
          <a:prstGeom prst="rect">
            <a:avLst/>
          </a:prstGeom>
          <a:noFill/>
        </p:spPr>
        <p:txBody>
          <a:bodyPr wrap="square" rtlCol="0">
            <a:spAutoFit/>
          </a:bodyPr>
          <a:p>
            <a:r>
              <a:rPr lang="en-US" sz="1600">
                <a:solidFill>
                  <a:schemeClr val="bg2"/>
                </a:solidFill>
              </a:rPr>
              <a:t>ROM - Rea-Only memory faqat bir marta yoziladi va qayta o’qish imkoniyati bo’ladi. Maqsad CPU, Qattiq disk kuyib ketgan taqdirda ham BIOS/UEFI himoya qilish uchun.</a:t>
            </a:r>
            <a:br>
              <a:rPr lang="en-US" sz="1600">
                <a:solidFill>
                  <a:schemeClr val="bg2"/>
                </a:solidFill>
              </a:rPr>
            </a:br>
            <a:br>
              <a:rPr lang="en-US" sz="1600">
                <a:solidFill>
                  <a:schemeClr val="bg2"/>
                </a:solidFill>
              </a:rPr>
            </a:br>
            <a:r>
              <a:rPr lang="en-US" sz="1600">
                <a:solidFill>
                  <a:schemeClr val="bg2"/>
                </a:solidFill>
              </a:rPr>
              <a:t>EPROM- Erasible Programmable Read-Only Memory buning ROM dan asosiy farqi qaytda dasturlasa ham bo’ladi zamonaviy kompyuterlarda UEFI yangilash uchun ishlatiladi.</a:t>
            </a:r>
            <a:endParaRPr lang="en-US" sz="1600">
              <a:solidFill>
                <a:schemeClr val="bg2"/>
              </a:solidFill>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889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BIOS</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4345305"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6969125"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911860" y="1332230"/>
            <a:ext cx="10668635" cy="922020"/>
          </a:xfrm>
          <a:prstGeom prst="rect">
            <a:avLst/>
          </a:prstGeom>
          <a:noFill/>
        </p:spPr>
        <p:txBody>
          <a:bodyPr wrap="square" rtlCol="0">
            <a:spAutoFit/>
          </a:bodyPr>
          <a:p>
            <a:r>
              <a:rPr lang="en-US">
                <a:solidFill>
                  <a:schemeClr val="bg2"/>
                </a:solidFill>
              </a:rPr>
              <a:t>BIOS - Basic Input/Output system, kompyuterni EPROM/ROM xotiraga ega ona plata chipida joylashgan kod hisoblanadi. Buning asosiy maqsadi boot jarayonida CMOS da joylashgan sozlamalarni tekshirib foydalanuvchi qanday sistemani ishga tushurishga qarab ishlaydi.</a:t>
            </a:r>
            <a:endParaRPr lang="en-US">
              <a:solidFill>
                <a:schemeClr val="bg2"/>
              </a:solidFill>
            </a:endParaRPr>
          </a:p>
        </p:txBody>
      </p:sp>
      <p:pic>
        <p:nvPicPr>
          <p:cNvPr id="5" name="Picture 4"/>
          <p:cNvPicPr/>
          <p:nvPr/>
        </p:nvPicPr>
        <p:blipFill>
          <a:blip r:embed="rId3"/>
          <a:stretch>
            <a:fillRect/>
          </a:stretch>
        </p:blipFill>
        <p:spPr>
          <a:xfrm>
            <a:off x="1003300" y="2439035"/>
            <a:ext cx="4524375" cy="3011170"/>
          </a:xfrm>
          <a:prstGeom prst="rect">
            <a:avLst/>
          </a:prstGeom>
        </p:spPr>
      </p:pic>
      <p:sp>
        <p:nvSpPr>
          <p:cNvPr id="6" name="Text Box 5"/>
          <p:cNvSpPr txBox="1"/>
          <p:nvPr/>
        </p:nvSpPr>
        <p:spPr>
          <a:xfrm>
            <a:off x="5779770" y="2513330"/>
            <a:ext cx="5845175" cy="1476375"/>
          </a:xfrm>
          <a:prstGeom prst="rect">
            <a:avLst/>
          </a:prstGeom>
          <a:noFill/>
        </p:spPr>
        <p:txBody>
          <a:bodyPr wrap="square" rtlCol="0">
            <a:spAutoFit/>
          </a:bodyPr>
          <a:p>
            <a:r>
              <a:rPr lang="en-US">
                <a:solidFill>
                  <a:schemeClr val="bg2"/>
                </a:solidFill>
              </a:rPr>
              <a:t>CMOS - bu Complementary Metal Oxide Semi-Conductor. CMOS o’zida biosga kerak bo’lgan muxim sozlamalar va malumotlarni saqlaydi. Masalan hardware vaqti, parol, boot navbati (boot order) va hardware sozlamalari.</a:t>
            </a:r>
            <a:endParaRPr lang="en-US">
              <a:solidFill>
                <a:schemeClr val="bg2"/>
              </a:solidFill>
            </a:endParaRPr>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UEFI</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474472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6647180" y="44767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18" name="Text Box 17"/>
          <p:cNvSpPr txBox="1"/>
          <p:nvPr/>
        </p:nvSpPr>
        <p:spPr>
          <a:xfrm>
            <a:off x="934085" y="1118870"/>
            <a:ext cx="10251440" cy="922020"/>
          </a:xfrm>
          <a:prstGeom prst="rect">
            <a:avLst/>
          </a:prstGeom>
          <a:noFill/>
        </p:spPr>
        <p:txBody>
          <a:bodyPr wrap="square" rtlCol="0">
            <a:spAutoFit/>
          </a:bodyPr>
          <a:p>
            <a:r>
              <a:rPr lang="en-US">
                <a:solidFill>
                  <a:schemeClr val="bg2"/>
                </a:solidFill>
              </a:rPr>
              <a:t>UEFI - Unified Extensible Firmware Interface. Bu BIOS o’rniga almashtirish uchun dasturlangan zamonaviy Firmware Interface. UEFI yaratilishni asosiy maqsadi BIOS ni limitlarni kengaytirish, boot vaqtni tezlashtirish va xavfsizlikni oshirish.</a:t>
            </a:r>
            <a:endParaRPr lang="en-US">
              <a:solidFill>
                <a:schemeClr val="bg2"/>
              </a:solidFill>
            </a:endParaRPr>
          </a:p>
        </p:txBody>
      </p:sp>
      <p:sp>
        <p:nvSpPr>
          <p:cNvPr id="26" name="Text Box 25"/>
          <p:cNvSpPr txBox="1"/>
          <p:nvPr/>
        </p:nvSpPr>
        <p:spPr>
          <a:xfrm>
            <a:off x="942975" y="2664460"/>
            <a:ext cx="10473690" cy="1198880"/>
          </a:xfrm>
          <a:prstGeom prst="rect">
            <a:avLst/>
          </a:prstGeom>
          <a:noFill/>
        </p:spPr>
        <p:txBody>
          <a:bodyPr wrap="square" rtlCol="0">
            <a:spAutoFit/>
          </a:bodyPr>
          <a:p>
            <a:r>
              <a:rPr lang="en-US">
                <a:solidFill>
                  <a:schemeClr val="bg2"/>
                </a:solidFill>
              </a:rPr>
              <a:t>Xavfsizlik tomondan asosiy farqi:</a:t>
            </a:r>
            <a:br>
              <a:rPr lang="en-US">
                <a:solidFill>
                  <a:schemeClr val="bg2"/>
                </a:solidFill>
              </a:rPr>
            </a:br>
            <a:r>
              <a:rPr lang="en-US">
                <a:solidFill>
                  <a:schemeClr val="bg2"/>
                </a:solidFill>
              </a:rPr>
              <a:t>BIOS- Tashqi ximoya mexanizmi mavjud emas</a:t>
            </a:r>
            <a:br>
              <a:rPr lang="en-US">
                <a:solidFill>
                  <a:schemeClr val="bg2"/>
                </a:solidFill>
              </a:rPr>
            </a:br>
            <a:r>
              <a:rPr lang="en-US">
                <a:solidFill>
                  <a:schemeClr val="bg2"/>
                </a:solidFill>
              </a:rPr>
              <a:t>UEFI- Secure boot himoya tizimi mavjud bo’lib tasdiqlanmagan firmware, software, OS, driverlarni o’rnatilish va faoliyatni taqiqlab qo’yadi.</a:t>
            </a:r>
            <a:endParaRPr lang="en-US">
              <a:solidFill>
                <a:schemeClr val="bg2"/>
              </a:solidFill>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5" name="图片 14" descr="VCG2112800586751"/>
          <p:cNvPicPr>
            <a:picLocks noChangeAspect="1"/>
          </p:cNvPicPr>
          <p:nvPr/>
        </p:nvPicPr>
        <p:blipFill>
          <a:blip r:embed="rId1">
            <a:alphaModFix amt="20000"/>
          </a:blip>
          <a:stretch>
            <a:fillRect/>
          </a:stretch>
        </p:blipFill>
        <p:spPr>
          <a:xfrm flipH="1">
            <a:off x="4445" y="0"/>
            <a:ext cx="12183110" cy="6858000"/>
          </a:xfrm>
          <a:prstGeom prst="rect">
            <a:avLst/>
          </a:prstGeom>
        </p:spPr>
      </p:pic>
      <p:sp>
        <p:nvSpPr>
          <p:cNvPr id="55" name="半闭框 54"/>
          <p:cNvSpPr/>
          <p:nvPr/>
        </p:nvSpPr>
        <p:spPr>
          <a:xfrm rot="10800000" flipH="1" flipV="1">
            <a:off x="411554" y="2811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11538024" y="627177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2" name="Text Box 1"/>
          <p:cNvSpPr txBox="1"/>
          <p:nvPr/>
        </p:nvSpPr>
        <p:spPr>
          <a:xfrm>
            <a:off x="3228340" y="550545"/>
            <a:ext cx="5365750" cy="460375"/>
          </a:xfrm>
          <a:prstGeom prst="rect">
            <a:avLst/>
          </a:prstGeom>
          <a:noFill/>
        </p:spPr>
        <p:txBody>
          <a:bodyPr wrap="square" rtlCol="0">
            <a:spAutoFit/>
          </a:bodyPr>
          <a:p>
            <a:pPr algn="ctr"/>
            <a:r>
              <a:rPr lang="en-US" sz="2400">
                <a:solidFill>
                  <a:schemeClr val="bg2"/>
                </a:solidFill>
              </a:rPr>
              <a:t>BIOS/ UEFI</a:t>
            </a:r>
            <a:endParaRPr lang="en-US" sz="2400">
              <a:solidFill>
                <a:schemeClr val="bg2"/>
              </a:solidFill>
            </a:endParaRPr>
          </a:p>
        </p:txBody>
      </p:sp>
      <p:graphicFrame>
        <p:nvGraphicFramePr>
          <p:cNvPr id="5" name="Table 4"/>
          <p:cNvGraphicFramePr/>
          <p:nvPr/>
        </p:nvGraphicFramePr>
        <p:xfrm>
          <a:off x="2608580" y="1312101"/>
          <a:ext cx="6667500" cy="0"/>
        </p:xfrm>
        <a:graphic>
          <a:graphicData uri="http://schemas.openxmlformats.org/drawingml/2006/table">
            <a:tbl>
              <a:tblPr/>
              <a:tblGrid>
                <a:gridCol w="2105660"/>
                <a:gridCol w="2105660"/>
                <a:gridCol w="2105660"/>
              </a:tblGrid>
              <a:tr h="382905">
                <a:tc>
                  <a:txBody>
                    <a:bodyPr/>
                    <a:p>
                      <a:pPr marL="0" indent="0" algn="ctr" fontAlgn="base">
                        <a:spcBef>
                          <a:spcPct val="0"/>
                        </a:spcBef>
                        <a:spcAft>
                          <a:spcPts val="700"/>
                        </a:spcAft>
                      </a:pPr>
                      <a:endParaRPr lang="en-US" altLang="zh-CN" sz="1300" b="1" i="0">
                        <a:solidFill>
                          <a:srgbClr val="273239"/>
                        </a:solidFill>
                        <a:ea typeface="Nunito"/>
                        <a:cs typeface="+mn-lt"/>
                      </a:endParaRPr>
                    </a:p>
                  </a:txBody>
                  <a:tcPr marL="38100" marR="38100" marT="95567" marB="95567">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solidFill>
                      <a:srgbClr val="F9F9F9"/>
                    </a:solidFill>
                  </a:tcPr>
                </a:tc>
                <a:tc>
                  <a:txBody>
                    <a:bodyPr/>
                    <a:p>
                      <a:pPr marL="0" indent="0" algn="ctr" fontAlgn="base">
                        <a:spcBef>
                          <a:spcPct val="0"/>
                        </a:spcBef>
                        <a:spcAft>
                          <a:spcPts val="700"/>
                        </a:spcAft>
                      </a:pPr>
                      <a:r>
                        <a:rPr lang="en-US" altLang="zh-CN" sz="1300" b="1" i="0">
                          <a:solidFill>
                            <a:srgbClr val="273239"/>
                          </a:solidFill>
                          <a:ea typeface="Nunito"/>
                          <a:cs typeface="+mn-lt"/>
                        </a:rPr>
                        <a:t>BIOS</a:t>
                      </a:r>
                      <a:endParaRPr lang="en-US" altLang="zh-CN" sz="1300" b="1" i="0">
                        <a:solidFill>
                          <a:srgbClr val="273239"/>
                        </a:solidFill>
                        <a:ea typeface="Nunito"/>
                        <a:cs typeface="+mn-lt"/>
                      </a:endParaRPr>
                    </a:p>
                  </a:txBody>
                  <a:tcPr marL="95567" marR="95567" marT="95567" marB="95567">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solidFill>
                      <a:srgbClr val="F9F9F9"/>
                    </a:solidFill>
                  </a:tcPr>
                </a:tc>
                <a:tc>
                  <a:txBody>
                    <a:bodyPr/>
                    <a:p>
                      <a:pPr marL="0" indent="0" algn="ctr" fontAlgn="base">
                        <a:spcBef>
                          <a:spcPct val="0"/>
                        </a:spcBef>
                        <a:spcAft>
                          <a:spcPts val="700"/>
                        </a:spcAft>
                      </a:pPr>
                      <a:r>
                        <a:rPr lang="en-US" altLang="zh-CN" sz="1300" b="1" i="0">
                          <a:solidFill>
                            <a:srgbClr val="273239"/>
                          </a:solidFill>
                          <a:ea typeface="Nunito"/>
                          <a:cs typeface="+mn-lt"/>
                        </a:rPr>
                        <a:t>UEFI</a:t>
                      </a:r>
                      <a:endParaRPr lang="en-US" altLang="zh-CN" sz="1300" b="1" i="0">
                        <a:solidFill>
                          <a:srgbClr val="273239"/>
                        </a:solidFill>
                        <a:ea typeface="Nunito"/>
                        <a:cs typeface="+mn-lt"/>
                      </a:endParaRPr>
                    </a:p>
                  </a:txBody>
                  <a:tcPr marL="95567" marR="95567" marT="95567" marB="95567">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solidFill>
                      <a:srgbClr val="F9F9F9"/>
                    </a:solidFill>
                  </a:tcPr>
                </a:tc>
              </a:tr>
              <a:tr h="440055">
                <a:tc>
                  <a:txBody>
                    <a:bodyPr/>
                    <a:p>
                      <a:pPr marL="0" indent="0" algn="ctr" fontAlgn="base">
                        <a:spcBef>
                          <a:spcPct val="0"/>
                        </a:spcBef>
                        <a:spcAft>
                          <a:spcPct val="0"/>
                        </a:spcAft>
                      </a:pPr>
                      <a:r>
                        <a:rPr lang="en-US" altLang="zh-CN" sz="1200" b="0" i="0">
                          <a:solidFill>
                            <a:schemeClr val="bg2"/>
                          </a:solidFill>
                          <a:ea typeface="Nunito"/>
                          <a:cs typeface="+mn-lt"/>
                        </a:rPr>
                        <a:t>Dasturlangan vaqti</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1981</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2002</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r>
              <a:tr h="628015">
                <a:tc>
                  <a:txBody>
                    <a:bodyPr/>
                    <a:p>
                      <a:pPr marL="0" indent="0" algn="ctr" fontAlgn="base">
                        <a:spcBef>
                          <a:spcPct val="0"/>
                        </a:spcBef>
                        <a:spcAft>
                          <a:spcPct val="0"/>
                        </a:spcAft>
                      </a:pPr>
                      <a:r>
                        <a:rPr lang="en-US" altLang="zh-CN" sz="1200" b="0" i="0">
                          <a:solidFill>
                            <a:schemeClr val="bg2"/>
                          </a:solidFill>
                          <a:ea typeface="Nunito"/>
                          <a:cs typeface="+mn-lt"/>
                        </a:rPr>
                        <a:t>User Interface</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Oddiy UI faqat klavitura orqali</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Foydalanishga qulay bo’lgan GUI va sichqoncha qo’llab quvatlaydi</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r>
              <a:tr h="440690">
                <a:tc>
                  <a:txBody>
                    <a:bodyPr/>
                    <a:p>
                      <a:pPr marL="0" indent="0" algn="ctr" fontAlgn="base">
                        <a:spcBef>
                          <a:spcPct val="0"/>
                        </a:spcBef>
                        <a:spcAft>
                          <a:spcPct val="0"/>
                        </a:spcAft>
                      </a:pPr>
                      <a:r>
                        <a:rPr lang="en-US" altLang="zh-CN" sz="1200" b="0" i="0">
                          <a:solidFill>
                            <a:schemeClr val="bg2"/>
                          </a:solidFill>
                          <a:ea typeface="Nunito"/>
                          <a:cs typeface="+mn-lt"/>
                        </a:rPr>
                        <a:t>Operating Mode</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16-bit</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32-bit/64-bit.</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r>
              <a:tr h="815340">
                <a:tc>
                  <a:txBody>
                    <a:bodyPr/>
                    <a:p>
                      <a:pPr marL="0" indent="0" algn="ctr" fontAlgn="base">
                        <a:spcBef>
                          <a:spcPct val="0"/>
                        </a:spcBef>
                        <a:spcAft>
                          <a:spcPct val="0"/>
                        </a:spcAft>
                      </a:pPr>
                      <a:r>
                        <a:rPr lang="en-US" altLang="zh-CN" sz="1200" b="0" i="0">
                          <a:solidFill>
                            <a:schemeClr val="bg2"/>
                          </a:solidFill>
                          <a:ea typeface="Nunito"/>
                          <a:cs typeface="+mn-lt"/>
                        </a:rPr>
                        <a:t>Partition Support</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2 TB gacha va 4 ta jismony qismlargacha</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18 exabytgacha va 128 ta jismony qismlargacha</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r>
              <a:tr h="1003300">
                <a:tc>
                  <a:txBody>
                    <a:bodyPr/>
                    <a:p>
                      <a:pPr marL="0" indent="0" algn="ctr" fontAlgn="base">
                        <a:spcBef>
                          <a:spcPct val="0"/>
                        </a:spcBef>
                        <a:spcAft>
                          <a:spcPct val="0"/>
                        </a:spcAft>
                      </a:pPr>
                      <a:r>
                        <a:rPr lang="en-US" altLang="zh-CN" sz="1200" b="0" i="0">
                          <a:solidFill>
                            <a:schemeClr val="bg2"/>
                          </a:solidFill>
                          <a:ea typeface="Nunito"/>
                          <a:cs typeface="+mn-lt"/>
                        </a:rPr>
                        <a:t>Security</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Kengaytirilgan xavfsizlik tizimiga ega emas.</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Secure bootni qo’llab quvatlaydi.</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r>
              <a:tr h="815975">
                <a:tc>
                  <a:txBody>
                    <a:bodyPr/>
                    <a:p>
                      <a:pPr marL="0" indent="0" algn="ctr" fontAlgn="base">
                        <a:spcBef>
                          <a:spcPct val="0"/>
                        </a:spcBef>
                        <a:spcAft>
                          <a:spcPct val="0"/>
                        </a:spcAft>
                      </a:pPr>
                      <a:r>
                        <a:rPr lang="en-US" altLang="zh-CN" sz="1200" b="0" i="0">
                          <a:solidFill>
                            <a:schemeClr val="bg2"/>
                          </a:solidFill>
                          <a:ea typeface="Nunito"/>
                          <a:cs typeface="+mn-lt"/>
                        </a:rPr>
                        <a:t>Performance</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Nisbatab sekin va hardware boshqarish imkoniyati cheklangan</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c>
                  <a:txBody>
                    <a:bodyPr/>
                    <a:p>
                      <a:pPr marL="0" indent="0" algn="ctr" fontAlgn="base">
                        <a:spcBef>
                          <a:spcPct val="0"/>
                        </a:spcBef>
                        <a:spcAft>
                          <a:spcPts val="700"/>
                        </a:spcAft>
                      </a:pPr>
                      <a:r>
                        <a:rPr lang="en-US" altLang="zh-CN" sz="1200" b="0" i="0">
                          <a:solidFill>
                            <a:schemeClr val="bg2"/>
                          </a:solidFill>
                          <a:ea typeface="Nunito"/>
                          <a:cs typeface="+mn-lt"/>
                        </a:rPr>
                        <a:t>Tezroq boot vati, ramdan coolergacha qo’llab quvatlaydi.</a:t>
                      </a:r>
                      <a:endParaRPr lang="en-US" altLang="zh-CN" sz="1200" b="0" i="0">
                        <a:solidFill>
                          <a:schemeClr val="bg2"/>
                        </a:solidFill>
                        <a:ea typeface="Nunito"/>
                        <a:cs typeface="+mn-lt"/>
                      </a:endParaRPr>
                    </a:p>
                  </a:txBody>
                  <a:tcPr marL="95567" marR="95567" marT="133667" marB="133667" anchor="ctr" anchorCtr="0">
                    <a:lnL w="3175" cap="flat" cmpd="sng">
                      <a:solidFill>
                        <a:srgbClr val="DFDFDF"/>
                      </a:solidFill>
                      <a:prstDash val="solid"/>
                      <a:headEnd type="none" w="med" len="med"/>
                      <a:tailEnd type="none" w="med" len="med"/>
                    </a:lnL>
                    <a:lnR w="3175" cap="flat" cmpd="sng">
                      <a:solidFill>
                        <a:srgbClr val="DFDFDF"/>
                      </a:solidFill>
                      <a:prstDash val="solid"/>
                      <a:headEnd type="none" w="med" len="med"/>
                      <a:tailEnd type="none" w="med" len="med"/>
                    </a:lnR>
                    <a:lnT w="3175" cap="flat" cmpd="sng">
                      <a:solidFill>
                        <a:srgbClr val="DFDFDF"/>
                      </a:solidFill>
                      <a:prstDash val="solid"/>
                      <a:headEnd type="none" w="med" len="med"/>
                      <a:tailEnd type="none" w="med" len="med"/>
                    </a:lnT>
                    <a:lnB w="3175" cap="flat" cmpd="sng">
                      <a:solidFill>
                        <a:srgbClr val="DFDFDF"/>
                      </a:solidFill>
                      <a:prstDash val="solid"/>
                      <a:headEnd type="none" w="med" len="med"/>
                      <a:tailEnd type="none" w="med" len="med"/>
                    </a:lnB>
                    <a:noFill/>
                  </a:tcPr>
                </a:tc>
              </a:tr>
            </a:tbl>
          </a:graphicData>
        </a:graphic>
      </p:graphicFrame>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108585"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Partition nima?</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923665"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296785"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pic>
        <p:nvPicPr>
          <p:cNvPr id="29" name="Picture 28"/>
          <p:cNvPicPr/>
          <p:nvPr/>
        </p:nvPicPr>
        <p:blipFill>
          <a:blip r:embed="rId3"/>
          <a:stretch>
            <a:fillRect/>
          </a:stretch>
        </p:blipFill>
        <p:spPr>
          <a:xfrm>
            <a:off x="661035" y="1141095"/>
            <a:ext cx="3950970" cy="4425950"/>
          </a:xfrm>
          <a:prstGeom prst="rect">
            <a:avLst/>
          </a:prstGeom>
        </p:spPr>
      </p:pic>
      <p:sp>
        <p:nvSpPr>
          <p:cNvPr id="30" name="Text Box 29"/>
          <p:cNvSpPr txBox="1"/>
          <p:nvPr/>
        </p:nvSpPr>
        <p:spPr>
          <a:xfrm>
            <a:off x="5000625" y="1092200"/>
            <a:ext cx="6270625" cy="2030095"/>
          </a:xfrm>
          <a:prstGeom prst="rect">
            <a:avLst/>
          </a:prstGeom>
          <a:noFill/>
        </p:spPr>
        <p:txBody>
          <a:bodyPr wrap="square" rtlCol="0">
            <a:spAutoFit/>
          </a:bodyPr>
          <a:p>
            <a:r>
              <a:rPr lang="en-US">
                <a:solidFill>
                  <a:schemeClr val="bg2"/>
                </a:solidFill>
              </a:rPr>
              <a:t>Partition - bu qismlash degan manoni bildiradi. Asosiy maqsad hard diskni bir nechta virutal qismlarga bo’linadi. O’zini aloxida file sistemasi va cheklangan xotirasi bo’ladi.</a:t>
            </a:r>
            <a:br>
              <a:rPr lang="en-US">
                <a:solidFill>
                  <a:schemeClr val="bg2"/>
                </a:solidFill>
              </a:rPr>
            </a:br>
            <a:br>
              <a:rPr lang="en-US">
                <a:solidFill>
                  <a:schemeClr val="bg2"/>
                </a:solidFill>
              </a:rPr>
            </a:br>
            <a:r>
              <a:rPr lang="en-US">
                <a:solidFill>
                  <a:schemeClr val="bg2"/>
                </a:solidFill>
              </a:rPr>
              <a:t>Volume element - bu qiymati OS partitioni format qiladi (NTFS, FAT32, ext4 va h.z) va qiymat belgilaydi C, D.</a:t>
            </a:r>
            <a:endParaRPr lang="en-US">
              <a:solidFill>
                <a:schemeClr val="bg2"/>
              </a:solidFill>
            </a:endParaRPr>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889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05225" y="332740"/>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MBR</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4676775" y="485140"/>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6527800" y="48450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7" name="Text Box 6"/>
          <p:cNvSpPr txBox="1"/>
          <p:nvPr/>
        </p:nvSpPr>
        <p:spPr>
          <a:xfrm>
            <a:off x="645160" y="1065530"/>
            <a:ext cx="10731500" cy="1753235"/>
          </a:xfrm>
          <a:prstGeom prst="rect">
            <a:avLst/>
          </a:prstGeom>
          <a:noFill/>
        </p:spPr>
        <p:txBody>
          <a:bodyPr wrap="square" rtlCol="0">
            <a:spAutoFit/>
          </a:bodyPr>
          <a:p>
            <a:r>
              <a:rPr lang="en-US">
                <a:solidFill>
                  <a:schemeClr val="bg2"/>
                </a:solidFill>
              </a:rPr>
              <a:t>MBR - Master Boot Record - hard diskni(nvmea, ssd, sata, hdd) birinchi sectorida joylashgan bootloader kodga ega bo’ladi. Kompyuter quvvatga ulanib ishga tushgan vaqtda BIOS hard diskni birinchi sectorda joylashgan qayski MBR bootloader borligini tekshiradi. Keyin esa bootloader OS asosiy xotiraga yuklash jarayoni boshlanadi. Oxirgi zamonaviy kompyuterlarda GPT (GUID Partition Table) dan foydalaniladi sababi MBR faqatgina 2 TB gacha  bo’lgan disklar bilan ishlay oladi, GPT esa 2 TB ortiq hajmga ega bo’lgan disklar bilan ishlay oladi.</a:t>
            </a:r>
            <a:endParaRPr lang="en-US">
              <a:solidFill>
                <a:schemeClr val="bg2"/>
              </a:solidFill>
            </a:endParaRPr>
          </a:p>
        </p:txBody>
      </p:sp>
      <p:pic>
        <p:nvPicPr>
          <p:cNvPr id="16" name="Picture 15"/>
          <p:cNvPicPr/>
          <p:nvPr/>
        </p:nvPicPr>
        <p:blipFill>
          <a:blip r:embed="rId3"/>
          <a:stretch>
            <a:fillRect/>
          </a:stretch>
        </p:blipFill>
        <p:spPr>
          <a:xfrm>
            <a:off x="2315845" y="2925445"/>
            <a:ext cx="5901055" cy="3197860"/>
          </a:xfrm>
          <a:prstGeom prst="rect">
            <a:avLst/>
          </a:prstGeom>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MBR qismlari !</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4036695"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278370" y="447040"/>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5" name="Text Box 4"/>
          <p:cNvSpPr txBox="1"/>
          <p:nvPr/>
        </p:nvSpPr>
        <p:spPr>
          <a:xfrm>
            <a:off x="765175" y="1172210"/>
            <a:ext cx="10287000" cy="2584450"/>
          </a:xfrm>
          <a:prstGeom prst="rect">
            <a:avLst/>
          </a:prstGeom>
          <a:noFill/>
        </p:spPr>
        <p:txBody>
          <a:bodyPr wrap="square" rtlCol="0">
            <a:spAutoFit/>
          </a:bodyPr>
          <a:p>
            <a:r>
              <a:rPr lang="en-US">
                <a:solidFill>
                  <a:schemeClr val="bg2"/>
                </a:solidFill>
              </a:rPr>
              <a:t>MBR - Asosan 3 qismga bo’linadi.</a:t>
            </a:r>
            <a:br>
              <a:rPr lang="en-US">
                <a:solidFill>
                  <a:schemeClr val="bg2"/>
                </a:solidFill>
              </a:rPr>
            </a:br>
            <a:br>
              <a:rPr lang="en-US">
                <a:solidFill>
                  <a:schemeClr val="bg2"/>
                </a:solidFill>
              </a:rPr>
            </a:br>
            <a:r>
              <a:rPr lang="en-US">
                <a:solidFill>
                  <a:schemeClr val="bg2"/>
                </a:solidFill>
              </a:rPr>
              <a:t>1. Master Boot Routine- 446 byte hajmga ega OS yuklash uchun variable codeni o’z ichiga oladi. MBR boshqaruvni OS ga hard drive faol bo’lishi bilan o’tkazadi</a:t>
            </a:r>
            <a:br>
              <a:rPr lang="en-US">
                <a:solidFill>
                  <a:schemeClr val="bg2"/>
                </a:solidFill>
              </a:rPr>
            </a:br>
            <a:r>
              <a:rPr lang="en-US">
                <a:solidFill>
                  <a:schemeClr val="bg2"/>
                </a:solidFill>
              </a:rPr>
              <a:t>2. Disk Partition Table - DPT Bu diskni partitioni haqida ma’lumotlani o’z ichiga oladi. DPT 64 byte bo’ladi. Kengaytirilgan partitiondan ham foydalansa bo’ladi 4 ta maksimum har biri 16 bytedan bo’ladi</a:t>
            </a:r>
            <a:br>
              <a:rPr lang="en-US">
                <a:solidFill>
                  <a:schemeClr val="bg2"/>
                </a:solidFill>
              </a:rPr>
            </a:br>
            <a:r>
              <a:rPr lang="en-US">
                <a:solidFill>
                  <a:schemeClr val="bg2"/>
                </a:solidFill>
              </a:rPr>
              <a:t>3. Identification Code- Aniqlovchi raqam. Master Boot Recordni aniqlovchi raqami bo’ladi. Buni qiymati 55AAH yoki AA55H bo’ladi hajmi 2 byte bo’ladi.</a:t>
            </a:r>
            <a:endParaRPr lang="en-US">
              <a:solidFill>
                <a:schemeClr val="bg2"/>
              </a:solidFill>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32740"/>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MBR Qulayliklari</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910965"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390765" y="48450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5" name="Text Box 4"/>
          <p:cNvSpPr txBox="1"/>
          <p:nvPr/>
        </p:nvSpPr>
        <p:spPr>
          <a:xfrm>
            <a:off x="756285" y="1225550"/>
            <a:ext cx="10304780" cy="2030095"/>
          </a:xfrm>
          <a:prstGeom prst="rect">
            <a:avLst/>
          </a:prstGeom>
          <a:noFill/>
        </p:spPr>
        <p:txBody>
          <a:bodyPr wrap="square" rtlCol="0">
            <a:spAutoFit/>
          </a:bodyPr>
          <a:p>
            <a:r>
              <a:rPr lang="en-US">
                <a:solidFill>
                  <a:schemeClr val="bg2"/>
                </a:solidFill>
              </a:rPr>
              <a:t>1. BOOT Yuklash qobilyati / (Boot Loading Capability) - MBR bootloader mavjud bu OS asosiy xotiraga olib o’tadi / yuklash jarayoni booting process deb ataladi.</a:t>
            </a:r>
            <a:endParaRPr lang="en-US">
              <a:solidFill>
                <a:schemeClr val="bg2"/>
              </a:solidFill>
            </a:endParaRPr>
          </a:p>
          <a:p>
            <a:r>
              <a:rPr lang="en-US">
                <a:solidFill>
                  <a:schemeClr val="bg2"/>
                </a:solidFill>
              </a:rPr>
              <a:t>2. Foydalanishga qulay- Foydalanuvchilar MBR orqali disk qismlarini (partition) boshqarishi mumkin.</a:t>
            </a:r>
            <a:br>
              <a:rPr lang="en-US">
                <a:solidFill>
                  <a:schemeClr val="bg2"/>
                </a:solidFill>
              </a:rPr>
            </a:br>
            <a:r>
              <a:rPr lang="en-US">
                <a:solidFill>
                  <a:schemeClr val="bg2"/>
                </a:solidFill>
              </a:rPr>
              <a:t>3. Disk aniqlash - MBR disc signature (belgi) foydalanadi diskni aniqlash uchun</a:t>
            </a:r>
            <a:endParaRPr lang="en-US">
              <a:solidFill>
                <a:schemeClr val="bg2"/>
              </a:solidFill>
            </a:endParaRPr>
          </a:p>
          <a:p>
            <a:r>
              <a:rPr lang="en-US">
                <a:solidFill>
                  <a:schemeClr val="bg2"/>
                </a:solidFill>
              </a:rPr>
              <a:t>4. Mosligi - Master Boot Recordan windows, linux, macos yoki boshqa Operatsion Sistemalari ham foydalanishi mumkin.  </a:t>
            </a:r>
            <a:endParaRPr lang="en-US">
              <a:solidFill>
                <a:schemeClr val="bg2"/>
              </a:solidFill>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MBR va GPT farqlari</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5" name="Text Box 4"/>
          <p:cNvSpPr txBox="1"/>
          <p:nvPr/>
        </p:nvSpPr>
        <p:spPr>
          <a:xfrm>
            <a:off x="658495" y="1154430"/>
            <a:ext cx="10767060" cy="1198880"/>
          </a:xfrm>
          <a:prstGeom prst="rect">
            <a:avLst/>
          </a:prstGeom>
          <a:noFill/>
        </p:spPr>
        <p:txBody>
          <a:bodyPr wrap="square" rtlCol="0">
            <a:spAutoFit/>
          </a:bodyPr>
          <a:p>
            <a:r>
              <a:rPr lang="en-US">
                <a:solidFill>
                  <a:schemeClr val="bg2"/>
                </a:solidFill>
              </a:rPr>
              <a:t>Disk qismlari haqida umumiy malumotlarni jamlash uchun ishlatiladgan tabel GUID Partition Table deb ataladi. Asosiy farqi xotira hajmida. Zamonaviy kompyuterlarda GPT Master Boot Recordni alternatve sifatida foydalaniladi. MBR nisbatan GPT 128 ta disk qismlarni 9.44 million TB Hard Drive hajmini qo’llab quvatlaydi. GPT hozirda UEFI bilan ishlaydi.</a:t>
            </a:r>
            <a:endParaRPr lang="en-US">
              <a:solidFill>
                <a:schemeClr val="bg2"/>
              </a:solidFill>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80010" y="-61595"/>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File System </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4227830" y="466090"/>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069455" y="466090"/>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43" name="Text Box 42"/>
          <p:cNvSpPr txBox="1"/>
          <p:nvPr/>
        </p:nvSpPr>
        <p:spPr>
          <a:xfrm>
            <a:off x="680720" y="1146175"/>
            <a:ext cx="10375900" cy="1753235"/>
          </a:xfrm>
          <a:prstGeom prst="rect">
            <a:avLst/>
          </a:prstGeom>
          <a:noFill/>
        </p:spPr>
        <p:txBody>
          <a:bodyPr wrap="square" rtlCol="0">
            <a:spAutoFit/>
          </a:bodyPr>
          <a:p>
            <a:r>
              <a:rPr lang="en-US">
                <a:solidFill>
                  <a:schemeClr val="bg2"/>
                </a:solidFill>
              </a:rPr>
              <a:t>File system - bu OS diskdan qanday foydalanish va qanday operatsialarni amalga oshirishga kerak bo’ladigan ko’rsatma va hard diskni fundamental asosi. File sistemasiz hard diskdan foydalanib bo’lmaydi OS aniqlay ham olmaydi xech qanday file o’tkazib ham bo’lmiydi. File sistema turlari disk tezligi, hajmi, file ruxsatlari va ularni ishlashiga tasir qiladi.</a:t>
            </a:r>
            <a:endParaRPr lang="en-US">
              <a:solidFill>
                <a:schemeClr val="bg2"/>
              </a:solidFill>
            </a:endParaRPr>
          </a:p>
          <a:p>
            <a:endParaRPr lang="en-US">
              <a:solidFill>
                <a:schemeClr val="bg2"/>
              </a:solidFill>
            </a:endParaRPr>
          </a:p>
          <a:p>
            <a:endParaRPr lang="en-US">
              <a:solidFill>
                <a:schemeClr val="bg2"/>
              </a:solidFill>
            </a:endParaRPr>
          </a:p>
        </p:txBody>
      </p:sp>
      <p:pic>
        <p:nvPicPr>
          <p:cNvPr id="44" name="Picture 43"/>
          <p:cNvPicPr/>
          <p:nvPr/>
        </p:nvPicPr>
        <p:blipFill>
          <a:blip r:embed="rId3"/>
          <a:stretch>
            <a:fillRect/>
          </a:stretch>
        </p:blipFill>
        <p:spPr>
          <a:xfrm>
            <a:off x="621665" y="2625090"/>
            <a:ext cx="4637405" cy="3669665"/>
          </a:xfrm>
          <a:prstGeom prst="rect">
            <a:avLst/>
          </a:prstGeom>
        </p:spPr>
      </p:pic>
      <p:sp>
        <p:nvSpPr>
          <p:cNvPr id="45" name="Text Box 44"/>
          <p:cNvSpPr txBox="1"/>
          <p:nvPr/>
        </p:nvSpPr>
        <p:spPr>
          <a:xfrm>
            <a:off x="5628640" y="3002280"/>
            <a:ext cx="5774690" cy="1753235"/>
          </a:xfrm>
          <a:prstGeom prst="rect">
            <a:avLst/>
          </a:prstGeom>
          <a:noFill/>
        </p:spPr>
        <p:txBody>
          <a:bodyPr wrap="square" rtlCol="0">
            <a:spAutoFit/>
          </a:bodyPr>
          <a:p>
            <a:r>
              <a:rPr lang="en-US">
                <a:solidFill>
                  <a:schemeClr val="bg2"/>
                </a:solidFill>
                <a:sym typeface="+mn-ea"/>
              </a:rPr>
              <a:t>File sistema o’rnatilmaydi, software emas, sotib olingan diskda quruq/xom “raw” xolatida bo’ladi, Operatsion Sistema o’rnatilishdan oldin format qilinadi file sistema uchun. Windows hozirda asosan NTFS linux esa ext4 dan foydalanadi. </a:t>
            </a:r>
            <a:endParaRPr lang="en-US">
              <a:solidFill>
                <a:schemeClr val="bg2"/>
              </a:solidFill>
            </a:endParaRPr>
          </a:p>
          <a:p>
            <a:endParaRPr lang="en-US"/>
          </a:p>
        </p:txBody>
      </p:sp>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File System Turlari</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676015" y="48450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61619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pic>
        <p:nvPicPr>
          <p:cNvPr id="23" name="Picture 22"/>
          <p:cNvPicPr/>
          <p:nvPr/>
        </p:nvPicPr>
        <p:blipFill>
          <a:blip r:embed="rId3"/>
          <a:stretch>
            <a:fillRect/>
          </a:stretch>
        </p:blipFill>
        <p:spPr>
          <a:xfrm>
            <a:off x="527685" y="1062355"/>
            <a:ext cx="5399405" cy="4263390"/>
          </a:xfrm>
          <a:prstGeom prst="rect">
            <a:avLst/>
          </a:prstGeom>
        </p:spPr>
      </p:pic>
      <p:sp>
        <p:nvSpPr>
          <p:cNvPr id="24" name="Text Box 23"/>
          <p:cNvSpPr txBox="1"/>
          <p:nvPr/>
        </p:nvSpPr>
        <p:spPr>
          <a:xfrm>
            <a:off x="6050915" y="1038860"/>
            <a:ext cx="6014085" cy="2306955"/>
          </a:xfrm>
          <a:prstGeom prst="rect">
            <a:avLst/>
          </a:prstGeom>
          <a:noFill/>
        </p:spPr>
        <p:txBody>
          <a:bodyPr wrap="square" rtlCol="0">
            <a:spAutoFit/>
          </a:bodyPr>
          <a:p>
            <a:r>
              <a:rPr lang="en-US">
                <a:solidFill>
                  <a:schemeClr val="bg2"/>
                </a:solidFill>
              </a:rPr>
              <a:t>FAT - File Allocation Table deb ataladi buning sababi fayl va folderlarni tabel orqali ajratish (allocation) yo’li bilan boshqaradi. Asosiy maqsad kichik hajmdagi faylarni ishlatish uchun tayorlangan. FAT32 har bitta faylni maksimum hajmi 4 GB diskni umumiy qismdagi hajmi 8 TB gacha qo’llab quvatlagan. FAT32 eski windows versialarida va telefon fleshkalarida (Micro SD) ishlatilgan.</a:t>
            </a:r>
            <a:endParaRPr lang="en-US">
              <a:solidFill>
                <a:schemeClr val="bg2"/>
              </a:solidFill>
            </a:endParaRPr>
          </a:p>
        </p:txBody>
      </p:sp>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39" name="任意多边形: 形状 138"/>
          <p:cNvSpPr/>
          <p:nvPr>
            <p:custDataLst>
              <p:tags r:id="rId1"/>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NTFS</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474218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6616065"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pic>
        <p:nvPicPr>
          <p:cNvPr id="18" name="Picture 17"/>
          <p:cNvPicPr/>
          <p:nvPr/>
        </p:nvPicPr>
        <p:blipFill>
          <a:blip r:embed="rId2"/>
          <a:stretch>
            <a:fillRect/>
          </a:stretch>
        </p:blipFill>
        <p:spPr>
          <a:xfrm>
            <a:off x="539750" y="1136015"/>
            <a:ext cx="5946140" cy="4098925"/>
          </a:xfrm>
          <a:prstGeom prst="rect">
            <a:avLst/>
          </a:prstGeom>
        </p:spPr>
      </p:pic>
      <p:sp>
        <p:nvSpPr>
          <p:cNvPr id="21" name="Text Box 20"/>
          <p:cNvSpPr txBox="1"/>
          <p:nvPr/>
        </p:nvSpPr>
        <p:spPr>
          <a:xfrm>
            <a:off x="6637655" y="1145540"/>
            <a:ext cx="4566285" cy="2030095"/>
          </a:xfrm>
          <a:prstGeom prst="rect">
            <a:avLst/>
          </a:prstGeom>
          <a:noFill/>
        </p:spPr>
        <p:txBody>
          <a:bodyPr wrap="square" rtlCol="0">
            <a:spAutoFit/>
          </a:bodyPr>
          <a:p>
            <a:r>
              <a:rPr lang="en-US">
                <a:solidFill>
                  <a:schemeClr val="bg2"/>
                </a:solidFill>
              </a:rPr>
              <a:t>NTFS - New Technology File System</a:t>
            </a:r>
            <a:br>
              <a:rPr lang="en-US">
                <a:solidFill>
                  <a:schemeClr val="bg2"/>
                </a:solidFill>
              </a:rPr>
            </a:br>
            <a:r>
              <a:rPr lang="en-US">
                <a:solidFill>
                  <a:schemeClr val="bg2"/>
                </a:solidFill>
              </a:rPr>
              <a:t>Buni birinchi versiyasi 1993 yilda chiqgan xozirda windows to’liq NTFS file sistemalaridan foydalanadi. Bu file sistemadia file, disk hajmini, partition limiti yo’q nazariy tarafdan 16 EiB gacha qo’llab quvatlaydi.</a:t>
            </a:r>
            <a:endParaRPr lang="en-US">
              <a:solidFill>
                <a:schemeClr val="bg2"/>
              </a:solidFill>
            </a:endParaRP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5" name="图片 14" descr="VCG2112800586751"/>
          <p:cNvPicPr>
            <a:picLocks noChangeAspect="1"/>
          </p:cNvPicPr>
          <p:nvPr/>
        </p:nvPicPr>
        <p:blipFill>
          <a:blip r:embed="rId1">
            <a:alphaModFix amt="20000"/>
          </a:blip>
          <a:stretch>
            <a:fillRect/>
          </a:stretch>
        </p:blipFill>
        <p:spPr>
          <a:xfrm flipH="1">
            <a:off x="4445" y="0"/>
            <a:ext cx="12183110" cy="6858000"/>
          </a:xfrm>
          <a:prstGeom prst="rect">
            <a:avLst/>
          </a:prstGeom>
        </p:spPr>
      </p:pic>
      <p:sp>
        <p:nvSpPr>
          <p:cNvPr id="55" name="半闭框 54"/>
          <p:cNvSpPr/>
          <p:nvPr/>
        </p:nvSpPr>
        <p:spPr>
          <a:xfrm rot="10800000" flipH="1" flipV="1">
            <a:off x="411554" y="2811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11538024" y="627177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2" name="Text Box 1"/>
          <p:cNvSpPr txBox="1"/>
          <p:nvPr/>
        </p:nvSpPr>
        <p:spPr>
          <a:xfrm>
            <a:off x="3014980" y="363855"/>
            <a:ext cx="6831330" cy="645160"/>
          </a:xfrm>
          <a:prstGeom prst="rect">
            <a:avLst/>
          </a:prstGeom>
          <a:noFill/>
        </p:spPr>
        <p:txBody>
          <a:bodyPr wrap="square" rtlCol="0">
            <a:spAutoFit/>
          </a:bodyPr>
          <a:p>
            <a:pPr algn="ctr"/>
            <a:r>
              <a:rPr lang="en-US" sz="3600">
                <a:solidFill>
                  <a:schemeClr val="bg2"/>
                </a:solidFill>
              </a:rPr>
              <a:t>HFS</a:t>
            </a:r>
            <a:endParaRPr lang="en-US" sz="3600">
              <a:solidFill>
                <a:schemeClr val="bg2"/>
              </a:solidFill>
            </a:endParaRPr>
          </a:p>
        </p:txBody>
      </p:sp>
      <p:pic>
        <p:nvPicPr>
          <p:cNvPr id="3" name="Picture 2"/>
          <p:cNvPicPr/>
          <p:nvPr/>
        </p:nvPicPr>
        <p:blipFill>
          <a:blip r:embed="rId2"/>
          <a:stretch>
            <a:fillRect/>
          </a:stretch>
        </p:blipFill>
        <p:spPr>
          <a:xfrm>
            <a:off x="464820" y="1264920"/>
            <a:ext cx="6031865" cy="4327525"/>
          </a:xfrm>
          <a:prstGeom prst="rect">
            <a:avLst/>
          </a:prstGeom>
        </p:spPr>
      </p:pic>
      <p:sp>
        <p:nvSpPr>
          <p:cNvPr id="5" name="Text Box 4"/>
          <p:cNvSpPr txBox="1"/>
          <p:nvPr/>
        </p:nvSpPr>
        <p:spPr>
          <a:xfrm>
            <a:off x="6684010" y="1252220"/>
            <a:ext cx="5303520" cy="1476375"/>
          </a:xfrm>
          <a:prstGeom prst="rect">
            <a:avLst/>
          </a:prstGeom>
          <a:noFill/>
        </p:spPr>
        <p:txBody>
          <a:bodyPr wrap="square" rtlCol="0">
            <a:spAutoFit/>
          </a:bodyPr>
          <a:p>
            <a:r>
              <a:rPr lang="en-US" altLang="en-US">
                <a:solidFill>
                  <a:schemeClr val="bg2"/>
                </a:solidFill>
              </a:rPr>
              <a:t>HFS bu Hierarchical File System ya’ni file sistemani reyting va jadvallar orqali boshqaradi. Asosan Macos uchun yaratilgan birinchi versialarida bitta fayl uchun 2GB limit disk partition uchun esa 2TB</a:t>
            </a:r>
            <a:endParaRPr lang="en-US" altLang="en-US">
              <a:solidFill>
                <a:schemeClr val="bg2"/>
              </a:solidFill>
            </a:endParaRPr>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71120" y="-10668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EXT file system</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964940" y="48450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350125"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pic>
        <p:nvPicPr>
          <p:cNvPr id="2" name="Picture 1"/>
          <p:cNvPicPr/>
          <p:nvPr/>
        </p:nvPicPr>
        <p:blipFill>
          <a:blip r:embed="rId3"/>
          <a:stretch>
            <a:fillRect/>
          </a:stretch>
        </p:blipFill>
        <p:spPr>
          <a:xfrm>
            <a:off x="307975" y="1073150"/>
            <a:ext cx="6436360" cy="3869055"/>
          </a:xfrm>
          <a:prstGeom prst="rect">
            <a:avLst/>
          </a:prstGeom>
        </p:spPr>
      </p:pic>
      <p:sp>
        <p:nvSpPr>
          <p:cNvPr id="9" name="Text Box 8"/>
          <p:cNvSpPr txBox="1"/>
          <p:nvPr/>
        </p:nvSpPr>
        <p:spPr>
          <a:xfrm>
            <a:off x="8395970" y="1402715"/>
            <a:ext cx="4064000" cy="368300"/>
          </a:xfrm>
          <a:prstGeom prst="rect">
            <a:avLst/>
          </a:prstGeom>
          <a:noFill/>
        </p:spPr>
        <p:txBody>
          <a:bodyPr wrap="square" rtlCol="0">
            <a:spAutoFit/>
          </a:bodyPr>
          <a:p>
            <a:endParaRPr lang="en-US"/>
          </a:p>
        </p:txBody>
      </p:sp>
      <p:sp>
        <p:nvSpPr>
          <p:cNvPr id="36" name="Text Box 35"/>
          <p:cNvSpPr txBox="1"/>
          <p:nvPr/>
        </p:nvSpPr>
        <p:spPr>
          <a:xfrm>
            <a:off x="6882130" y="1092200"/>
            <a:ext cx="5134610" cy="1476375"/>
          </a:xfrm>
          <a:prstGeom prst="rect">
            <a:avLst/>
          </a:prstGeom>
          <a:noFill/>
        </p:spPr>
        <p:txBody>
          <a:bodyPr wrap="square" rtlCol="0">
            <a:spAutoFit/>
          </a:bodyPr>
          <a:p>
            <a:r>
              <a:rPr lang="en-US">
                <a:solidFill>
                  <a:schemeClr val="bg2"/>
                </a:solidFill>
              </a:rPr>
              <a:t>EXT- Extended File System UNIX va LINUX ga asoslangan file systemalar uchun dasturlangan birinchi versiyasi 1992 yil yaratilgan. Maksimum 1 ta fayl hajmi ext4 16TB va partition hajmi 50 TB</a:t>
            </a:r>
            <a:endParaRPr lang="en-US">
              <a:solidFill>
                <a:schemeClr val="bg2"/>
              </a:solidFill>
            </a:endParaRPr>
          </a:p>
        </p:txBody>
      </p:sp>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189605" y="305435"/>
            <a:ext cx="607504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NTLDR/ BOOTMGR - GRUB/GRUB2</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268224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8893810" y="48450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3" name="Text Box 22"/>
          <p:cNvSpPr txBox="1"/>
          <p:nvPr/>
        </p:nvSpPr>
        <p:spPr>
          <a:xfrm>
            <a:off x="702945" y="1145540"/>
            <a:ext cx="10544810" cy="4246245"/>
          </a:xfrm>
          <a:prstGeom prst="rect">
            <a:avLst/>
          </a:prstGeom>
          <a:noFill/>
        </p:spPr>
        <p:txBody>
          <a:bodyPr wrap="square" rtlCol="0">
            <a:spAutoFit/>
          </a:bodyPr>
          <a:p>
            <a:r>
              <a:rPr lang="en-US">
                <a:solidFill>
                  <a:schemeClr val="bg2"/>
                </a:solidFill>
              </a:rPr>
              <a:t>NTLDR - New Technology Loader eski Windows versiyalari (Windows NT, XP, 2000) MBR dan so’ng OS yuklash jarayonini amalgaoshiradi. Sozlama (Configuration) fayli boot.ini  bo’ladi</a:t>
            </a:r>
            <a:endParaRPr lang="en-US">
              <a:solidFill>
                <a:schemeClr val="bg2"/>
              </a:solidFill>
            </a:endParaRPr>
          </a:p>
          <a:p>
            <a:r>
              <a:rPr lang="en-US">
                <a:solidFill>
                  <a:schemeClr val="bg2"/>
                </a:solidFill>
              </a:rPr>
              <a:t>BOOTMGR - To’liq nomi Boot Manager. Zamonaviy windows versialarida windows 7 dan boshlab foydalanib kelingan ntldrga alternative UEFI bilan ishlash uchun dasturlangan. Sozlamalar fayli BCD Boot Configuration Data.</a:t>
            </a:r>
            <a:endParaRPr lang="en-US">
              <a:solidFill>
                <a:schemeClr val="bg2"/>
              </a:solidFill>
            </a:endParaRPr>
          </a:p>
          <a:p>
            <a:endParaRPr lang="en-US">
              <a:solidFill>
                <a:schemeClr val="bg2"/>
              </a:solidFill>
            </a:endParaRPr>
          </a:p>
          <a:p>
            <a:endParaRPr lang="en-US">
              <a:solidFill>
                <a:schemeClr val="bg2"/>
              </a:solidFill>
            </a:endParaRPr>
          </a:p>
          <a:p>
            <a:r>
              <a:rPr lang="en-US">
                <a:solidFill>
                  <a:schemeClr val="bg2"/>
                </a:solidFill>
              </a:rPr>
              <a:t>GRUB - Grand Unified BootLoader- Bu huddi ntldr va bootmgr ga o’xshash vazifasi bor linux operatison sistema tomonidan ishlatiladi. Eski versiali kompyuterlar uchun BIOS bilan birgaliklda ishlaydi. 2009 yildan avvalgi linux tizimlaridan foydalangan Operatsion Sistema kernelini asosiy xotiraga yuklashga yordam beradi. </a:t>
            </a:r>
            <a:br>
              <a:rPr lang="en-US">
                <a:solidFill>
                  <a:schemeClr val="bg2"/>
                </a:solidFill>
              </a:rPr>
            </a:br>
            <a:r>
              <a:rPr lang="en-US">
                <a:solidFill>
                  <a:schemeClr val="bg2"/>
                </a:solidFill>
              </a:rPr>
              <a:t>GRUB2 - Bazi xollarda shunchaki GRUB deb ataladi. Asosiy o’zgarish GUI kiritilgan bir qancha operatsion sistemalarni boshqarish uchun qulay. GRUB2 network booting qo’llab quvatlaydi va hozirda faol qo’llab quvatlangan developing jarayonida. Sozlamalari(Config) </a:t>
            </a:r>
            <a:br>
              <a:rPr lang="en-US">
                <a:solidFill>
                  <a:schemeClr val="bg2"/>
                </a:solidFill>
              </a:rPr>
            </a:br>
            <a:r>
              <a:rPr lang="en-US" altLang="en-US">
                <a:solidFill>
                  <a:schemeClr val="bg2"/>
                </a:solidFill>
              </a:rPr>
              <a:t>/boot/grub/grub.cfg faylda.</a:t>
            </a:r>
            <a:r>
              <a:rPr lang="en-US">
                <a:solidFill>
                  <a:schemeClr val="bg2"/>
                </a:solidFill>
              </a:rPr>
              <a:t>  </a:t>
            </a:r>
            <a:endParaRPr lang="en-US">
              <a:solidFill>
                <a:schemeClr val="bg2"/>
              </a:solidFill>
            </a:endParaRPr>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39" name="任意多边形: 形状 138"/>
          <p:cNvSpPr/>
          <p:nvPr>
            <p:custDataLst>
              <p:tags r:id="rId1"/>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KERNEL</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447294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687197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5" name="Text Box 4"/>
          <p:cNvSpPr txBox="1"/>
          <p:nvPr/>
        </p:nvSpPr>
        <p:spPr>
          <a:xfrm>
            <a:off x="623570" y="1101090"/>
            <a:ext cx="10660380" cy="2030095"/>
          </a:xfrm>
          <a:prstGeom prst="rect">
            <a:avLst/>
          </a:prstGeom>
          <a:noFill/>
        </p:spPr>
        <p:txBody>
          <a:bodyPr wrap="square" rtlCol="0">
            <a:spAutoFit/>
          </a:bodyPr>
          <a:p>
            <a:r>
              <a:rPr lang="en-US">
                <a:solidFill>
                  <a:schemeClr val="bg2"/>
                </a:solidFill>
              </a:rPr>
              <a:t>Kernel - bu operatsion sistemani asosiy qismi. Hardware va Software o’rtasida ko’prik vazifasini bajaradi. Software ishlashi Operatsion Sistema qo’llab quvatlamasligiga bog’liq operatsion sistemani ishlashi esa kernal funksianal yoki funksional emasligiga bog’liq. Kernel kompyuter resurslarini ham boshqaradi CPU, RAM yoki ulangan qurilmalar ishlashini nazorat qiladi, va process jarayonlari background tasklari hamda foydalanuvchi interfeysini ham nazorat qiladi. Ya’ni operatsion sistema kernelni markazi sifatida foydalanadi ammo kernel UI bilan ham taminlaydi.</a:t>
            </a:r>
            <a:endParaRPr lang="en-US">
              <a:solidFill>
                <a:schemeClr val="bg2"/>
              </a:solidFill>
            </a:endParaRPr>
          </a:p>
        </p:txBody>
      </p:sp>
      <p:sp>
        <p:nvSpPr>
          <p:cNvPr id="6" name="Text Box 5"/>
          <p:cNvSpPr txBox="1"/>
          <p:nvPr/>
        </p:nvSpPr>
        <p:spPr>
          <a:xfrm>
            <a:off x="588010" y="3410585"/>
            <a:ext cx="10899775" cy="3138170"/>
          </a:xfrm>
          <a:prstGeom prst="rect">
            <a:avLst/>
          </a:prstGeom>
          <a:noFill/>
        </p:spPr>
        <p:txBody>
          <a:bodyPr wrap="square" rtlCol="0">
            <a:spAutoFit/>
          </a:bodyPr>
          <a:p>
            <a:r>
              <a:rPr lang="en-US">
                <a:solidFill>
                  <a:schemeClr val="bg2"/>
                </a:solidFill>
              </a:rPr>
              <a:t>1. Monolithic - Barcha OS servislari kernel hududida ishlaydi tez ammo kam texnik himoya (fault-isolation) Masalan: UNIX, LINUX</a:t>
            </a:r>
            <a:br>
              <a:rPr lang="en-US">
                <a:solidFill>
                  <a:schemeClr val="bg2"/>
                </a:solidFill>
              </a:rPr>
            </a:br>
            <a:r>
              <a:rPr lang="en-US">
                <a:solidFill>
                  <a:schemeClr val="bg2"/>
                </a:solidFill>
              </a:rPr>
              <a:t>2. Microkernel - Minimal kernel servicelari ko’p serviclar foydalanuvchi hududiga o’tkazilgan. Onsonroq foydalanish imkoniyatini beradi ammo hardware qizib ketish(overhead) muammolarini keltirib chiqaradi.</a:t>
            </a:r>
            <a:endParaRPr lang="en-US">
              <a:solidFill>
                <a:schemeClr val="bg2"/>
              </a:solidFill>
            </a:endParaRPr>
          </a:p>
          <a:p>
            <a:r>
              <a:rPr lang="en-US">
                <a:solidFill>
                  <a:schemeClr val="bg2"/>
                </a:solidFill>
              </a:rPr>
              <a:t>3. Hybrid kernel - Monolithic bilan Micro kernelni aralashtirilgan xolatda windows OS hybrid kernelda ishliydi.</a:t>
            </a:r>
            <a:endParaRPr lang="en-US">
              <a:solidFill>
                <a:schemeClr val="bg2"/>
              </a:solidFill>
            </a:endParaRPr>
          </a:p>
          <a:p>
            <a:r>
              <a:rPr lang="en-US">
                <a:solidFill>
                  <a:schemeClr val="bg2"/>
                </a:solidFill>
              </a:rPr>
              <a:t>4. Nanokernel - Judayam minimal kernel funksiyalari faqatgina fundamental hardware boshqarish jarayoni bo’ladi. Nemesis, Aegis proyektlari bunga misol bo’ladi</a:t>
            </a:r>
            <a:br>
              <a:rPr lang="en-US">
                <a:solidFill>
                  <a:schemeClr val="bg2"/>
                </a:solidFill>
              </a:rPr>
            </a:br>
            <a:r>
              <a:rPr lang="en-US">
                <a:solidFill>
                  <a:schemeClr val="bg2"/>
                </a:solidFill>
              </a:rPr>
              <a:t>5. Exokernel - Himoya va boshqaruvni aloxida bajaradi. Dasturlarni hardware orqali ishlashni olib boradi.</a:t>
            </a:r>
            <a:endParaRPr lang="en-US">
              <a:solidFill>
                <a:schemeClr val="bg2"/>
              </a:solidFill>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2" name="图片 51" descr="VCG21128005867512"/>
          <p:cNvPicPr>
            <a:picLocks noChangeAspect="1"/>
          </p:cNvPicPr>
          <p:nvPr/>
        </p:nvPicPr>
        <p:blipFill>
          <a:blip r:embed="rId1">
            <a:alphaModFix amt="20000"/>
          </a:blip>
          <a:stretch>
            <a:fillRect/>
          </a:stretch>
        </p:blipFill>
        <p:spPr>
          <a:xfrm>
            <a:off x="0" y="80010"/>
            <a:ext cx="12160885" cy="6857365"/>
          </a:xfrm>
          <a:prstGeom prst="rect">
            <a:avLst/>
          </a:prstGeom>
        </p:spPr>
      </p:pic>
      <p:sp>
        <p:nvSpPr>
          <p:cNvPr id="5" name="任意多边形: 形状 21"/>
          <p:cNvSpPr/>
          <p:nvPr>
            <p:custDataLst>
              <p:tags r:id="rId2"/>
            </p:custDataLst>
          </p:nvPr>
        </p:nvSpPr>
        <p:spPr>
          <a:xfrm rot="16200000" flipV="1">
            <a:off x="-2199640"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13" name="组合 12"/>
          <p:cNvGrpSpPr/>
          <p:nvPr/>
        </p:nvGrpSpPr>
        <p:grpSpPr>
          <a:xfrm rot="16200000">
            <a:off x="11279505" y="749082"/>
            <a:ext cx="252730" cy="375920"/>
            <a:chOff x="17336" y="1136"/>
            <a:chExt cx="466" cy="911"/>
          </a:xfrm>
          <a:solidFill>
            <a:srgbClr val="2CF5FC"/>
          </a:solidFill>
        </p:grpSpPr>
        <p:sp>
          <p:nvSpPr>
            <p:cNvPr id="14" name="矩形 13"/>
            <p:cNvSpPr/>
            <p:nvPr>
              <p:custDataLst>
                <p:tags r:id="rId3"/>
              </p:custDataLst>
            </p:nvPr>
          </p:nvSpPr>
          <p:spPr>
            <a:xfrm>
              <a:off x="17448" y="1136"/>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0" name="矩形 39"/>
            <p:cNvSpPr/>
            <p:nvPr>
              <p:custDataLst>
                <p:tags r:id="rId4"/>
              </p:custDataLst>
            </p:nvPr>
          </p:nvSpPr>
          <p:spPr>
            <a:xfrm>
              <a:off x="17448" y="1532"/>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2" name="矩形 41"/>
            <p:cNvSpPr/>
            <p:nvPr>
              <p:custDataLst>
                <p:tags r:id="rId5"/>
              </p:custDataLst>
            </p:nvPr>
          </p:nvSpPr>
          <p:spPr>
            <a:xfrm>
              <a:off x="17336" y="1334"/>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3" name="矩形 42"/>
            <p:cNvSpPr/>
            <p:nvPr>
              <p:custDataLst>
                <p:tags r:id="rId6"/>
              </p:custDataLst>
            </p:nvPr>
          </p:nvSpPr>
          <p:spPr>
            <a:xfrm>
              <a:off x="17336" y="1729"/>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4" name="矩形 43"/>
            <p:cNvSpPr/>
            <p:nvPr>
              <p:custDataLst>
                <p:tags r:id="rId7"/>
              </p:custDataLst>
            </p:nvPr>
          </p:nvSpPr>
          <p:spPr>
            <a:xfrm>
              <a:off x="17448" y="1927"/>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grpSp>
      <p:sp>
        <p:nvSpPr>
          <p:cNvPr id="29" name="矩形 28"/>
          <p:cNvSpPr/>
          <p:nvPr>
            <p:custDataLst>
              <p:tags r:id="rId8"/>
            </p:custDataLst>
          </p:nvPr>
        </p:nvSpPr>
        <p:spPr>
          <a:xfrm>
            <a:off x="760730" y="5462270"/>
            <a:ext cx="187960" cy="4394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1" name="组合 30"/>
          <p:cNvGrpSpPr/>
          <p:nvPr/>
        </p:nvGrpSpPr>
        <p:grpSpPr>
          <a:xfrm rot="10800000">
            <a:off x="317818" y="6526530"/>
            <a:ext cx="11556365" cy="135890"/>
            <a:chOff x="625" y="278"/>
            <a:chExt cx="18199" cy="214"/>
          </a:xfrm>
        </p:grpSpPr>
        <p:sp>
          <p:nvSpPr>
            <p:cNvPr id="32" name="任意多边形: 形状 21"/>
            <p:cNvSpPr/>
            <p:nvPr>
              <p:custDataLst>
                <p:tags r:id="rId9"/>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34" name="直接连接符 33"/>
            <p:cNvCxnSpPr/>
            <p:nvPr>
              <p:custDataLst>
                <p:tags r:id="rId10"/>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11"/>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6" name="任意多边形: 形状 21"/>
          <p:cNvSpPr/>
          <p:nvPr>
            <p:custDataLst>
              <p:tags r:id="rId12"/>
            </p:custDataLst>
          </p:nvPr>
        </p:nvSpPr>
        <p:spPr>
          <a:xfrm rot="5400000" flipH="1" flipV="1">
            <a:off x="9685655"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6" name="矩形 45"/>
          <p:cNvSpPr/>
          <p:nvPr>
            <p:custDataLst>
              <p:tags r:id="rId13"/>
            </p:custDataLst>
          </p:nvPr>
        </p:nvSpPr>
        <p:spPr>
          <a:xfrm>
            <a:off x="890905" y="5485765"/>
            <a:ext cx="187960" cy="19939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7" name="矩形 46"/>
          <p:cNvSpPr/>
          <p:nvPr>
            <p:custDataLst>
              <p:tags r:id="rId14"/>
            </p:custDataLst>
          </p:nvPr>
        </p:nvSpPr>
        <p:spPr>
          <a:xfrm>
            <a:off x="11586845" y="5439410"/>
            <a:ext cx="76200" cy="4394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8" name="矩形 47"/>
          <p:cNvSpPr/>
          <p:nvPr>
            <p:custDataLst>
              <p:tags r:id="rId15"/>
            </p:custDataLst>
          </p:nvPr>
        </p:nvSpPr>
        <p:spPr>
          <a:xfrm flipH="1">
            <a:off x="11461750" y="5718175"/>
            <a:ext cx="150495" cy="1606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9" name="矩形 48"/>
          <p:cNvSpPr/>
          <p:nvPr>
            <p:custDataLst>
              <p:tags r:id="rId16"/>
            </p:custDataLst>
          </p:nvPr>
        </p:nvSpPr>
        <p:spPr>
          <a:xfrm flipH="1">
            <a:off x="11430635" y="5520690"/>
            <a:ext cx="85725" cy="914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 name="Text Box 3"/>
          <p:cNvSpPr txBox="1"/>
          <p:nvPr/>
        </p:nvSpPr>
        <p:spPr>
          <a:xfrm>
            <a:off x="2056765" y="0"/>
            <a:ext cx="7204075" cy="521970"/>
          </a:xfrm>
          <a:prstGeom prst="rect">
            <a:avLst/>
          </a:prstGeom>
          <a:noFill/>
        </p:spPr>
        <p:txBody>
          <a:bodyPr wrap="square" rtlCol="0">
            <a:spAutoFit/>
          </a:bodyPr>
          <a:p>
            <a:pPr algn="ctr"/>
            <a:r>
              <a:rPr lang="en-US" sz="2800">
                <a:solidFill>
                  <a:schemeClr val="bg2"/>
                </a:solidFill>
              </a:rPr>
              <a:t>Windows va Linux</a:t>
            </a:r>
            <a:endParaRPr lang="en-US" sz="2800">
              <a:solidFill>
                <a:schemeClr val="bg2"/>
              </a:solidFill>
            </a:endParaRPr>
          </a:p>
        </p:txBody>
      </p:sp>
      <p:graphicFrame>
        <p:nvGraphicFramePr>
          <p:cNvPr id="6" name="Table 5"/>
          <p:cNvGraphicFramePr/>
          <p:nvPr>
            <p:custDataLst>
              <p:tags r:id="rId17"/>
            </p:custDataLst>
          </p:nvPr>
        </p:nvGraphicFramePr>
        <p:xfrm>
          <a:off x="1830705" y="521970"/>
          <a:ext cx="8532495" cy="5562600"/>
        </p:xfrm>
        <a:graphic>
          <a:graphicData uri="http://schemas.openxmlformats.org/drawingml/2006/table">
            <a:tbl>
              <a:tblPr firstRow="1" bandRow="1">
                <a:tableStyleId>{5C22544A-7EE6-4342-B048-85BDC9FD1C3A}</a:tableStyleId>
              </a:tblPr>
              <a:tblGrid>
                <a:gridCol w="2844165"/>
                <a:gridCol w="2844165"/>
                <a:gridCol w="2844165"/>
              </a:tblGrid>
              <a:tr h="345440">
                <a:tc>
                  <a:txBody>
                    <a:bodyPr/>
                    <a:p>
                      <a:pPr>
                        <a:buNone/>
                      </a:pPr>
                      <a:endParaRPr lang="en-US"/>
                    </a:p>
                  </a:txBody>
                  <a:tcPr/>
                </a:tc>
                <a:tc>
                  <a:txBody>
                    <a:bodyPr/>
                    <a:p>
                      <a:pPr>
                        <a:buNone/>
                      </a:pPr>
                      <a:r>
                        <a:rPr lang="en-US"/>
                        <a:t>Windows</a:t>
                      </a:r>
                      <a:endParaRPr lang="en-US"/>
                    </a:p>
                  </a:txBody>
                  <a:tcPr/>
                </a:tc>
                <a:tc>
                  <a:txBody>
                    <a:bodyPr/>
                    <a:p>
                      <a:pPr>
                        <a:buNone/>
                      </a:pPr>
                      <a:r>
                        <a:rPr lang="en-US"/>
                        <a:t>Linux</a:t>
                      </a:r>
                      <a:endParaRPr lang="en-US"/>
                    </a:p>
                  </a:txBody>
                  <a:tcPr/>
                </a:tc>
              </a:tr>
              <a:tr h="521970">
                <a:tc>
                  <a:txBody>
                    <a:bodyPr/>
                    <a:p>
                      <a:pPr>
                        <a:buNone/>
                      </a:pPr>
                      <a:r>
                        <a:rPr lang="en-US"/>
                        <a:t>Turi</a:t>
                      </a:r>
                      <a:endParaRPr lang="en-US"/>
                    </a:p>
                  </a:txBody>
                  <a:tcPr/>
                </a:tc>
                <a:tc>
                  <a:txBody>
                    <a:bodyPr/>
                    <a:p>
                      <a:pPr>
                        <a:buNone/>
                      </a:pPr>
                      <a:r>
                        <a:rPr lang="en-US"/>
                        <a:t>Hybrid</a:t>
                      </a:r>
                      <a:endParaRPr lang="en-US"/>
                    </a:p>
                  </a:txBody>
                  <a:tcPr/>
                </a:tc>
                <a:tc>
                  <a:txBody>
                    <a:bodyPr/>
                    <a:p>
                      <a:pPr>
                        <a:buNone/>
                      </a:pPr>
                      <a:r>
                        <a:rPr lang="en-US"/>
                        <a:t>Monolithic</a:t>
                      </a:r>
                      <a:endParaRPr lang="en-US"/>
                    </a:p>
                  </a:txBody>
                  <a:tcPr/>
                </a:tc>
              </a:tr>
              <a:tr h="521970">
                <a:tc>
                  <a:txBody>
                    <a:bodyPr/>
                    <a:p>
                      <a:pPr>
                        <a:buNone/>
                      </a:pPr>
                      <a:r>
                        <a:rPr lang="en-US"/>
                        <a:t>Arxitekturasi</a:t>
                      </a:r>
                      <a:endParaRPr lang="en-US"/>
                    </a:p>
                  </a:txBody>
                  <a:tcPr/>
                </a:tc>
                <a:tc>
                  <a:txBody>
                    <a:bodyPr/>
                    <a:p>
                      <a:pPr>
                        <a:buNone/>
                      </a:pPr>
                      <a:r>
                        <a:rPr lang="en-US"/>
                        <a:t>Qatlamli (layered) </a:t>
                      </a:r>
                      <a:endParaRPr lang="en-US"/>
                    </a:p>
                  </a:txBody>
                  <a:tcPr/>
                </a:tc>
                <a:tc>
                  <a:txBody>
                    <a:bodyPr/>
                    <a:p>
                      <a:pPr>
                        <a:buNone/>
                      </a:pPr>
                      <a:r>
                        <a:rPr lang="en-US"/>
                        <a:t>Modullar</a:t>
                      </a:r>
                      <a:endParaRPr lang="en-US"/>
                    </a:p>
                  </a:txBody>
                  <a:tcPr/>
                </a:tc>
              </a:tr>
              <a:tr h="521970">
                <a:tc>
                  <a:txBody>
                    <a:bodyPr/>
                    <a:p>
                      <a:pPr>
                        <a:buNone/>
                      </a:pPr>
                      <a:r>
                        <a:rPr lang="en-US"/>
                        <a:t>Manba</a:t>
                      </a:r>
                      <a:endParaRPr lang="en-US"/>
                    </a:p>
                  </a:txBody>
                  <a:tcPr/>
                </a:tc>
                <a:tc>
                  <a:txBody>
                    <a:bodyPr/>
                    <a:p>
                      <a:pPr>
                        <a:buNone/>
                      </a:pPr>
                      <a:r>
                        <a:rPr lang="en-US"/>
                        <a:t>Yopiq (Closed source)</a:t>
                      </a:r>
                      <a:endParaRPr lang="en-US"/>
                    </a:p>
                  </a:txBody>
                  <a:tcPr/>
                </a:tc>
                <a:tc>
                  <a:txBody>
                    <a:bodyPr/>
                    <a:p>
                      <a:pPr>
                        <a:buNone/>
                      </a:pPr>
                      <a:r>
                        <a:rPr lang="en-US"/>
                        <a:t>Ochiq (Open source)</a:t>
                      </a:r>
                      <a:endParaRPr lang="en-US"/>
                    </a:p>
                  </a:txBody>
                  <a:tcPr/>
                </a:tc>
              </a:tr>
              <a:tr h="521970">
                <a:tc>
                  <a:txBody>
                    <a:bodyPr/>
                    <a:p>
                      <a:pPr>
                        <a:buNone/>
                      </a:pPr>
                      <a:r>
                        <a:rPr lang="en-US"/>
                        <a:t>GUI</a:t>
                      </a:r>
                      <a:endParaRPr lang="en-US"/>
                    </a:p>
                  </a:txBody>
                  <a:tcPr/>
                </a:tc>
                <a:tc>
                  <a:txBody>
                    <a:bodyPr/>
                    <a:p>
                      <a:pPr>
                        <a:buNone/>
                      </a:pPr>
                      <a:r>
                        <a:rPr lang="en-US"/>
                        <a:t>Windows versiyasiga aloqador</a:t>
                      </a:r>
                      <a:endParaRPr lang="en-US"/>
                    </a:p>
                  </a:txBody>
                  <a:tcPr/>
                </a:tc>
                <a:tc>
                  <a:txBody>
                    <a:bodyPr/>
                    <a:p>
                      <a:pPr>
                        <a:buNone/>
                      </a:pPr>
                      <a:r>
                        <a:rPr lang="en-US"/>
                        <a:t>Ixtiyoriy Gnome, Xfce yoki GUI o’rnatmasdan ham ishlatsa bo’ladi</a:t>
                      </a:r>
                      <a:endParaRPr lang="en-US"/>
                    </a:p>
                  </a:txBody>
                  <a:tcPr/>
                </a:tc>
              </a:tr>
              <a:tr h="521970">
                <a:tc>
                  <a:txBody>
                    <a:bodyPr/>
                    <a:p>
                      <a:pPr>
                        <a:buNone/>
                      </a:pPr>
                      <a:r>
                        <a:rPr lang="en-US"/>
                        <a:t>Qo’llab quvatlaydigan OS</a:t>
                      </a:r>
                      <a:endParaRPr lang="en-US"/>
                    </a:p>
                  </a:txBody>
                  <a:tcPr/>
                </a:tc>
                <a:tc>
                  <a:txBody>
                    <a:bodyPr/>
                    <a:p>
                      <a:pPr>
                        <a:buNone/>
                      </a:pPr>
                      <a:r>
                        <a:rPr lang="en-US"/>
                        <a:t>Windows oilasi</a:t>
                      </a:r>
                      <a:endParaRPr lang="en-US"/>
                    </a:p>
                  </a:txBody>
                  <a:tcPr/>
                </a:tc>
                <a:tc>
                  <a:txBody>
                    <a:bodyPr/>
                    <a:p>
                      <a:pPr>
                        <a:buNone/>
                      </a:pPr>
                      <a:r>
                        <a:rPr lang="en-US"/>
                        <a:t>Linux distrolari</a:t>
                      </a:r>
                      <a:endParaRPr lang="en-US"/>
                    </a:p>
                  </a:txBody>
                  <a:tcPr/>
                </a:tc>
              </a:tr>
              <a:tr h="521970">
                <a:tc>
                  <a:txBody>
                    <a:bodyPr/>
                    <a:p>
                      <a:pPr>
                        <a:buNone/>
                      </a:pPr>
                      <a:r>
                        <a:rPr lang="en-US"/>
                        <a:t>Driverlari</a:t>
                      </a:r>
                      <a:endParaRPr lang="en-US"/>
                    </a:p>
                  </a:txBody>
                  <a:tcPr/>
                </a:tc>
                <a:tc>
                  <a:txBody>
                    <a:bodyPr/>
                    <a:p>
                      <a:pPr>
                        <a:buNone/>
                      </a:pPr>
                      <a:r>
                        <a:rPr lang="en-US"/>
                        <a:t>Windows driver module</a:t>
                      </a:r>
                      <a:endParaRPr lang="en-US"/>
                    </a:p>
                    <a:p>
                      <a:pPr>
                        <a:buNone/>
                      </a:pPr>
                      <a:r>
                        <a:rPr lang="en-US"/>
                        <a:t>WDM</a:t>
                      </a:r>
                      <a:endParaRPr lang="en-US"/>
                    </a:p>
                  </a:txBody>
                  <a:tcPr/>
                </a:tc>
                <a:tc>
                  <a:txBody>
                    <a:bodyPr/>
                    <a:p>
                      <a:pPr>
                        <a:buNone/>
                      </a:pPr>
                      <a:r>
                        <a:rPr lang="en-US"/>
                        <a:t>Loadeble Kernel Mode</a:t>
                      </a:r>
                      <a:endParaRPr lang="en-US"/>
                    </a:p>
                    <a:p>
                      <a:pPr>
                        <a:buNone/>
                      </a:pPr>
                      <a:r>
                        <a:rPr lang="en-US"/>
                        <a:t>LKMs</a:t>
                      </a:r>
                      <a:endParaRPr lang="en-US"/>
                    </a:p>
                  </a:txBody>
                  <a:tcPr/>
                </a:tc>
              </a:tr>
              <a:tr h="521970">
                <a:tc>
                  <a:txBody>
                    <a:bodyPr/>
                    <a:p>
                      <a:pPr>
                        <a:buNone/>
                      </a:pPr>
                      <a:r>
                        <a:rPr lang="en-US"/>
                        <a:t>Yangilanish</a:t>
                      </a:r>
                      <a:endParaRPr lang="en-US"/>
                    </a:p>
                  </a:txBody>
                  <a:tcPr/>
                </a:tc>
                <a:tc>
                  <a:txBody>
                    <a:bodyPr/>
                    <a:p>
                      <a:pPr>
                        <a:buNone/>
                      </a:pPr>
                      <a:r>
                        <a:rPr lang="en-US"/>
                        <a:t>Microsoft tomonidan berilgan</a:t>
                      </a:r>
                      <a:endParaRPr lang="en-US"/>
                    </a:p>
                  </a:txBody>
                  <a:tcPr/>
                </a:tc>
                <a:tc>
                  <a:txBody>
                    <a:bodyPr/>
                    <a:p>
                      <a:pPr>
                        <a:buNone/>
                      </a:pPr>
                      <a:r>
                        <a:rPr lang="en-US"/>
                        <a:t>Qo’lda (Manual) yangilanish</a:t>
                      </a:r>
                      <a:endParaRPr lang="en-US"/>
                    </a:p>
                  </a:txBody>
                  <a:tcPr/>
                </a:tc>
              </a:tr>
              <a:tr h="521970">
                <a:tc>
                  <a:txBody>
                    <a:bodyPr/>
                    <a:p>
                      <a:pPr>
                        <a:buNone/>
                      </a:pPr>
                      <a:r>
                        <a:rPr lang="en-US"/>
                        <a:t>Xavfsizlik</a:t>
                      </a:r>
                      <a:endParaRPr lang="en-US"/>
                    </a:p>
                  </a:txBody>
                  <a:tcPr/>
                </a:tc>
                <a:tc>
                  <a:txBody>
                    <a:bodyPr/>
                    <a:p>
                      <a:pPr>
                        <a:buNone/>
                      </a:pPr>
                      <a:r>
                        <a:rPr lang="en-US"/>
                        <a:t>Access Control List (ACL) User Control List(UAC) Windows defenders</a:t>
                      </a:r>
                      <a:endParaRPr lang="en-US"/>
                    </a:p>
                  </a:txBody>
                  <a:tcPr/>
                </a:tc>
                <a:tc>
                  <a:txBody>
                    <a:bodyPr/>
                    <a:p>
                      <a:pPr>
                        <a:buNone/>
                      </a:pPr>
                      <a:r>
                        <a:rPr lang="en-US"/>
                        <a:t>Ruxsatnoma tizimi (rwxs) SeLinux, Apparmor</a:t>
                      </a:r>
                      <a:endParaRPr lang="en-US"/>
                    </a:p>
                  </a:txBody>
                  <a:tcPr/>
                </a:tc>
              </a:tr>
            </a:tbl>
          </a:graphicData>
        </a:graphic>
      </p:graphicFrame>
    </p:spTree>
    <p:custDataLst>
      <p:tags r:id="rId18"/>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2" name="图片 51" descr="VCG21128005867512"/>
          <p:cNvPicPr>
            <a:picLocks noChangeAspect="1"/>
          </p:cNvPicPr>
          <p:nvPr/>
        </p:nvPicPr>
        <p:blipFill>
          <a:blip r:embed="rId1">
            <a:alphaModFix amt="20000"/>
          </a:blip>
          <a:stretch>
            <a:fillRect/>
          </a:stretch>
        </p:blipFill>
        <p:spPr>
          <a:xfrm>
            <a:off x="4445" y="0"/>
            <a:ext cx="12160885" cy="6857365"/>
          </a:xfrm>
          <a:prstGeom prst="rect">
            <a:avLst/>
          </a:prstGeom>
        </p:spPr>
      </p:pic>
      <p:sp>
        <p:nvSpPr>
          <p:cNvPr id="41" name="任意多边形: 形状 138"/>
          <p:cNvSpPr/>
          <p:nvPr>
            <p:custDataLst>
              <p:tags r:id="rId2"/>
            </p:custDataLst>
          </p:nvPr>
        </p:nvSpPr>
        <p:spPr>
          <a:xfrm>
            <a:off x="308610" y="503873"/>
            <a:ext cx="11576685" cy="585025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cs typeface="Inter" panose="02000503000000020004" charset="0"/>
            </a:endParaRPr>
          </a:p>
        </p:txBody>
      </p:sp>
      <p:sp>
        <p:nvSpPr>
          <p:cNvPr id="5" name="任意多边形: 形状 21"/>
          <p:cNvSpPr/>
          <p:nvPr>
            <p:custDataLst>
              <p:tags r:id="rId3"/>
            </p:custDataLst>
          </p:nvPr>
        </p:nvSpPr>
        <p:spPr>
          <a:xfrm rot="16200000" flipV="1">
            <a:off x="-2199640"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0" name="组合 29"/>
          <p:cNvGrpSpPr/>
          <p:nvPr/>
        </p:nvGrpSpPr>
        <p:grpSpPr>
          <a:xfrm>
            <a:off x="317818" y="176530"/>
            <a:ext cx="11556365" cy="135890"/>
            <a:chOff x="625" y="278"/>
            <a:chExt cx="18199" cy="214"/>
          </a:xfrm>
        </p:grpSpPr>
        <p:sp>
          <p:nvSpPr>
            <p:cNvPr id="24" name="任意多边形: 形状 21"/>
            <p:cNvSpPr/>
            <p:nvPr>
              <p:custDataLst>
                <p:tags r:id="rId4"/>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9" name="直接连接符 8"/>
            <p:cNvCxnSpPr/>
            <p:nvPr>
              <p:custDataLst>
                <p:tags r:id="rId5"/>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6"/>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rot="10800000">
            <a:off x="317818" y="6526530"/>
            <a:ext cx="11556365" cy="135890"/>
            <a:chOff x="625" y="278"/>
            <a:chExt cx="18199" cy="214"/>
          </a:xfrm>
        </p:grpSpPr>
        <p:sp>
          <p:nvSpPr>
            <p:cNvPr id="32" name="任意多边形: 形状 21"/>
            <p:cNvSpPr/>
            <p:nvPr>
              <p:custDataLst>
                <p:tags r:id="rId7"/>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34" name="直接连接符 33"/>
            <p:cNvCxnSpPr/>
            <p:nvPr>
              <p:custDataLst>
                <p:tags r:id="rId8"/>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9"/>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6" name="任意多边形: 形状 21"/>
          <p:cNvSpPr/>
          <p:nvPr>
            <p:custDataLst>
              <p:tags r:id="rId10"/>
            </p:custDataLst>
          </p:nvPr>
        </p:nvSpPr>
        <p:spPr>
          <a:xfrm rot="5400000" flipH="1" flipV="1">
            <a:off x="9685655"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6" name="Text Box 5"/>
          <p:cNvSpPr txBox="1"/>
          <p:nvPr/>
        </p:nvSpPr>
        <p:spPr>
          <a:xfrm>
            <a:off x="2240280" y="577215"/>
            <a:ext cx="7150735" cy="460375"/>
          </a:xfrm>
          <a:prstGeom prst="rect">
            <a:avLst/>
          </a:prstGeom>
          <a:noFill/>
        </p:spPr>
        <p:txBody>
          <a:bodyPr wrap="square" rtlCol="0">
            <a:spAutoFit/>
          </a:bodyPr>
          <a:p>
            <a:pPr algn="ctr"/>
            <a:r>
              <a:rPr lang="en-US" sz="2400">
                <a:solidFill>
                  <a:schemeClr val="bg2"/>
                </a:solidFill>
              </a:rPr>
              <a:t>Linux Distribution</a:t>
            </a:r>
            <a:endParaRPr lang="en-US" sz="2400">
              <a:solidFill>
                <a:schemeClr val="bg2"/>
              </a:solidFill>
            </a:endParaRPr>
          </a:p>
        </p:txBody>
      </p:sp>
      <p:graphicFrame>
        <p:nvGraphicFramePr>
          <p:cNvPr id="7" name="Table 6"/>
          <p:cNvGraphicFramePr/>
          <p:nvPr>
            <p:custDataLst>
              <p:tags r:id="rId11"/>
            </p:custDataLst>
          </p:nvPr>
        </p:nvGraphicFramePr>
        <p:xfrm>
          <a:off x="1828800" y="1432560"/>
          <a:ext cx="8532495" cy="3630930"/>
        </p:xfrm>
        <a:graphic>
          <a:graphicData uri="http://schemas.openxmlformats.org/drawingml/2006/table">
            <a:tbl>
              <a:tblPr firstRow="1" bandRow="1">
                <a:tableStyleId>{5C22544A-7EE6-4342-B048-85BDC9FD1C3A}</a:tableStyleId>
              </a:tblPr>
              <a:tblGrid>
                <a:gridCol w="2844165"/>
                <a:gridCol w="2844165"/>
                <a:gridCol w="2844165"/>
              </a:tblGrid>
              <a:tr h="605155">
                <a:tc>
                  <a:txBody>
                    <a:bodyPr/>
                    <a:p>
                      <a:pPr algn="ctr">
                        <a:buNone/>
                      </a:pPr>
                      <a:r>
                        <a:rPr lang="en-US"/>
                        <a:t>Debian</a:t>
                      </a:r>
                      <a:endParaRPr lang="en-US"/>
                    </a:p>
                  </a:txBody>
                  <a:tcPr/>
                </a:tc>
                <a:tc>
                  <a:txBody>
                    <a:bodyPr/>
                    <a:p>
                      <a:pPr algn="ctr">
                        <a:buNone/>
                      </a:pPr>
                      <a:r>
                        <a:rPr lang="en-US"/>
                        <a:t>Fedora</a:t>
                      </a:r>
                      <a:endParaRPr lang="en-US"/>
                    </a:p>
                  </a:txBody>
                  <a:tcPr/>
                </a:tc>
                <a:tc>
                  <a:txBody>
                    <a:bodyPr/>
                    <a:p>
                      <a:pPr algn="ctr">
                        <a:buNone/>
                      </a:pPr>
                      <a:r>
                        <a:rPr lang="en-US"/>
                        <a:t>Suse</a:t>
                      </a:r>
                      <a:endParaRPr lang="en-US"/>
                    </a:p>
                  </a:txBody>
                  <a:tcPr/>
                </a:tc>
              </a:tr>
              <a:tr h="605155">
                <a:tc>
                  <a:txBody>
                    <a:bodyPr/>
                    <a:p>
                      <a:pPr>
                        <a:buNone/>
                      </a:pPr>
                      <a:r>
                        <a:rPr lang="en-US"/>
                        <a:t>Ubuntu</a:t>
                      </a:r>
                      <a:endParaRPr lang="en-US"/>
                    </a:p>
                  </a:txBody>
                  <a:tcPr/>
                </a:tc>
                <a:tc>
                  <a:txBody>
                    <a:bodyPr/>
                    <a:p>
                      <a:pPr>
                        <a:buNone/>
                      </a:pPr>
                      <a:r>
                        <a:rPr lang="en-US"/>
                        <a:t>RHEL</a:t>
                      </a:r>
                      <a:endParaRPr lang="en-US"/>
                    </a:p>
                  </a:txBody>
                  <a:tcPr/>
                </a:tc>
                <a:tc>
                  <a:txBody>
                    <a:bodyPr/>
                    <a:p>
                      <a:pPr>
                        <a:buNone/>
                      </a:pPr>
                      <a:r>
                        <a:rPr lang="en-US"/>
                        <a:t>SLES</a:t>
                      </a:r>
                      <a:endParaRPr lang="en-US"/>
                    </a:p>
                  </a:txBody>
                  <a:tcPr/>
                </a:tc>
              </a:tr>
              <a:tr h="605155">
                <a:tc>
                  <a:txBody>
                    <a:bodyPr/>
                    <a:p>
                      <a:pPr>
                        <a:buNone/>
                      </a:pPr>
                      <a:r>
                        <a:rPr lang="en-US"/>
                        <a:t>Kali</a:t>
                      </a:r>
                      <a:endParaRPr lang="en-US"/>
                    </a:p>
                  </a:txBody>
                  <a:tcPr/>
                </a:tc>
                <a:tc>
                  <a:txBody>
                    <a:bodyPr/>
                    <a:p>
                      <a:pPr>
                        <a:buNone/>
                      </a:pPr>
                      <a:r>
                        <a:rPr lang="en-US"/>
                        <a:t>CentOS</a:t>
                      </a:r>
                      <a:endParaRPr lang="en-US"/>
                    </a:p>
                  </a:txBody>
                  <a:tcPr/>
                </a:tc>
                <a:tc>
                  <a:txBody>
                    <a:bodyPr/>
                    <a:p>
                      <a:pPr>
                        <a:buNone/>
                      </a:pPr>
                      <a:r>
                        <a:rPr lang="en-US"/>
                        <a:t>OpenSUSE</a:t>
                      </a:r>
                      <a:endParaRPr lang="en-US"/>
                    </a:p>
                  </a:txBody>
                  <a:tcPr/>
                </a:tc>
              </a:tr>
              <a:tr h="605155">
                <a:tc>
                  <a:txBody>
                    <a:bodyPr/>
                    <a:p>
                      <a:pPr>
                        <a:buNone/>
                      </a:pPr>
                      <a:r>
                        <a:rPr lang="en-US"/>
                        <a:t>Parrot</a:t>
                      </a:r>
                      <a:endParaRPr lang="en-US"/>
                    </a:p>
                  </a:txBody>
                  <a:tcPr/>
                </a:tc>
                <a:tc>
                  <a:txBody>
                    <a:bodyPr/>
                    <a:p>
                      <a:pPr>
                        <a:buNone/>
                      </a:pPr>
                      <a:r>
                        <a:rPr lang="en-US"/>
                        <a:t>Oracle Linux</a:t>
                      </a:r>
                      <a:endParaRPr lang="en-US"/>
                    </a:p>
                  </a:txBody>
                  <a:tcPr/>
                </a:tc>
                <a:tc>
                  <a:txBody>
                    <a:bodyPr/>
                    <a:p>
                      <a:pPr>
                        <a:buNone/>
                      </a:pPr>
                      <a:r>
                        <a:rPr lang="en-US"/>
                        <a:t>SLE</a:t>
                      </a:r>
                      <a:endParaRPr lang="en-US"/>
                    </a:p>
                  </a:txBody>
                  <a:tcPr/>
                </a:tc>
              </a:tr>
              <a:tr h="605155">
                <a:tc>
                  <a:txBody>
                    <a:bodyPr/>
                    <a:p>
                      <a:pPr>
                        <a:buNone/>
                      </a:pPr>
                      <a:r>
                        <a:rPr lang="en-US"/>
                        <a:t>CSI Linux</a:t>
                      </a:r>
                      <a:endParaRPr lang="en-US"/>
                    </a:p>
                  </a:txBody>
                  <a:tcPr/>
                </a:tc>
                <a:tc>
                  <a:txBody>
                    <a:bodyPr/>
                    <a:p>
                      <a:pPr>
                        <a:buNone/>
                      </a:pPr>
                      <a:r>
                        <a:rPr lang="en-US"/>
                        <a:t>Rocky Linux</a:t>
                      </a:r>
                      <a:endParaRPr lang="en-US"/>
                    </a:p>
                  </a:txBody>
                  <a:tcPr/>
                </a:tc>
                <a:tc>
                  <a:txBody>
                    <a:bodyPr/>
                    <a:p>
                      <a:pPr>
                        <a:buNone/>
                      </a:pPr>
                      <a:r>
                        <a:rPr lang="en-US"/>
                        <a:t>open SUSE Leap</a:t>
                      </a:r>
                      <a:endParaRPr lang="en-US"/>
                    </a:p>
                  </a:txBody>
                  <a:tcPr/>
                </a:tc>
              </a:tr>
              <a:tr h="605155">
                <a:tc>
                  <a:txBody>
                    <a:bodyPr/>
                    <a:p>
                      <a:pPr>
                        <a:buNone/>
                      </a:pPr>
                      <a:r>
                        <a:rPr lang="en-US"/>
                        <a:t>Linux Mint</a:t>
                      </a:r>
                      <a:endParaRPr lang="en-US"/>
                    </a:p>
                  </a:txBody>
                  <a:tcPr/>
                </a:tc>
                <a:tc>
                  <a:txBody>
                    <a:bodyPr/>
                    <a:p>
                      <a:pPr>
                        <a:buNone/>
                      </a:pPr>
                      <a:r>
                        <a:rPr lang="en-US"/>
                        <a:t>Fedora Workstation</a:t>
                      </a:r>
                      <a:endParaRPr lang="en-US"/>
                    </a:p>
                  </a:txBody>
                  <a:tcPr/>
                </a:tc>
                <a:tc>
                  <a:txBody>
                    <a:bodyPr/>
                    <a:p>
                      <a:pPr>
                        <a:buNone/>
                      </a:pPr>
                      <a:r>
                        <a:rPr lang="en-US" altLang="en-US"/>
                        <a:t>openSUSE Tumbleweed</a:t>
                      </a:r>
                      <a:endParaRPr lang="en-US" altLang="en-US"/>
                    </a:p>
                  </a:txBody>
                  <a:tcPr/>
                </a:tc>
              </a:tr>
            </a:tbl>
          </a:graphicData>
        </a:graphic>
      </p:graphicFrame>
    </p:spTree>
    <p:custDataLst>
      <p:tags r:id="rId1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2" name="图片 51" descr="VCG21128005867512"/>
          <p:cNvPicPr>
            <a:picLocks noChangeAspect="1"/>
          </p:cNvPicPr>
          <p:nvPr/>
        </p:nvPicPr>
        <p:blipFill>
          <a:blip r:embed="rId1">
            <a:alphaModFix amt="20000"/>
          </a:blip>
          <a:stretch>
            <a:fillRect/>
          </a:stretch>
        </p:blipFill>
        <p:spPr>
          <a:xfrm>
            <a:off x="4445" y="0"/>
            <a:ext cx="12160885" cy="6857365"/>
          </a:xfrm>
          <a:prstGeom prst="rect">
            <a:avLst/>
          </a:prstGeom>
        </p:spPr>
      </p:pic>
      <p:sp>
        <p:nvSpPr>
          <p:cNvPr id="41" name="任意多边形: 形状 138"/>
          <p:cNvSpPr/>
          <p:nvPr>
            <p:custDataLst>
              <p:tags r:id="rId2"/>
            </p:custDataLst>
          </p:nvPr>
        </p:nvSpPr>
        <p:spPr>
          <a:xfrm>
            <a:off x="308610" y="503873"/>
            <a:ext cx="11576685" cy="585025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cs typeface="Inter" panose="02000503000000020004" charset="0"/>
            </a:endParaRPr>
          </a:p>
        </p:txBody>
      </p:sp>
      <p:sp>
        <p:nvSpPr>
          <p:cNvPr id="5" name="任意多边形: 形状 21"/>
          <p:cNvSpPr/>
          <p:nvPr>
            <p:custDataLst>
              <p:tags r:id="rId3"/>
            </p:custDataLst>
          </p:nvPr>
        </p:nvSpPr>
        <p:spPr>
          <a:xfrm rot="16200000" flipV="1">
            <a:off x="-2199640"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0" name="组合 29"/>
          <p:cNvGrpSpPr/>
          <p:nvPr/>
        </p:nvGrpSpPr>
        <p:grpSpPr>
          <a:xfrm>
            <a:off x="317818" y="176530"/>
            <a:ext cx="11556365" cy="135890"/>
            <a:chOff x="625" y="278"/>
            <a:chExt cx="18199" cy="214"/>
          </a:xfrm>
        </p:grpSpPr>
        <p:sp>
          <p:nvSpPr>
            <p:cNvPr id="24" name="任意多边形: 形状 21"/>
            <p:cNvSpPr/>
            <p:nvPr>
              <p:custDataLst>
                <p:tags r:id="rId4"/>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9" name="直接连接符 8"/>
            <p:cNvCxnSpPr/>
            <p:nvPr>
              <p:custDataLst>
                <p:tags r:id="rId5"/>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6"/>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rot="10800000">
            <a:off x="317818" y="6526530"/>
            <a:ext cx="11556365" cy="135890"/>
            <a:chOff x="625" y="278"/>
            <a:chExt cx="18199" cy="214"/>
          </a:xfrm>
        </p:grpSpPr>
        <p:sp>
          <p:nvSpPr>
            <p:cNvPr id="32" name="任意多边形: 形状 21"/>
            <p:cNvSpPr/>
            <p:nvPr>
              <p:custDataLst>
                <p:tags r:id="rId7"/>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34" name="直接连接符 33"/>
            <p:cNvCxnSpPr/>
            <p:nvPr>
              <p:custDataLst>
                <p:tags r:id="rId8"/>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9"/>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6" name="任意多边形: 形状 21"/>
          <p:cNvSpPr/>
          <p:nvPr>
            <p:custDataLst>
              <p:tags r:id="rId10"/>
            </p:custDataLst>
          </p:nvPr>
        </p:nvSpPr>
        <p:spPr>
          <a:xfrm rot="5400000" flipH="1" flipV="1">
            <a:off x="9685655"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6" name="Text Box 5"/>
          <p:cNvSpPr txBox="1"/>
          <p:nvPr/>
        </p:nvSpPr>
        <p:spPr>
          <a:xfrm>
            <a:off x="2240280" y="577215"/>
            <a:ext cx="7150735" cy="460375"/>
          </a:xfrm>
          <a:prstGeom prst="rect">
            <a:avLst/>
          </a:prstGeom>
          <a:noFill/>
        </p:spPr>
        <p:txBody>
          <a:bodyPr wrap="square" rtlCol="0">
            <a:spAutoFit/>
          </a:bodyPr>
          <a:p>
            <a:pPr algn="ctr"/>
            <a:r>
              <a:rPr lang="en-US" sz="2400">
                <a:solidFill>
                  <a:schemeClr val="bg2"/>
                </a:solidFill>
              </a:rPr>
              <a:t>User Interface</a:t>
            </a:r>
            <a:endParaRPr lang="en-US" sz="2400">
              <a:solidFill>
                <a:schemeClr val="bg2"/>
              </a:solidFill>
            </a:endParaRPr>
          </a:p>
        </p:txBody>
      </p:sp>
      <p:graphicFrame>
        <p:nvGraphicFramePr>
          <p:cNvPr id="2" name="Table 1"/>
          <p:cNvGraphicFramePr/>
          <p:nvPr>
            <p:custDataLst>
              <p:tags r:id="rId11"/>
            </p:custDataLst>
          </p:nvPr>
        </p:nvGraphicFramePr>
        <p:xfrm>
          <a:off x="1828800" y="1435100"/>
          <a:ext cx="8533130" cy="3619500"/>
        </p:xfrm>
        <a:graphic>
          <a:graphicData uri="http://schemas.openxmlformats.org/drawingml/2006/table">
            <a:tbl>
              <a:tblPr firstRow="1" bandRow="1">
                <a:tableStyleId>{5C22544A-7EE6-4342-B048-85BDC9FD1C3A}</a:tableStyleId>
              </a:tblPr>
              <a:tblGrid>
                <a:gridCol w="4266565"/>
                <a:gridCol w="4266565"/>
              </a:tblGrid>
              <a:tr h="904875">
                <a:tc>
                  <a:txBody>
                    <a:bodyPr/>
                    <a:p>
                      <a:pPr algn="ctr">
                        <a:buNone/>
                      </a:pPr>
                      <a:r>
                        <a:rPr lang="en-US"/>
                        <a:t>Windows</a:t>
                      </a:r>
                      <a:endParaRPr lang="en-US"/>
                    </a:p>
                  </a:txBody>
                  <a:tcPr/>
                </a:tc>
                <a:tc>
                  <a:txBody>
                    <a:bodyPr/>
                    <a:p>
                      <a:pPr algn="ctr">
                        <a:buNone/>
                      </a:pPr>
                      <a:r>
                        <a:rPr lang="en-US"/>
                        <a:t>Linux</a:t>
                      </a:r>
                      <a:endParaRPr lang="en-US"/>
                    </a:p>
                  </a:txBody>
                  <a:tcPr/>
                </a:tc>
              </a:tr>
              <a:tr h="904875">
                <a:tc>
                  <a:txBody>
                    <a:bodyPr/>
                    <a:p>
                      <a:pPr>
                        <a:buNone/>
                      </a:pPr>
                      <a:r>
                        <a:rPr lang="en-US"/>
                        <a:t>Windows shell, Explorer</a:t>
                      </a:r>
                      <a:endParaRPr lang="en-US"/>
                    </a:p>
                  </a:txBody>
                  <a:tcPr/>
                </a:tc>
                <a:tc>
                  <a:txBody>
                    <a:bodyPr/>
                    <a:p>
                      <a:pPr>
                        <a:buNone/>
                      </a:pPr>
                      <a:r>
                        <a:rPr lang="en-US"/>
                        <a:t>GNOME, xfce, KDE</a:t>
                      </a:r>
                      <a:endParaRPr lang="en-US"/>
                    </a:p>
                  </a:txBody>
                  <a:tcPr/>
                </a:tc>
              </a:tr>
              <a:tr h="904875">
                <a:tc>
                  <a:txBody>
                    <a:bodyPr/>
                    <a:p>
                      <a:pPr>
                        <a:buNone/>
                      </a:pPr>
                      <a:r>
                        <a:rPr lang="en-US" altLang="en-US"/>
                        <a:t>BIOS/UEFI → MBR/GPT → BOOTMGR → Kernel + SMSS.exe → Winlogon/Explorer</a:t>
                      </a:r>
                      <a:endParaRPr lang="en-US" altLang="en-US"/>
                    </a:p>
                  </a:txBody>
                  <a:tcPr/>
                </a:tc>
                <a:tc>
                  <a:txBody>
                    <a:bodyPr/>
                    <a:p>
                      <a:pPr>
                        <a:buNone/>
                      </a:pPr>
                      <a:r>
                        <a:rPr lang="en-US" altLang="en-US"/>
                        <a:t>BIOS/UEFI → MBR/GPT → GRUB → Kernel → Init system (systemd, SysVinit, Upstart)</a:t>
                      </a:r>
                      <a:endParaRPr lang="en-US" altLang="en-US"/>
                    </a:p>
                  </a:txBody>
                  <a:tcPr/>
                </a:tc>
              </a:tr>
              <a:tr h="904875">
                <a:tc>
                  <a:txBody>
                    <a:bodyPr/>
                    <a:p>
                      <a:pPr>
                        <a:buNone/>
                      </a:pPr>
                      <a:r>
                        <a:rPr lang="en-US"/>
                        <a:t>Explorer.exe </a:t>
                      </a:r>
                      <a:endParaRPr lang="en-US"/>
                    </a:p>
                  </a:txBody>
                  <a:tcPr/>
                </a:tc>
                <a:tc>
                  <a:txBody>
                    <a:bodyPr/>
                    <a:p>
                      <a:pPr>
                        <a:buNone/>
                      </a:pPr>
                      <a:r>
                        <a:rPr lang="en-US"/>
                        <a:t>RUNLEVEL 3 yoki 5 </a:t>
                      </a:r>
                      <a:endParaRPr lang="en-US"/>
                    </a:p>
                    <a:p>
                      <a:pPr>
                        <a:buNone/>
                      </a:pPr>
                      <a:r>
                        <a:rPr lang="en-US"/>
                        <a:t>Grafik turi yoki Console turi orqali boot bo’ladi.</a:t>
                      </a:r>
                      <a:endParaRPr lang="en-US"/>
                    </a:p>
                  </a:txBody>
                  <a:tcPr/>
                </a:tc>
              </a:tr>
            </a:tbl>
          </a:graphicData>
        </a:graphic>
      </p:graphicFrame>
    </p:spTree>
    <p:custDataLst>
      <p:tags r:id="rId1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2" name="图片 51" descr="VCG21128005867512"/>
          <p:cNvPicPr>
            <a:picLocks noChangeAspect="1"/>
          </p:cNvPicPr>
          <p:nvPr/>
        </p:nvPicPr>
        <p:blipFill>
          <a:blip r:embed="rId1">
            <a:alphaModFix amt="20000"/>
          </a:blip>
          <a:stretch>
            <a:fillRect/>
          </a:stretch>
        </p:blipFill>
        <p:spPr>
          <a:xfrm>
            <a:off x="4445" y="0"/>
            <a:ext cx="12160885" cy="6857365"/>
          </a:xfrm>
          <a:prstGeom prst="rect">
            <a:avLst/>
          </a:prstGeom>
        </p:spPr>
      </p:pic>
      <p:sp>
        <p:nvSpPr>
          <p:cNvPr id="41" name="任意多边形: 形状 138"/>
          <p:cNvSpPr/>
          <p:nvPr>
            <p:custDataLst>
              <p:tags r:id="rId2"/>
            </p:custDataLst>
          </p:nvPr>
        </p:nvSpPr>
        <p:spPr>
          <a:xfrm>
            <a:off x="308610" y="503873"/>
            <a:ext cx="11576685" cy="585025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cs typeface="Inter" panose="02000503000000020004" charset="0"/>
            </a:endParaRPr>
          </a:p>
        </p:txBody>
      </p:sp>
      <p:sp>
        <p:nvSpPr>
          <p:cNvPr id="5" name="任意多边形: 形状 21"/>
          <p:cNvSpPr/>
          <p:nvPr>
            <p:custDataLst>
              <p:tags r:id="rId3"/>
            </p:custDataLst>
          </p:nvPr>
        </p:nvSpPr>
        <p:spPr>
          <a:xfrm rot="16200000" flipV="1">
            <a:off x="-2199640"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0" name="组合 29"/>
          <p:cNvGrpSpPr/>
          <p:nvPr/>
        </p:nvGrpSpPr>
        <p:grpSpPr>
          <a:xfrm>
            <a:off x="317818" y="176530"/>
            <a:ext cx="11556365" cy="135890"/>
            <a:chOff x="625" y="278"/>
            <a:chExt cx="18199" cy="214"/>
          </a:xfrm>
        </p:grpSpPr>
        <p:sp>
          <p:nvSpPr>
            <p:cNvPr id="24" name="任意多边形: 形状 21"/>
            <p:cNvSpPr/>
            <p:nvPr>
              <p:custDataLst>
                <p:tags r:id="rId4"/>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9" name="直接连接符 8"/>
            <p:cNvCxnSpPr/>
            <p:nvPr>
              <p:custDataLst>
                <p:tags r:id="rId5"/>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6"/>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rot="10800000">
            <a:off x="317818" y="6526530"/>
            <a:ext cx="11556365" cy="135890"/>
            <a:chOff x="625" y="278"/>
            <a:chExt cx="18199" cy="214"/>
          </a:xfrm>
        </p:grpSpPr>
        <p:sp>
          <p:nvSpPr>
            <p:cNvPr id="32" name="任意多边形: 形状 21"/>
            <p:cNvSpPr/>
            <p:nvPr>
              <p:custDataLst>
                <p:tags r:id="rId7"/>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34" name="直接连接符 33"/>
            <p:cNvCxnSpPr/>
            <p:nvPr>
              <p:custDataLst>
                <p:tags r:id="rId8"/>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9"/>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6" name="任意多边形: 形状 21"/>
          <p:cNvSpPr/>
          <p:nvPr>
            <p:custDataLst>
              <p:tags r:id="rId10"/>
            </p:custDataLst>
          </p:nvPr>
        </p:nvSpPr>
        <p:spPr>
          <a:xfrm rot="5400000" flipH="1" flipV="1">
            <a:off x="9685655"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6" name="Text Box 5"/>
          <p:cNvSpPr txBox="1"/>
          <p:nvPr/>
        </p:nvSpPr>
        <p:spPr>
          <a:xfrm>
            <a:off x="2240280" y="577215"/>
            <a:ext cx="7150735" cy="460375"/>
          </a:xfrm>
          <a:prstGeom prst="rect">
            <a:avLst/>
          </a:prstGeom>
          <a:noFill/>
        </p:spPr>
        <p:txBody>
          <a:bodyPr wrap="square" rtlCol="0">
            <a:spAutoFit/>
          </a:bodyPr>
          <a:p>
            <a:pPr algn="ctr"/>
            <a:r>
              <a:rPr lang="en-US" sz="2400">
                <a:solidFill>
                  <a:schemeClr val="bg2"/>
                </a:solidFill>
              </a:rPr>
              <a:t>Exiftool</a:t>
            </a:r>
            <a:endParaRPr lang="en-US" sz="2400">
              <a:solidFill>
                <a:schemeClr val="bg2"/>
              </a:solidFill>
            </a:endParaRPr>
          </a:p>
        </p:txBody>
      </p:sp>
      <p:sp>
        <p:nvSpPr>
          <p:cNvPr id="3" name="Text Box 2"/>
          <p:cNvSpPr txBox="1"/>
          <p:nvPr/>
        </p:nvSpPr>
        <p:spPr>
          <a:xfrm>
            <a:off x="6322695" y="1075055"/>
            <a:ext cx="5290185" cy="4946650"/>
          </a:xfrm>
          <a:prstGeom prst="rect">
            <a:avLst/>
          </a:prstGeom>
          <a:noFill/>
        </p:spPr>
        <p:txBody>
          <a:bodyPr wrap="square" rtlCol="0">
            <a:noAutofit/>
          </a:bodyPr>
          <a:p>
            <a:r>
              <a:rPr lang="en-US">
                <a:solidFill>
                  <a:schemeClr val="bg2"/>
                </a:solidFill>
                <a:sym typeface="+mn-ea"/>
              </a:rPr>
              <a:t>Exiftool - bu forensic (investigatsiya, tadqiqot) jarayonida rasm va fayllardan unga tegishli bo’lgan malumotlarni olish uchun foydalaniladigan Asosan linux uchun dasturlangan shell orqali ishlaydigan dastur.</a:t>
            </a:r>
            <a:br>
              <a:rPr lang="en-US">
                <a:solidFill>
                  <a:schemeClr val="bg2"/>
                </a:solidFill>
                <a:sym typeface="+mn-ea"/>
              </a:rPr>
            </a:br>
            <a:br>
              <a:rPr lang="en-US">
                <a:solidFill>
                  <a:schemeClr val="bg2"/>
                </a:solidFill>
                <a:sym typeface="+mn-ea"/>
              </a:rPr>
            </a:br>
            <a:r>
              <a:rPr lang="en-US">
                <a:solidFill>
                  <a:schemeClr val="bg2"/>
                </a:solidFill>
                <a:sym typeface="+mn-ea"/>
              </a:rPr>
              <a:t>O’rnatilish uchun : </a:t>
            </a:r>
            <a:r>
              <a:rPr lang="en-US" altLang="en-US">
                <a:solidFill>
                  <a:schemeClr val="bg2"/>
                </a:solidFill>
                <a:sym typeface="+mn-ea"/>
              </a:rPr>
              <a:t>sudo apt-get install libimage-exiftool-perl</a:t>
            </a:r>
            <a:endParaRPr lang="en-US" altLang="en-US">
              <a:solidFill>
                <a:schemeClr val="bg2"/>
              </a:solidFill>
            </a:endParaRPr>
          </a:p>
          <a:p>
            <a:r>
              <a:rPr lang="en-US" altLang="en-US">
                <a:solidFill>
                  <a:schemeClr val="bg2"/>
                </a:solidFill>
                <a:sym typeface="+mn-ea"/>
              </a:rPr>
              <a:t>O’rnatilgandan so’ng: exiftool file</a:t>
            </a:r>
            <a:endParaRPr lang="en-US" altLang="en-US">
              <a:solidFill>
                <a:schemeClr val="bg2"/>
              </a:solidFill>
            </a:endParaRPr>
          </a:p>
        </p:txBody>
      </p:sp>
      <p:pic>
        <p:nvPicPr>
          <p:cNvPr id="7" name="Picture 6"/>
          <p:cNvPicPr/>
          <p:nvPr/>
        </p:nvPicPr>
        <p:blipFill>
          <a:blip r:embed="rId11"/>
          <a:stretch>
            <a:fillRect/>
          </a:stretch>
        </p:blipFill>
        <p:spPr>
          <a:xfrm>
            <a:off x="558165" y="1075055"/>
            <a:ext cx="4493895" cy="5161280"/>
          </a:xfrm>
          <a:prstGeom prst="rect">
            <a:avLst/>
          </a:prstGeom>
        </p:spPr>
      </p:pic>
    </p:spTree>
    <p:custDataLst>
      <p:tags r:id="rId1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26.xml><?xml version="1.0" encoding="utf-8"?>
<p:tagLst xmlns:p="http://schemas.openxmlformats.org/presentationml/2006/main">
  <p:tag name="KSO_WM_UNIT_TEXT_FILL_FORE_SCHEMECOLOR_INDEX_BRIGHTNESS" val="0"/>
  <p:tag name="KSO_WM_UNIT_TEXT_FILL_FORE_SCHEMECOLOR_INDEX" val="16"/>
  <p:tag name="KSO_WM_UNIT_TEXT_FILL_TYPE" val="1"/>
</p:tagLst>
</file>

<file path=ppt/tags/tag127.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BRIGHTNESS" val="0"/>
  <p:tag name="KSO_WM_UNIT_LINE_FORE_SCHEMECOLOR_INDEX" val="6"/>
  <p:tag name="KSO_WM_UNIT_LINE_FILL_TYPE" val="2"/>
</p:tagLst>
</file>

<file path=ppt/tags/tag128.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29.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30.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131.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132.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33.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34.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35.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36.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3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38.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39.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140.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141.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2.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5.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8.xml><?xml version="1.0" encoding="utf-8"?>
<p:tagLst xmlns:p="http://schemas.openxmlformats.org/presentationml/2006/main">
  <p:tag name="KSO_WM_UNIT_TEXT_FILL_FORE_SCHEMECOLOR_INDEX_BRIGHTNESS" val="-0.35"/>
  <p:tag name="KSO_WM_UNIT_TEXT_FILL_FORE_SCHEMECOLOR_INDEX" val="14"/>
  <p:tag name="KSO_WM_UNIT_TEXT_FILL_TYPE" val="1"/>
</p:tagLst>
</file>

<file path=ppt/tags/tag14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0.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5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2.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5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4.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5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7.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5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9.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6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1.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6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3.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5.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7.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9.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1.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4.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6.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7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8.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7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0.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81.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82.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83.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84.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85.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86.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8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88.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189.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190.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91.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92.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9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9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95.xml><?xml version="1.0" encoding="utf-8"?>
<p:tagLst xmlns:p="http://schemas.openxmlformats.org/presentationml/2006/main">
  <p:tag name="TABLE_ENDDRAG_ORIGIN_RECT" val="671*246"/>
  <p:tag name="TABLE_ENDDRAG_RECT" val="144*107*671*246"/>
</p:tagLst>
</file>

<file path=ppt/tags/tag19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97.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BRIGHTNESS" val="0"/>
  <p:tag name="KSO_WM_UNIT_LINE_FORE_SCHEMECOLOR_INDEX" val="6"/>
  <p:tag name="KSO_WM_UNIT_LINE_FILL_TYPE" val="2"/>
</p:tagLst>
</file>

<file path=ppt/tags/tag198.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99.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00.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201.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202.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03.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204.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205.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TABLE_ENDDRAG_ORIGIN_RECT" val="671*285"/>
  <p:tag name="TABLE_ENDDRAG_RECT" val="144*112*671*285"/>
</p:tagLst>
</file>

<file path=ppt/tags/tag20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08.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BRIGHTNESS" val="0"/>
  <p:tag name="KSO_WM_UNIT_LINE_FORE_SCHEMECOLOR_INDEX" val="6"/>
  <p:tag name="KSO_WM_UNIT_LINE_FILL_TYPE" val="2"/>
</p:tagLst>
</file>

<file path=ppt/tags/tag209.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10.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11.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212.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21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14.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215.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216.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17.xml><?xml version="1.0" encoding="utf-8"?>
<p:tagLst xmlns:p="http://schemas.openxmlformats.org/presentationml/2006/main">
  <p:tag name="TABLE_ENDDRAG_ORIGIN_RECT" val="671*284"/>
  <p:tag name="TABLE_ENDDRAG_RECT" val="144*113*671*284"/>
</p:tagLst>
</file>

<file path=ppt/tags/tag21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9.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BRIGHTNESS" val="0"/>
  <p:tag name="KSO_WM_UNIT_LINE_FORE_SCHEMECOLOR_INDEX" val="6"/>
  <p:tag name="KSO_WM_UNIT_LINE_FILL_TYPE" val="2"/>
</p:tagLst>
</file>

<file path=ppt/tags/tag220.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21.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22.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223.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22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25.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226.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22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2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29.xml><?xml version="1.0" encoding="utf-8"?>
<p:tagLst xmlns:p="http://schemas.openxmlformats.org/presentationml/2006/main">
  <p:tag name="COMMONDATA" val="eyJoZGlkIjoiMmNmYmEwOWQ4Y2Q0M2IxMGZkNjI4ZjhkZDQyNzg1OTYifQ=="/>
  <p:tag name="KSO_WPP_MARK_KEY" val="37523c5a-f9bd-4157-ab56-121979c0b78d"/>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Inter"/>
        <a:ea typeface="Inter Black"/>
        <a:cs typeface=""/>
      </a:majorFont>
      <a:minorFont>
        <a:latin typeface="Inter"/>
        <a:ea typeface="Inter Black"/>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0F1423"/>
      </a:dk2>
      <a:lt2>
        <a:srgbClr val="FFFFFF"/>
      </a:lt2>
      <a:accent1>
        <a:srgbClr val="4675FC"/>
      </a:accent1>
      <a:accent2>
        <a:srgbClr val="4589FB"/>
      </a:accent2>
      <a:accent3>
        <a:srgbClr val="54A6FB"/>
      </a:accent3>
      <a:accent4>
        <a:srgbClr val="47B2FA"/>
      </a:accent4>
      <a:accent5>
        <a:srgbClr val="4AC7F9"/>
      </a:accent5>
      <a:accent6>
        <a:srgbClr val="4DDBF8"/>
      </a:accent6>
      <a:hlink>
        <a:srgbClr val="0563C1"/>
      </a:hlink>
      <a:folHlink>
        <a:srgbClr val="954D72"/>
      </a:folHlink>
    </a:clrScheme>
    <a:fontScheme name="自定义 9">
      <a:majorFont>
        <a:latin typeface="Inter"/>
        <a:ea typeface="Inter Black"/>
        <a:cs typeface=""/>
      </a:majorFont>
      <a:minorFont>
        <a:latin typeface="Inter"/>
        <a:ea typeface="Inter Black"/>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Inter Black"/>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Black"/>
        <a:ea typeface=""/>
        <a:cs typeface=""/>
        <a:font script="Jpan" typeface="ＭＳ Ｐゴシック"/>
        <a:font script="Hang" typeface="맑은 고딕"/>
        <a:font script="Hans" typeface="Inter Black"/>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Inter Black"/>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Black"/>
        <a:ea typeface=""/>
        <a:cs typeface=""/>
        <a:font script="Jpan" typeface="ＭＳ Ｐゴシック"/>
        <a:font script="Hang" typeface="맑은 고딕"/>
        <a:font script="Hans" typeface="Inter Black"/>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10413</Words>
  <Application>WPS Presentation</Application>
  <PresentationFormat>宽屏</PresentationFormat>
  <Paragraphs>254</Paragraphs>
  <Slides>22</Slides>
  <Notes>4</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22</vt:i4>
      </vt:variant>
    </vt:vector>
  </HeadingPairs>
  <TitlesOfParts>
    <vt:vector size="47" baseType="lpstr">
      <vt:lpstr>Arial</vt:lpstr>
      <vt:lpstr>SimSun</vt:lpstr>
      <vt:lpstr>Wingdings</vt:lpstr>
      <vt:lpstr>Inter</vt:lpstr>
      <vt:lpstr>Inter Black</vt:lpstr>
      <vt:lpstr>Wingdings</vt:lpstr>
      <vt:lpstr>Helvetica</vt:lpstr>
      <vt:lpstr>Microsoft YaHei</vt:lpstr>
      <vt:lpstr>Arial Unicode MS</vt:lpstr>
      <vt:lpstr>Lato Regular</vt:lpstr>
      <vt:lpstr>Segoe Print</vt:lpstr>
      <vt:lpstr>Roboto Slab Bold</vt:lpstr>
      <vt:lpstr>Roboto Slab Regular</vt:lpstr>
      <vt:lpstr>Montserrat-Regular</vt:lpstr>
      <vt:lpstr>Helvetica Light</vt:lpstr>
      <vt:lpstr>Roboto Medium</vt:lpstr>
      <vt:lpstr>Open Sans Light</vt:lpstr>
      <vt:lpstr>Times New Roman</vt:lpstr>
      <vt:lpstr>Cascadia Code</vt:lpstr>
      <vt:lpstr>Verdana</vt:lpstr>
      <vt:lpstr>Nunito</vt:lpstr>
      <vt:lpstr>Arial Black</vt:lpstr>
      <vt:lpstr>Constantia</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Penterasting</cp:lastModifiedBy>
  <cp:revision>166</cp:revision>
  <dcterms:created xsi:type="dcterms:W3CDTF">2019-06-19T02:08:00Z</dcterms:created>
  <dcterms:modified xsi:type="dcterms:W3CDTF">2026-01-07T06:24:49Z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1033-12.2.0.23196</vt:lpwstr>
  </property>
  <property fmtid="{D5CDD505-2E9C-101B-9397-08002B2CF9AE}" pid="3" name="ICV">
    <vt:lpwstr>F57D4C33B72A4CDCAB594AB423867ABD_11</vt:lpwstr>
  </property>
</Properties>
</file>