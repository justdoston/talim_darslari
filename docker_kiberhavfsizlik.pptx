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9E87"/>
          </a:solidFill>
          <a:ln w="12700">
            <a:solidFill>
              <a:srgbClr val="009E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914400"/>
            <a:ext cx="2286000" cy="320040"/>
          </a:xfrm>
          <a:prstGeom prst="rect">
            <a:avLst>
              <a:gd name="adj" fmla="val 42857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371600"/>
            <a:ext cx="2286000" cy="320040"/>
          </a:xfrm>
          <a:prstGeom prst="rect">
            <a:avLst>
              <a:gd name="adj" fmla="val 42857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828800"/>
            <a:ext cx="2286000" cy="320040"/>
          </a:xfrm>
          <a:prstGeom prst="rect">
            <a:avLst>
              <a:gd name="adj" fmla="val 42857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286000"/>
            <a:ext cx="502920" cy="502920"/>
          </a:xfrm>
          <a:prstGeom prst="rect">
            <a:avLst>
              <a:gd name="adj" fmla="val 9091"/>
            </a:avLst>
          </a:prstGeom>
          <a:solidFill>
            <a:srgbClr val="1A73E8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2286000"/>
            <a:ext cx="502920" cy="502920"/>
          </a:xfrm>
          <a:prstGeom prst="rect">
            <a:avLst>
              <a:gd name="adj" fmla="val 9091"/>
            </a:avLst>
          </a:prstGeom>
          <a:solidFill>
            <a:srgbClr val="1A73E8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2286000"/>
            <a:ext cx="502920" cy="502920"/>
          </a:xfrm>
          <a:prstGeom prst="rect">
            <a:avLst>
              <a:gd name="adj" fmla="val 9091"/>
            </a:avLst>
          </a:prstGeom>
          <a:solidFill>
            <a:srgbClr val="1A73E8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926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🐳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800" kern="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68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Konteynerizatsiya va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Kiberhavfsizlik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davomiyligi: 1.5 soat  |  Daraja: O'rta  |  Amaliy mashg'ulotlar bilan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097280" cy="274320"/>
          </a:xfrm>
          <a:prstGeom prst="rect">
            <a:avLst>
              <a:gd name="adj" fmla="val 33333"/>
            </a:avLst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#Docker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91640" y="3749040"/>
            <a:ext cx="1097280" cy="274320"/>
          </a:xfrm>
          <a:prstGeom prst="rect">
            <a:avLst>
              <a:gd name="adj" fmla="val 33333"/>
            </a:avLst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#Container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0" y="3749040"/>
            <a:ext cx="1097280" cy="274320"/>
          </a:xfrm>
          <a:prstGeom prst="rect">
            <a:avLst>
              <a:gd name="adj" fmla="val 33333"/>
            </a:avLst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#DevSecOps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60520" y="3749040"/>
            <a:ext cx="1097280" cy="274320"/>
          </a:xfrm>
          <a:prstGeom prst="rect">
            <a:avLst>
              <a:gd name="adj" fmla="val 33333"/>
            </a:avLst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#Security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nima o'rganamiz?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109728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54864" cy="109728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143000"/>
            <a:ext cx="713232" cy="292608"/>
          </a:xfrm>
          <a:prstGeom prst="rect">
            <a:avLst>
              <a:gd name="adj" fmla="val 31250"/>
            </a:avLst>
          </a:prstGeom>
          <a:solidFill>
            <a:srgbClr val="050D1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1430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143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Docker nima?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5270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Tarix, arxitektura va asosiy tushunchalar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023360" cy="109728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54864" cy="109728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143000"/>
            <a:ext cx="713232" cy="292608"/>
          </a:xfrm>
          <a:prstGeom prst="rect">
            <a:avLst>
              <a:gd name="adj" fmla="val 31250"/>
            </a:avLst>
          </a:prstGeom>
          <a:solidFill>
            <a:srgbClr val="050D1A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1430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00:20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143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O'rnatish va sozlash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5270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Engine, CLI buyruqlari, birinchi konteyner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23360" cy="1097280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54864" cy="10972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2423160"/>
            <a:ext cx="713232" cy="292608"/>
          </a:xfrm>
          <a:prstGeom prst="rect">
            <a:avLst>
              <a:gd name="adj" fmla="val 31250"/>
            </a:avLst>
          </a:prstGeom>
          <a:solidFill>
            <a:srgbClr val="050D1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4231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00:40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423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Dockerfile va Images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807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yaratish, optimizatsiya, best practices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023360" cy="109728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31720"/>
            <a:ext cx="54864" cy="10972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2423160"/>
            <a:ext cx="713232" cy="292608"/>
          </a:xfrm>
          <a:prstGeom prst="rect">
            <a:avLst>
              <a:gd name="adj" fmla="val 31250"/>
            </a:avLst>
          </a:prstGeom>
          <a:solidFill>
            <a:srgbClr val="050D1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4231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423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Docker Security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2807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muammolari, CVE, hardening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4023360" cy="1097280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6160" y="3703320"/>
            <a:ext cx="713232" cy="292608"/>
          </a:xfrm>
          <a:prstGeom prst="rect">
            <a:avLst>
              <a:gd name="adj" fmla="val 31250"/>
            </a:avLst>
          </a:prstGeom>
          <a:solidFill>
            <a:srgbClr val="050D1A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7033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01:15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703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Amaliy mashg'ulotlar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0873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vazifalar, CTF elementlari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611880"/>
            <a:ext cx="4023360" cy="1097280"/>
          </a:xfrm>
          <a:prstGeom prst="rect">
            <a:avLst/>
          </a:prstGeom>
          <a:solidFill>
            <a:srgbClr val="2A3A4E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611880"/>
            <a:ext cx="54864" cy="109728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55280" y="3703320"/>
            <a:ext cx="713232" cy="292608"/>
          </a:xfrm>
          <a:prstGeom prst="rect">
            <a:avLst>
              <a:gd name="adj" fmla="val 31250"/>
            </a:avLst>
          </a:prstGeom>
          <a:solidFill>
            <a:srgbClr val="050D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37033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3703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Xulosa va savollar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92040" y="40873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nuqtalar, manbalar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Nima?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Konteynerizatsiya texnologiyasi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bu dasturlarni izolyatsiyalangan muhitda (konteyner) ishlatishga imkon beruvchi ochiq manbali platforma. 2013-yilda Solomon Hykes tomonidan yaratilgan.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23360" cy="123444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2029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23957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 va uning barcha bog'liqliklarini o'z ichiga oladi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023360" cy="123444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13248" y="2029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Tezlik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13248" y="23957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dan 10-100x tez ishga tushadi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4023360" cy="123444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24128" y="3447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Izolyatsiya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8130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konteyner alohida namespace da ishlaydi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4023360" cy="123444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13248" y="3447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Portabilnost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38130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machine" muammosi yo'q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Mashina vs Docker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Arxitektura farqlari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840480" cy="3749040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Mashina (VM)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3566160" cy="347472"/>
          </a:xfrm>
          <a:prstGeom prst="rect">
            <a:avLst/>
          </a:prstGeom>
          <a:solidFill>
            <a:srgbClr val="3A7BD5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08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929384"/>
            <a:ext cx="3566160" cy="347472"/>
          </a:xfrm>
          <a:prstGeom prst="rect">
            <a:avLst/>
          </a:prstGeom>
          <a:solidFill>
            <a:srgbClr val="2D5A8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93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(Linux)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50008"/>
            <a:ext cx="3566160" cy="347472"/>
          </a:xfrm>
          <a:prstGeom prst="rect">
            <a:avLst/>
          </a:prstGeom>
          <a:solidFill>
            <a:srgbClr val="3A7BD5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50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70632"/>
            <a:ext cx="3566160" cy="347472"/>
          </a:xfrm>
          <a:prstGeom prst="rect">
            <a:avLst/>
          </a:prstGeom>
          <a:solidFill>
            <a:srgbClr val="2D5A8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70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(Windows)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191256"/>
            <a:ext cx="35661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91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(VMware/KVM)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611880"/>
            <a:ext cx="35661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11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032504"/>
            <a:ext cx="3566160" cy="347472"/>
          </a:xfrm>
          <a:prstGeom prst="rect">
            <a:avLst/>
          </a:prstGeom>
          <a:solidFill>
            <a:srgbClr val="05102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325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005840"/>
            <a:ext cx="3840480" cy="374904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(Konteyner)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66360" y="1508760"/>
            <a:ext cx="356616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5087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 (App)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66360" y="2011680"/>
            <a:ext cx="356616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0116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 (App)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66360" y="2514600"/>
            <a:ext cx="356616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5146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 (App)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66360" y="3017520"/>
            <a:ext cx="3566160" cy="438912"/>
          </a:xfrm>
          <a:prstGeom prst="rect">
            <a:avLst/>
          </a:prstGeom>
          <a:solidFill>
            <a:srgbClr val="006B5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0175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66360" y="3520440"/>
            <a:ext cx="3566160" cy="438912"/>
          </a:xfrm>
          <a:prstGeom prst="rect">
            <a:avLst/>
          </a:prstGeom>
          <a:solidFill>
            <a:srgbClr val="004D40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5204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(Linux Kernel)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66360" y="4023360"/>
            <a:ext cx="3566160" cy="438912"/>
          </a:xfrm>
          <a:prstGeom prst="rect">
            <a:avLst/>
          </a:prstGeom>
          <a:solidFill>
            <a:srgbClr val="051020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40233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97680" y="2377440"/>
            <a:ext cx="548640" cy="5486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Arxitekturasi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komponentlar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840480" cy="128016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28016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07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Client (CLI)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build, run, pull kabi buyruqlarni bajaradi. REST API orqali Docker Daemon bilan muloqot qiladi.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3840480" cy="128016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60320"/>
            <a:ext cx="54864" cy="128016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70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Daemon (dockerd)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jarayon. Konteyner, image, tarmoq va volume larni boshqaradi.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1097280"/>
            <a:ext cx="3840480" cy="1280160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097280"/>
            <a:ext cx="54864" cy="12801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207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1600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Hub, AWS ECR, Harbor kabi image larni saqlash omborlari.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2560320"/>
            <a:ext cx="3840480" cy="128016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560320"/>
            <a:ext cx="54864" cy="12801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670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063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Izolyatsiyalangan jarayonlar. Linux namespaces va cgroups asosida ishlaydi.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1920240"/>
            <a:ext cx="731520" cy="54864"/>
          </a:xfrm>
          <a:prstGeom prst="rect">
            <a:avLst/>
          </a:prstGeom>
          <a:solidFill>
            <a:srgbClr val="8BA3BE"/>
          </a:solidFill>
          <a:ln w="12700">
            <a:solidFill>
              <a:srgbClr val="8BA3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1737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→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Arxitekturasi Client-Server modeliga asoslangan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O'rnatish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(Ubuntu/Debian)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837590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Eski versiyalarni o'chirish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remove docker docker-engine docker.io containerd runc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Kerakli paketlarni o'rnatish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ca-certificates curl gnupg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Docker GPG kalitini qo'shish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install -m 0755 -d /etc/apt/keyrings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https://download.docker.com/linux/ubuntu/gpg |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sudo gpg --dearmor -o /etc/apt/keyrings/docker.gpg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Repository ni qo'shish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"deb [arch=$(dpkg --print-architecture) signed-by=/etc/apt/keyrings/docker.gpg]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https://download.docker.com/linux/ubuntu $(lsb_release -cs) stable" |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sudo tee /etc/apt/sources.list.d/docker.list &gt; /dev/null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Docker ni o'rnatish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docker-ce docker-ce-cli containerd.io docker-compose-plugin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Tekshirish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docker run hello-world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Xavfsizlik eslatmasi: docker guruhiga qo'shilgan foydalanuvchi root imtiyozlariga ega bo'ladi!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Docker Buyruqlari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— Command Line Interface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424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nginx:latest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325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dan image yuklab olish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05840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424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18888" y="1325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mahalliy image larni ko'rsatish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700784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700784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737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80:80 nginx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20208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ishga tushirish (background)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700784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700784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737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20208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tushgan konteynerlar ro'yxati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395728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395728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432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2715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konteynerlar (to'xtatilganlar ham)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395728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395728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432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18888" y="2715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ni to'xtatish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090672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090672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1272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&lt;id&gt;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" y="34107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ni o'chirish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090672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090672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1272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nginx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18888" y="34107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ni o'chirish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785616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785616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822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/bin/bash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84048" y="41056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ichiga kirish (interaktiv)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785616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3785616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822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&lt;id&gt;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18888" y="41056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loglarini ko'rish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480560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4480560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5171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&lt;id&gt;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4048" y="48006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Batafsil ma'lumot (JSON format)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4480560"/>
            <a:ext cx="4160520" cy="603504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4480560"/>
            <a:ext cx="36576" cy="60350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18888" y="45171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stats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18888" y="48006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resurs monitoringi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yaratish uchun ko'rsatmalar fayli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30352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5084064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 - Python Flask ilovasi uchun misol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                    # Asosiy image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maintainer="security@example.com"  # Meta ma'lumot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version="1.0"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                             # Ish katalogi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                  # Fayllarni nusxalash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                                 # Barcha fayllarni nusxalash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useradd -m appuser &amp;&amp; \             # Root bo'lmagan foydalanuvchi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chown -R appuser:appuser /app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                             # Xavfsizlik: root dan chiqish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                              # Port ochish (hujjat uchun)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CMD curl -f http://localhost:5000/ || exit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                 # Konteyner ishga tushganda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15000" y="1005840"/>
            <a:ext cx="3154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005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image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1499616"/>
            <a:ext cx="3154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4996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14996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Buyruq bajarish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15000" y="1993392"/>
            <a:ext cx="3154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9933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COPY/ADD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9933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ko'chirish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487168"/>
            <a:ext cx="3154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4871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katalogi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2980944"/>
            <a:ext cx="3154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9809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9809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Muhit o'zgaruvchisi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3474720"/>
            <a:ext cx="3154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e'lon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3968496"/>
            <a:ext cx="3154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9684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9684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4462272"/>
            <a:ext cx="3154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4462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CMD/ENTRYPOINT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44622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tushirish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Qurish va Boshqarish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Tag, Push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8375904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 qurish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myapp:1.0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myapp:latest -f Dockerfile.prod 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 ni tag 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myapp:1.0 registry.example.com/myapp:1.0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myapp:latest myapp:stable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Hub ga yuborish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myusername/myapp:1.0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Private registry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login registry.example.com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registry.example.com/myapp:1.0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 qatlamlari (layers) ni ko'rish - XAVFSIZLIK UCHUN MUHIM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history myapp:1.0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myapp:1.0 | jq '.[].RootFS.Layers'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 ni skanerlash (Trivy bilan)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 myapp:1.0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Tavsiya: Har doim kichik, minimal base image ishlating (alpine, slim, distroless)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4617720"/>
            <a:ext cx="36576" cy="32004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konteynerli ilovalar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30352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508406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docker-compose.yml - Web + DB + Redis misoli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'3.8'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webapp: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"8080:5000"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DB_HOST=database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SECRET_KEY=${SECRET_KEY}     # .env fayldan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app-network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restart: unless-stopped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postgres:15-alpine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POSTGRES_DB: appdb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POSTGRES_USER: ${DB_USER}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${DB_PASS}  # Secrets!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postgres_data:/var/lib/postgresql/data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app-network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app-network: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driver: bridge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postgres_data: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15000" y="1005840"/>
            <a:ext cx="3154680" cy="576072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0424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06440" y="129844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servislarni ishga tushirish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15000" y="1673352"/>
            <a:ext cx="3154680" cy="576072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7099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06440" y="19659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servislarni to'xtatish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15000" y="2340864"/>
            <a:ext cx="3154680" cy="576072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3774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06440" y="263347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Servislar holatini ko'rish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15000" y="3008376"/>
            <a:ext cx="3154680" cy="576072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30449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06440" y="330098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loglarni kuzatish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15000" y="3675888"/>
            <a:ext cx="3154680" cy="576072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71246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scale web=3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06440" y="396849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Servisni ko'paytirish (scaling)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15000" y="4343400"/>
            <a:ext cx="3154680" cy="576072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37997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db psql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06440" y="463600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ichiga buyruq yuborish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Hayot: Netflix va Docker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arxitekturasi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005840"/>
          </a:xfrm>
          <a:prstGeom prst="rect">
            <a:avLst/>
          </a:prstGeom>
          <a:solidFill>
            <a:srgbClr val="1A0A0A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— 200+ million foydalanuvchi, 1000+ microservice, hammasini Docker Konteynerlarida ishlatadi!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1554480" cy="91440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48840"/>
            <a:ext cx="1554480" cy="5486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40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93392" y="2148840"/>
            <a:ext cx="1554480" cy="91440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2148840"/>
            <a:ext cx="1554480" cy="54864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2240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12464" y="2148840"/>
            <a:ext cx="1554480" cy="9144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2148840"/>
            <a:ext cx="155448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2240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31536" y="2148840"/>
            <a:ext cx="1554480" cy="914400"/>
          </a:xfrm>
          <a:prstGeom prst="rect">
            <a:avLst/>
          </a:prstGeom>
          <a:solidFill>
            <a:srgbClr val="2A3A4E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31536" y="2148840"/>
            <a:ext cx="155448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240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50608" y="2148840"/>
            <a:ext cx="1554480" cy="914400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2148840"/>
            <a:ext cx="155448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2240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200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Barcha mikroservislar 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8595360" cy="73152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20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/ Kubernetes Cluster (Orkestratsiya qatlamida Docker konteynerlari)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Tezkor deployment (minutlar o'rniga soniyalar)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Mustaqil scaling har bir servis uchun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Nosozliklarni izolyatsiya qilish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A/B testing osonlashadi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Tarmoq (Networking)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Konteynerlar o'rtasidagi aloqa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1188720" cy="68580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10058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Konteynerlar virtual switch orqali bog'lanadi. Host dan NAT orqali chiqish.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83080"/>
            <a:ext cx="1188720" cy="685800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830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17830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host tarmoq interfeysidan to'g'ridan-to'g'ri foydalanadi. Izolyatsiya yo'q!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60320"/>
            <a:ext cx="1188720" cy="685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603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2560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butunlay o'chirilgan. Maksimal izolyatsiya.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859536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37560"/>
            <a:ext cx="1188720" cy="68580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375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33375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uchun. Ko'p host lar orasida virtual tarmoq.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114800"/>
            <a:ext cx="1188720" cy="6858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148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macvlan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54480" y="41148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Konteynerga MAC manzil beriladi, to'g'ridan-to'g'ri fizik tarmoqda.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919472"/>
            <a:ext cx="837590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create --driver bridge my-network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--network=my-network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inspect my-network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548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🔐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XAVFSIZLIGI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Tahdidlar • Zaifliklar • Himoya usullari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Xavfsizlik Tahdidlari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Hujumchilar nima qidiradi?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69080" cy="11430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Konteynerdan host tizimiga chiqish. CVE-2019-5736 (runc zaiflik) bunday hujumga misol.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069080" cy="11430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0352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Zaharli Image lar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727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da 1000+ zararli image topilgan. Trojan, miner, backdoor o'z ichida.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4069080" cy="11430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" y="2395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Sizib chiqishi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87121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yoki environment o'zgaruvchilarida parollar, API kalitlar qoldirish.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304288"/>
            <a:ext cx="4069080" cy="11430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👑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03520" y="2395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Privilege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287121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root da ishlasa va escape bo'lsa — host tizimi butunlay buziladi.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602736"/>
            <a:ext cx="4069080" cy="11430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694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68680" y="36941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Tahdidlari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16966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Konteynerlar orasidagi lateral movement. Yetarli izolyatsiya bo'lmasa hujum tarqaladi.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602736"/>
            <a:ext cx="4069080" cy="114300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3694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303520" y="36941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416966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Ishonchsiz base image lar, kompromatlangan registry, build pipeline ga hujum.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CVE — Docker Zaifliklar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Tarixiy hujumlar va sabablari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1430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463040" cy="1143000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CVE-2019-5736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719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10789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 Container Escape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14630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Hujumchi konteyner ichidan runc bajariladigan faylini qayta yozib, host da root huquqiga ega bo'lishi mumkin.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23760" y="1463040"/>
            <a:ext cx="1554480" cy="384048"/>
          </a:xfrm>
          <a:prstGeom prst="rect">
            <a:avLst>
              <a:gd name="adj" fmla="val 11905"/>
            </a:avLst>
          </a:prstGeom>
          <a:solidFill>
            <a:srgbClr val="050D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runc 1.0-rc6+ ga yangilash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8595360" cy="11430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04288"/>
            <a:ext cx="1463040" cy="1143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957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CVE-2020-15257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2834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74520" y="2377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Privilege Escalation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74520" y="276148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shim API ga ulanish orqali konteyner cheklovlarini chetlab o'tish va privileged operatsiyalar bajarish.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2761488"/>
            <a:ext cx="1554480" cy="384048"/>
          </a:xfrm>
          <a:prstGeom prst="rect">
            <a:avLst>
              <a:gd name="adj" fmla="val 11905"/>
            </a:avLst>
          </a:prstGeom>
          <a:solidFill>
            <a:srgbClr val="050D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27614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containerd 1.3.9+ ga yangilash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02736"/>
            <a:ext cx="8595360" cy="11430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02736"/>
            <a:ext cx="1463040" cy="1143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941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CVE-2021-41091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4133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3159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874520" y="36758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File Permission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874520" y="40599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 orqali konteyner root fayl tizimiga o'rnatilgan fayllarga host non-root foydalanuvchisi kira oladi.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23760" y="4059936"/>
            <a:ext cx="1554480" cy="384048"/>
          </a:xfrm>
          <a:prstGeom prst="rect">
            <a:avLst>
              <a:gd name="adj" fmla="val 11905"/>
            </a:avLst>
          </a:prstGeom>
          <a:solidFill>
            <a:srgbClr val="050D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40599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Docker Engine 20.10.9+ ga yangilash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nvd.nist.gov | Har doim Docker va komponentlarni yangilang!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Xavfsizligi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 va Yomon amaliyotlar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XATO (Vulnerable)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44752"/>
            <a:ext cx="3895344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ubuntu:latest        # latest = nomuvofiq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ubuntu               # versiya yo'q!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 update &amp;&amp; apt install -y *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Parol to'g'ridan-to'g'ri!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DB_PASSWORD=secret123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API_KEY=sk-abc123xyz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/app               # Barcha fayllar (secrets bilan!)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Root huquqida ishlaydi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ko'rsatilmagan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chmod 777 /app        # Hammaga ruxsat!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TO'G'RI (Secure)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44752"/>
            <a:ext cx="3895344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python:3.11.6-slim   # Aniq versiya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gcr.io/distroless/python3  # Minimal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 update &amp;&amp; apt install -y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specific-package=1.2.3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rm -rf /var/lib/apt/lists/*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Secrets runtime da beriladi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 emas, Docker secrets ishlating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--chown=appuser:appuser . /app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.dockerignore faylini yarating!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useradd -r -u 1001 appuser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1001                 # Non-root!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curl -f http://localhost/ || exit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Xavfsizligi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ishga tushganda himoya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2971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837590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Xavfsiz docker run parametrlari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--read-only \                    # Fayl tizimi faqat o'qish uchun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--no-new-privileges \            # Imtiyoz oshirishni taqiqlash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--cap-drop=ALL \                 # Barcha Linux capabilities olib tashlash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--cap-add=NET_BIND_SERVICE \     # Faqat keraklilarni qo'shish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--security-opt=no-new-privileges:true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--security-opt seccomp=seccomp.json \  # Syscall filterlash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--user 1001:1001 \               # Non-root foydalanuvchi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--memory="256m" \                # RAM cheklash (DoS himoya)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--cpus="0.5" \                   # CPU cheklash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--pids-limit=100 \               # Jarayonlar soni cheklash (fork bomb)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--network=app-network \          # Faqat kerakli tarmoq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/data:/data:ro \              # Volume faqat o'qish (:ro)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myapp:1.0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114800"/>
            <a:ext cx="2788920" cy="804672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--read-only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4531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fayl tizimiga yozishni taqiqlaydi. Zararli kod fayl yoza olmaydi.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4114800"/>
            <a:ext cx="2788920" cy="804672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--cap-drop=ALL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44531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capabilities ni olib tashlaydi. Minimal imtiyoz printsipi.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4114800"/>
            <a:ext cx="2788920" cy="804672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--pids-limit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44531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bomb hujumidan himoya qiladi. Jarayonlar sonini cheklaydi.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Boshqarish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Parollar va API kalitlarni himoya qilish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HECH QACHON bunday qilmang: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DB_PASS=secret  |  ARG API_KEY=abc  |  COPY .env /app/  |  git commit -m 'added config'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8595360" cy="3017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64792"/>
            <a:ext cx="837590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1. Docker Secrets (Swarm mode)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"my_secret_password" | docker secret create db_password 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service create --secret db_password myapp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2. Environment variables (runtime da berish)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-e DB_PASS="$DB_PASS" myapp    # Shell muhitidan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3. .env fayl (HECH QACHON git ga qo'shilmasin!)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--env-file .env myapp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4. HashiCorp Vault bilan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Konteyner ishga tushganda Vault dan secret oladi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-e VAULT_ADDR=http://vault:8200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-e VAULT_TOKEN="$VAULT_TOKEN" myapp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5. .dockerignore faylida secretlarni chiqaring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.dockerignore: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*.key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*.pem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secrets/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git-secrets, trufflehog, gitleaks kabi toollar bilan kod bazasini skanerlang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Skanerlash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Zaifliklarni topish — Trivy, Snyk, Grype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8375904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Trivy — eng mashhur ochiq manbali scanner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O'rnatish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-sfL https://raw.githubusercontent.com/aquasecurity/trivy/main/contrib/install.sh | 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 skanerlash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 nginx:latest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 --severity HIGH,CRITICAL nginx:latest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 --format json nginx:latest &gt; report.json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 skanerlash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config Dockerfile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Namunaviy natija: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nginx:latest (debian 12.2)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Total: 24 (HIGH: 8, CRITICAL: 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┌─────────────────────┬────────────────┬──────────┐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│ Library             │ CVE            │ Severity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├─────────────────────┼────────────────┼──────────┤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│ openssl             │ CVE-2023-2975  │ HIGH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│ libssl3             │ CVE-2023-3817  │ MEDIUM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└─────────────────────┴────────────────┴──────────┘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Snyk (tijorat, bepul tier bor)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snyk container test nginx:latest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CI/CD ga integratsiya (GitHub Actions)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name: Scan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run: trivy image --exit-code 1 --severity CRITICAL myapp:SHA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maslahat: Har bir CI/CD pipeline da majburiy skanerlash qo'shing. CRITICAL topilsa build to'xtatilsin!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Bench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Docker Benchmark tekshiruvi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8375904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Bench Security — CIS benchmark asosida audit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--net host --pid host --userns host --cap-add audit_control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-e DOCKER_CONTENT_TRUST=$DOCKER_CONTENT_TRUST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/etc:/etc:ro -v /usr/bin/containerd:/usr/bin/containerd:ro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/usr/bin/runc:/usr/bin/runc:ro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/usr/lib/systemd:/usr/lib/systemd:ro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/var/lib:/var/lib:ro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/var/run/docker.sock:/var/run/docker.sock:ro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docker/docker-bench-security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Natija misoli: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[INFO] 1 - Host Configuration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[WARN] 1.1  - Ensure a separate partition for containers is used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[PASS] 1.2  - Ensure only trusted users control Docker daemon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[WARN] 2.1  - Ensure network traffic is restricted between containers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[PASS] 2.14 - Ensure containers are restricted from acquiring privileges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[WARN] 4.1  - Ensure a user for the container has been created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[PASS] 4.6  - Ensure HEALTHCHECK is used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Score: 78/100 — YAXSHI, lekin yaxshilash mumkin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636008"/>
            <a:ext cx="2011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636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konfiguratsiyasi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tekshiruv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4636008"/>
            <a:ext cx="2011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4636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daemon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 tekshiruv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4636008"/>
            <a:ext cx="2011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4636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fayllari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tekshiruv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4636008"/>
            <a:ext cx="2011680" cy="411480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4636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images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 tekshiruv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 — Namuna Hujum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konteynerdan chiqish (Lab muhiti)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solidFill>
            <a:srgbClr val="2A150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 faqat o'quv maqsadida! Ruxsatsiz tizimlarga qarshi qo'llanilsa — jinoyat!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8595360" cy="3456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837590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Stsenary: --privileged flag bilan ishga tushirilgan konteyner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ATTACKER: Konteyner ichida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Biz privileged konteyner ichidamiz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# uid=0(root) gid=0(root)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/proc/1/status | grep CapEff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CapEff: 0000003fffffffff  &lt;- barcha capabilities!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Host disk ni mount qilish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fdisk -l  # Host diskni ko'rish: /dev/sda1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/mnt/host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 /dev/sda1 /mnt/host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Host fayl tizimiga kirish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/mnt/host/etc/shadow  # Host parollari!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chroot /mnt/host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Persistence (davomiylik)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"attacker ALL=(ALL) NOPASSWD:ALL" &gt;&gt; /mnt/host/etc/sudoers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HIMOYA: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run --privileged FALSE!  # Hech qachon ishlatmang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Faqat zarur capabilities bering: --cap-add=NET_ADMIN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va Logging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Konteynerlarni kuzatish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23444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CPU, RAM, tarmoq monitoringi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60704"/>
            <a:ext cx="5440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133856"/>
            <a:ext cx="52212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stats --format 'table {{.Name}}\t{{.CPUPerc}}\t{{.MemUsage}}'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50008"/>
            <a:ext cx="8595360" cy="123444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cAdvisor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218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yig'ish va Grafana da vizualizatsiya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404872"/>
            <a:ext cx="5440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478024"/>
            <a:ext cx="52212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cadvisor -p 8080:8080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/var/run/docker.sock:/var/run/docker.sock google/cadvisor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94176"/>
            <a:ext cx="8595360" cy="123444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67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(Runtime Security)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5628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Shubhali xatti-harakatlarni real vaqtda aniqlash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749040"/>
            <a:ext cx="5440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3822192"/>
            <a:ext cx="52212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Podda faylga yozish anomaliya sifatida aniqlanadi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 -r /etc/falco/falco_rules.yaml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 (Elasticsearch + Logstash + Kibana) orqali markazlashtirilgan log yig'ish ham tavsiya etiladi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AMALIY MASHG'ULOT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xavfsiz konteyner | Vaqt: 15 daqiqa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1005840"/>
          </a:xfrm>
          <a:prstGeom prst="rect">
            <a:avLst/>
          </a:prstGeom>
          <a:solidFill>
            <a:srgbClr val="1A2940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320040" cy="3200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Muhit tekshiruvi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oching. docker version va docker info buyruqlarini bajaring. Docker versiyasi va OS ma'lumotlarini yozing.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097280"/>
            <a:ext cx="4480560" cy="1005840"/>
          </a:xfrm>
          <a:prstGeom prst="rect">
            <a:avLst/>
          </a:prstGeom>
          <a:solidFill>
            <a:srgbClr val="1A2940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1188720"/>
            <a:ext cx="320040" cy="3200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1887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konteyner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1572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-it ubuntu:22.04 /bin/bash buyrug'ini bajaring. Konteyner ichida whoami, hostname, ls / buyruqlarini ishlatib, host dan farqni koring.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4023360" cy="1005840"/>
          </a:xfrm>
          <a:prstGeom prst="rect">
            <a:avLst/>
          </a:prstGeom>
          <a:solidFill>
            <a:srgbClr val="1A2940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331720"/>
            <a:ext cx="320040" cy="3200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Izolyatsiya tekshiruvi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715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Ikkita alohida terminal oching, ikki xil konteyner ishga tushiring. Ularning hostname va IP manzillari farqli ekanini isbotlang.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2240280"/>
            <a:ext cx="4480560" cy="1005840"/>
          </a:xfrm>
          <a:prstGeom prst="rect">
            <a:avLst/>
          </a:prstGeom>
          <a:solidFill>
            <a:srgbClr val="1A2940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98848" y="2331720"/>
            <a:ext cx="320040" cy="3200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3317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forward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2715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-d -p 8080:80 nginx buyrug'ini bajaring. Brauzerda http://localhost:8080 ga kiring. Nginx sahifasi ko'rinishi kerak.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337560"/>
            <a:ext cx="85953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410712"/>
            <a:ext cx="8375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Yordam: Konteyner ID ni olish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--format '{{.ID}} {{.Names}} {{.Ports}}'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Konteyner IP ni ko'rish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&lt;ID&gt; | grep IPAddress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0A2A0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976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Maqsad: Konteyner izolyatsiyasini amalda his qiling. Konteyner o'chirilganda undagi o'zgarishlar yo'qolishini tekshiring!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AMALIY MASHG'ULOT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 Dockerfile yozish | Vaqt: 20 daqiqa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017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78992"/>
            <a:ext cx="837590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Topshiriq: Quyidagi ZAIF Dockerfile ni XAVFSIZ qiling!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------ ZAIF VERSIYA (buni tuzating!) ------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ubuntu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update &amp;&amp; apt-get install -y python3 python3-pip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/app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pip3 install flask requests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SECRET_KEY=mysuperpassword123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DATABASE_URL=postgresql://admin:password@db:5432/mydb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chmod 777 /app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["python3", "app.py"]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-------------------------------------------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Tekshirish: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docker build -t vulnerable-app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trivy image vulnerable-app   (zaifliklarni ko'ring)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docker history vulnerable-app  (qatlamlarni ko'ring)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Minimal base image ishlating (python:3.11-slim yoki alpine)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Aniq paket versiyalarini belgilang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4462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ENV da secret saqlashni to'xtating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4462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Non-root USER qo'shing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47640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.dockerignore fayl yarating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47640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HEALTHCHECK qo'shing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AMALIY MASHG'ULOT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auditi — Docker Bench | Vaqt: 15 daqiqa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1A2940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320040" cy="3200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Bench ishga tushirish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Quyidagi buyruqni bajaring va natijani saqlang. Nechta PASS, WARN, FAIL bor? Hisoblang.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76272"/>
            <a:ext cx="83759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--net host --pid host --userns host --cap-add audit_control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/etc:/etc:ro -v /var/run/docker.sock:/var/run/docker.sock:ro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docker/docker-bench-security 2&gt;/dev/null | tee bench-results.txt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Natijani filterlash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"\[WARN\]" bench-results.txt | head -20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"\[FAIL\]" bench-results.txt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4114800" cy="1188720"/>
          </a:xfrm>
          <a:prstGeom prst="rect">
            <a:avLst/>
          </a:prstGeom>
          <a:solidFill>
            <a:srgbClr val="1A2940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3520440"/>
            <a:ext cx="320040" cy="3200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Zaiflik skanerlash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9044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bilan 3 ta turli image ni skanerlang: ubuntu:latest, nginx:latest, python:3.6. Eng ko'p zaiflik qaysisin? Natijalarni jadvalga tuzing.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429000"/>
            <a:ext cx="4297680" cy="1188720"/>
          </a:xfrm>
          <a:prstGeom prst="rect">
            <a:avLst/>
          </a:prstGeom>
          <a:solidFill>
            <a:srgbClr val="1A2940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3520440"/>
            <a:ext cx="320040" cy="3200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520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 yozish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90448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Topgan zaifliklaringiz asosida qisqa xavfsizlik hisoboti tayyorlang. Muammolar va tavsiyalar ro'yxati. (Real hayotda pentester shu ishni qiladi)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solidFill>
            <a:srgbClr val="2A1A0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457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  Bonus: docker inspect $(docker ps -q) | jq '.[].HostConfig | {Privileged, CapAdd, SecurityOpt}'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CTF CHALLENGE — Docker Security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Flag | Vaqt: 20 daqiqa | Qiyinlik: O'rta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594360"/>
          </a:xfrm>
          <a:prstGeom prst="rect">
            <a:avLst/>
          </a:prstGeom>
          <a:solidFill>
            <a:srgbClr val="150A1A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98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Stsenary: Kompaniya serverida quyidagi Docker konteyner ishlayapti. Xavfsizlik tekshiruvchisi sifatida, flag ({CTF_FLAG_...}) ni toping!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2880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764792"/>
            <a:ext cx="837590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O'qituvchi tomonidan lab konteyner ishga tushiriladi: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ctf-lab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SECRET_FLAG="CTF{d0ck3r_s3cr3ts_ar3_imp0rtant}"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DB_PASSWORD="SuperSecret123"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/tmp/logs:/var/log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nginx:1.24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Talaba vazifasi — quyidagi usullardan birini ishlatib FLAG ni toping: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Urinish 1: Environment o'zgaruvchilarini ko'rish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ctf-lab | grep -A 20 '"Env"'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Urinish 2: Konteyner ichiga kirish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ctf-lab env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Urinish 3: Loglarni tekshirish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ctf-lab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Urinish 4: History (image da qolgan secrets)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history --no-trunc ctf-lab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A2A0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70001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O'quv maqsadi: Real hayotda tester shu usullar bilan noto'g'ri konfiguratsiyalangan konteynerlardan ma'lumot topadi. Endi himoya qanday bo'lishi kerakligini muhokama qiling!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Xavfsizlik Qoidalari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oltin qoida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690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347472" cy="347472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0607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base image ishlating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13624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alpine, slim, distroless — attack surface kichik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0690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097280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30368" y="10607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qachon root da ishlatmang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0368" y="13624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non-root, --user flag, uid=1001+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783080"/>
            <a:ext cx="40690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874520"/>
            <a:ext cx="347472" cy="347472"/>
          </a:xfrm>
          <a:prstGeom prst="ellipse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" y="18379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Secretlarni image da saqlamang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" y="2139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secrets, Vault, runtime env vars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783080"/>
            <a:ext cx="40690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874520"/>
            <a:ext cx="347472" cy="34747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0368" y="18379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Imkoniyatlarni cheklang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2139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--cap-drop=ALL, keraklisini qo'shing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560320"/>
            <a:ext cx="40690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651760"/>
            <a:ext cx="347472" cy="347472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5528" y="26151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fayl tizimi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5528" y="29169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--read-only, faqat kerakli joyga yozish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560320"/>
            <a:ext cx="40690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651760"/>
            <a:ext cx="347472" cy="34747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0368" y="26151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izolyatsiyasi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29169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Alohida networklar, gereksiz portlarni yopmang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337560"/>
            <a:ext cx="40690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429000"/>
            <a:ext cx="347472" cy="347472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5528" y="33924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Muntazam skanerlash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95528" y="3694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Trivy, Snyk — CI/CD da avtomatik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337560"/>
            <a:ext cx="40690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3429000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30368" y="33924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Resurslarni cheklang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30368" y="3694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--memory, --cpus, --pids-limit (DoS himoya)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114800"/>
            <a:ext cx="40690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206240"/>
            <a:ext cx="347472" cy="34747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5528" y="41696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Loglarni monitoring qiling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95528" y="44714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Falco, ELK Stack, anomaliya aniqlab, ogohlantirish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4114800"/>
            <a:ext cx="40690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4206240"/>
            <a:ext cx="347472" cy="347472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30368" y="41696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Trust yoqing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30368" y="44714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DOCKER_CONTENT_TRUST=1, faqat imzolangan imaglar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va DevSecOps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Xavfsizlikni CI/CD ga integratsiya qilish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097280" cy="41148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71600" y="1161288"/>
            <a:ext cx="137160" cy="91440"/>
          </a:xfrm>
          <a:prstGeom prst="rect">
            <a:avLst/>
          </a:prstGeom>
          <a:solidFill>
            <a:srgbClr val="8BA3BE"/>
          </a:solidFill>
          <a:ln w="12700">
            <a:solidFill>
              <a:srgbClr val="8BA3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08760"/>
            <a:ext cx="1097280" cy="36576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10972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git-secrets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08760" y="1005840"/>
            <a:ext cx="1097280" cy="41148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06040" y="1161288"/>
            <a:ext cx="137160" cy="91440"/>
          </a:xfrm>
          <a:prstGeom prst="rect">
            <a:avLst/>
          </a:prstGeom>
          <a:solidFill>
            <a:srgbClr val="8BA3BE"/>
          </a:solidFill>
          <a:ln w="12700">
            <a:solidFill>
              <a:srgbClr val="8BA3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1508760"/>
            <a:ext cx="1097280" cy="365760"/>
          </a:xfrm>
          <a:prstGeom prst="rect">
            <a:avLst/>
          </a:prstGeom>
          <a:solidFill>
            <a:srgbClr val="050D1A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508760" y="1965960"/>
            <a:ext cx="10972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 (hadolint)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0" y="1005840"/>
            <a:ext cx="10972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1161288"/>
            <a:ext cx="137160" cy="91440"/>
          </a:xfrm>
          <a:prstGeom prst="rect">
            <a:avLst/>
          </a:prstGeom>
          <a:solidFill>
            <a:srgbClr val="8BA3BE"/>
          </a:solidFill>
          <a:ln w="12700">
            <a:solidFill>
              <a:srgbClr val="8BA3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1508760"/>
            <a:ext cx="1097280" cy="365760"/>
          </a:xfrm>
          <a:prstGeom prst="rect">
            <a:avLst/>
          </a:prstGeom>
          <a:solidFill>
            <a:srgbClr val="050D1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0" y="1965960"/>
            <a:ext cx="10972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Grype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77640" y="1005840"/>
            <a:ext cx="1097280" cy="4114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1161288"/>
            <a:ext cx="137160" cy="91440"/>
          </a:xfrm>
          <a:prstGeom prst="rect">
            <a:avLst/>
          </a:prstGeom>
          <a:solidFill>
            <a:srgbClr val="8BA3BE"/>
          </a:solidFill>
          <a:ln w="12700">
            <a:solidFill>
              <a:srgbClr val="8BA3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77640" y="1508760"/>
            <a:ext cx="1097280" cy="365760"/>
          </a:xfrm>
          <a:prstGeom prst="rect">
            <a:avLst/>
          </a:prstGeom>
          <a:solidFill>
            <a:srgbClr val="050D1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tests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77640" y="1965960"/>
            <a:ext cx="10972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12080" y="1005840"/>
            <a:ext cx="1097280" cy="41148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PUSH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1161288"/>
            <a:ext cx="137160" cy="91440"/>
          </a:xfrm>
          <a:prstGeom prst="rect">
            <a:avLst/>
          </a:prstGeom>
          <a:solidFill>
            <a:srgbClr val="8BA3BE"/>
          </a:solidFill>
          <a:ln w="12700">
            <a:solidFill>
              <a:srgbClr val="8BA3B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0" y="1508760"/>
            <a:ext cx="1097280" cy="365760"/>
          </a:xfrm>
          <a:prstGeom prst="rect">
            <a:avLst/>
          </a:prstGeom>
          <a:solidFill>
            <a:srgbClr val="050D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 push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12080" y="1965960"/>
            <a:ext cx="10972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Trust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46520" y="1005840"/>
            <a:ext cx="1097280" cy="4114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DEPLOY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543800" y="1161288"/>
            <a:ext cx="137160" cy="91440"/>
          </a:xfrm>
          <a:prstGeom prst="rect">
            <a:avLst/>
          </a:prstGeom>
          <a:solidFill>
            <a:srgbClr val="8BA3BE"/>
          </a:solidFill>
          <a:ln w="12700">
            <a:solidFill>
              <a:srgbClr val="8BA3B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1508760"/>
            <a:ext cx="1097280" cy="365760"/>
          </a:xfrm>
          <a:prstGeom prst="rect">
            <a:avLst/>
          </a:prstGeom>
          <a:solidFill>
            <a:srgbClr val="050D1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/ swarm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46520" y="1965960"/>
            <a:ext cx="10972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Policies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680960" y="1005840"/>
            <a:ext cx="1097280" cy="411480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MONITOR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680960" y="1508760"/>
            <a:ext cx="1097280" cy="365760"/>
          </a:xfrm>
          <a:prstGeom prst="rect">
            <a:avLst/>
          </a:prstGeom>
          <a:solidFill>
            <a:srgbClr val="050D1A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4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watch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680960" y="1965960"/>
            <a:ext cx="1097280" cy="685800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2788920"/>
            <a:ext cx="8595360" cy="22128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2862072"/>
            <a:ext cx="837590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GitHub Actions — Xavfsiz Docker Pipeline misoli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Docker Security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Lint Dockerfile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docker run --rm -v $(pwd):/work hadolint/hadolint hadolint /work/Dockerfile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Build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docker build -t myapp:COMMIT_SHA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Scan vulnerabilities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trivy image --exit-code 1 --severity CRITICAL myapp:COMMIT_SHA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Push to registry (if passed)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docker push myregistry/myapp:COMMIT_SHA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Dunyo: Tesla Cryptojacking (2018)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misconfiguration → kripto mining hujumi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150A0A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2018-yilda Tesla kompaniyasining Kubernetes klasterida autentifikatsiyasiz ochiq qoldirilgan Kubernetes Dashboard orqali, hujumchilar pod (konteyner) yaratib, kripto valyuta qazdirishga muvaffaq bo'ldi!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8595360" cy="493776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74520"/>
            <a:ext cx="347472" cy="347472"/>
          </a:xfrm>
          <a:prstGeom prst="ellipse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8836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Dashboard: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883664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Dashboard autentifikatsiysiz internetga ochilgan edi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8595360" cy="493776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41448"/>
            <a:ext cx="347472" cy="34747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450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yaratish: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450592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Hujumchi yangi pod (konteyner) yaratdi va unga AWS credentials access berdi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62656"/>
            <a:ext cx="8595360" cy="493776"/>
          </a:xfrm>
          <a:prstGeom prst="rect">
            <a:avLst/>
          </a:prstGeom>
          <a:solidFill>
            <a:srgbClr val="2A3A4E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008376"/>
            <a:ext cx="347472" cy="34747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 o'rnatish: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01752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 ichiga Monero kripto miner o'rnatildi va yashirildi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8595360" cy="493776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575304"/>
            <a:ext cx="347472" cy="34747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3584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resurslari: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3584448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kompaniyasining serverlarida kripto valyuta qazdirildi, elektr energiyasi sarflandi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096512"/>
            <a:ext cx="8595360" cy="493776"/>
          </a:xfrm>
          <a:prstGeom prst="rect">
            <a:avLst/>
          </a:prstGeom>
          <a:solidFill>
            <a:srgbClr val="2A3A4E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142232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4151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Kashf qilish: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4151376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RedLock xavfsizlik firmasi anonimlik va trafikni tahlil qilib topdi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709160"/>
            <a:ext cx="859536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74573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Saboq: Dashboard va API endpointlarni hech qachon autentifikatiysiz internet ga ochmang! RBAC, network policy, authentication — majburiy!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Foydali Resurslar va Toollar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" cy="25603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O'rganishni davom eting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69080" cy="1783080"/>
          </a:xfrm>
          <a:prstGeom prst="rect">
            <a:avLst/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4069080" cy="384048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Hujjatlar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447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docs.docker.com — rasmiy hujjatlar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7739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CIS Docker Benchmark PDF (cisecurity.org)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1031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OWASP Docker Security Cheat Sheet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4323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NIST SP 800-190 — Container Security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069080" cy="1783080"/>
          </a:xfrm>
          <a:prstGeom prst="rect">
            <a:avLst/>
          </a:prstGeom>
          <a:solidFill>
            <a:srgbClr val="2A3A4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05840"/>
            <a:ext cx="4069080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05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Xavfsizlik Toollar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8888" y="14447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Trivy — image/IaC scanner (aquasecurity)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18888" y="17739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Falco — runtime security monitoring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21031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Docker Bench Security — CIS audit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24323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Hadolint — Dockerfile linter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069080" cy="1783080"/>
          </a:xfrm>
          <a:prstGeom prst="rect">
            <a:avLst/>
          </a:prstGeom>
          <a:solidFill>
            <a:srgbClr val="2A3A4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26080"/>
            <a:ext cx="4069080" cy="384048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260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O'rganish Platformalari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3649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Play with Docker (labs.play-with-docker.com)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36941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KillerCoda Docker labs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40233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TryHackMe — Docker rooms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43525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HackTheBox — Container challenges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926080"/>
            <a:ext cx="4069080" cy="1783080"/>
          </a:xfrm>
          <a:prstGeom prst="rect">
            <a:avLst/>
          </a:prstGeom>
          <a:solidFill>
            <a:srgbClr val="2A3A4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926080"/>
            <a:ext cx="4069080" cy="384048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9260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Amaliy Laboratoriyalar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18888" y="33649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DVWA in Docker (damn vulnerable app)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18888" y="36941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Metasploitable 3 Docker version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40233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VulnHub Docker images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43525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PentesterLab Docker challenges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🐳  docker.com  |  hub.docker.com  |  github.com/docker  |  security.snyk.io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Xulosa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85216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36576" cy="58521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zamonaviy dastur tarqatishning asosiy texnologiyasi, VM dan tezroq va yengilroq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8595360" cy="585216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18488"/>
            <a:ext cx="36576" cy="58521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6420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664208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Konteynerlar izolyatsiyalangan, lekin noto'g'ri konfiguratsiyada xavfli bo'lishi mumkin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276856"/>
            <a:ext cx="8595360" cy="585216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76856"/>
            <a:ext cx="36576" cy="58521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2257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2322576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katta xavf: privileged mode, root da ishlash, Secretlarni imageda saqlash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8595360" cy="585216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35224"/>
            <a:ext cx="36576" cy="58521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8094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2980944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image + non-root + cap-drop + secrets management = xavfsiz konteyner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593592"/>
            <a:ext cx="8595360" cy="585216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93592"/>
            <a:ext cx="36576" cy="58521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393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3639312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Trivy, Docker Bench, Falco kabi toollar xavfsizlikni avtomatlashtirishda yordam beradi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251960"/>
            <a:ext cx="8595360" cy="585216"/>
          </a:xfrm>
          <a:prstGeom prst="rect">
            <a:avLst/>
          </a:prstGeom>
          <a:solidFill>
            <a:srgbClr val="2A3A4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251960"/>
            <a:ext cx="36576" cy="58521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9768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4297680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DevSecOps: Xavfsizlikni development boshidanoq qo'shing, keyinchalik emas!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2535"/>
          </a:solidFill>
          <a:ln w="12700">
            <a:solidFill>
              <a:srgbClr val="0D25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A1E2A"/>
          </a:solidFill>
          <a:ln w="12700">
            <a:solidFill>
              <a:srgbClr val="0A1E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0D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Savollar va Muhokama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va Kiberhavfsizlik bo'yicha savollaringiz bormi?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7680960" cy="457200"/>
          </a:xfrm>
          <a:prstGeom prst="rect">
            <a:avLst>
              <a:gd name="adj" fmla="val 24000"/>
            </a:avLst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Ishlab chiqarishda Docker dan qanday foydalanasiz?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7680960" cy="457200"/>
          </a:xfrm>
          <a:prstGeom prst="rect">
            <a:avLst>
              <a:gd name="adj" fmla="val 24000"/>
            </a:avLst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74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Container escape ni qanday oldini olasiz?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7680960" cy="457200"/>
          </a:xfrm>
          <a:prstGeom prst="rect">
            <a:avLst>
              <a:gd name="adj" fmla="val 24000"/>
            </a:avLst>
          </a:prstGeom>
          <a:solidFill>
            <a:srgbClr val="2A3A4E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Kubernetes vs Docker Swarm xavfsizlik farqlari?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| O'qishga tayyor bo'ling: docs.docker.com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- Kiberhavfsizlik Kursi</dc:title>
  <dc:subject>PptxGenJS Presentation</dc:subject>
  <dc:creator>Kiberhavfsizlik O'qituvchisi</dc:creator>
  <cp:lastModifiedBy>Kiberhavfsizlik O'qituvchisi</cp:lastModifiedBy>
  <cp:revision>1</cp:revision>
  <dcterms:created xsi:type="dcterms:W3CDTF">2026-04-15T08:22:34Z</dcterms:created>
  <dcterms:modified xsi:type="dcterms:W3CDTF">2026-04-15T08:22:34Z</dcterms:modified>
</cp:coreProperties>
</file>