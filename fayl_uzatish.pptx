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0" y="1463040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orqali</a:t>
            </a:r>
            <a:endParaRPr lang="en-US" sz="2800" dirty="0"/>
          </a:p>
        </p:txBody>
      </p:sp>
      <p:sp>
        <p:nvSpPr>
          <p:cNvPr id="257" name="Text 255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 Uzatish</a:t>
            </a:r>
            <a:endParaRPr lang="en-US" sz="4800" dirty="0"/>
          </a:p>
        </p:txBody>
      </p:sp>
      <p:sp>
        <p:nvSpPr>
          <p:cNvPr id="258" name="Shape 256"/>
          <p:cNvSpPr/>
          <p:nvPr/>
        </p:nvSpPr>
        <p:spPr>
          <a:xfrm>
            <a:off x="457200" y="1828800"/>
            <a:ext cx="1280160" cy="384048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57200" y="1828800"/>
            <a:ext cx="1280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</a:t>
            </a:r>
            <a:endParaRPr lang="en-US" sz="1300" dirty="0"/>
          </a:p>
        </p:txBody>
      </p:sp>
      <p:sp>
        <p:nvSpPr>
          <p:cNvPr id="260" name="Shape 258"/>
          <p:cNvSpPr/>
          <p:nvPr/>
        </p:nvSpPr>
        <p:spPr>
          <a:xfrm>
            <a:off x="1874520" y="1828800"/>
            <a:ext cx="1280160" cy="384048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1874520" y="1828800"/>
            <a:ext cx="1280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</a:t>
            </a:r>
            <a:endParaRPr lang="en-US" sz="1300" dirty="0"/>
          </a:p>
        </p:txBody>
      </p:sp>
      <p:sp>
        <p:nvSpPr>
          <p:cNvPr id="262" name="Shape 260"/>
          <p:cNvSpPr/>
          <p:nvPr/>
        </p:nvSpPr>
        <p:spPr>
          <a:xfrm>
            <a:off x="3291840" y="1828800"/>
            <a:ext cx="1280160" cy="384048"/>
          </a:xfrm>
          <a:prstGeom prst="rect">
            <a:avLst/>
          </a:prstGeom>
          <a:solidFill>
            <a:srgbClr val="FB923C">
              <a:alpha val="1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3291840" y="1828800"/>
            <a:ext cx="1280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</a:t>
            </a:r>
            <a:endParaRPr lang="en-US" sz="1300" dirty="0"/>
          </a:p>
        </p:txBody>
      </p:sp>
      <p:sp>
        <p:nvSpPr>
          <p:cNvPr id="264" name="Shape 262"/>
          <p:cNvSpPr/>
          <p:nvPr/>
        </p:nvSpPr>
        <p:spPr>
          <a:xfrm>
            <a:off x="4709160" y="1828800"/>
            <a:ext cx="1280160" cy="384048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4709160" y="1828800"/>
            <a:ext cx="1280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</a:t>
            </a:r>
            <a:endParaRPr lang="en-US" sz="1300" dirty="0"/>
          </a:p>
        </p:txBody>
      </p:sp>
      <p:sp>
        <p:nvSpPr>
          <p:cNvPr id="266" name="Shape 264"/>
          <p:cNvSpPr/>
          <p:nvPr/>
        </p:nvSpPr>
        <p:spPr>
          <a:xfrm>
            <a:off x="6126480" y="1828800"/>
            <a:ext cx="1280160" cy="384048"/>
          </a:xfrm>
          <a:prstGeom prst="rect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6126480" y="1828800"/>
            <a:ext cx="1280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1300" dirty="0"/>
          </a:p>
        </p:txBody>
      </p:sp>
      <p:sp>
        <p:nvSpPr>
          <p:cNvPr id="268" name="Shape 266"/>
          <p:cNvSpPr/>
          <p:nvPr/>
        </p:nvSpPr>
        <p:spPr>
          <a:xfrm>
            <a:off x="7543800" y="1828800"/>
            <a:ext cx="1280160" cy="384048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7543800" y="1828800"/>
            <a:ext cx="1280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</a:t>
            </a:r>
            <a:endParaRPr lang="en-US" sz="1300" dirty="0"/>
          </a:p>
        </p:txBody>
      </p:sp>
      <p:sp>
        <p:nvSpPr>
          <p:cNvPr id="270" name="Text 268"/>
          <p:cNvSpPr/>
          <p:nvPr/>
        </p:nvSpPr>
        <p:spPr>
          <a:xfrm>
            <a:off x="457200" y="239572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Tizimlar o'rtasida fayl almashish — Kiberxavfsizlik darsi</a:t>
            </a:r>
            <a:endParaRPr lang="en-US" sz="1400" dirty="0"/>
          </a:p>
        </p:txBody>
      </p:sp>
      <p:sp>
        <p:nvSpPr>
          <p:cNvPr id="271" name="Shape 269"/>
          <p:cNvSpPr/>
          <p:nvPr/>
        </p:nvSpPr>
        <p:spPr>
          <a:xfrm>
            <a:off x="731520" y="2971800"/>
            <a:ext cx="2011680" cy="1463040"/>
          </a:xfrm>
          <a:prstGeom prst="rect">
            <a:avLst/>
          </a:prstGeom>
          <a:solidFill>
            <a:srgbClr val="1A223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731520" y="31089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273" name="Text 271"/>
          <p:cNvSpPr/>
          <p:nvPr/>
        </p:nvSpPr>
        <p:spPr>
          <a:xfrm>
            <a:off x="731520" y="3749040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Linux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(Manba)</a:t>
            </a:r>
            <a:endParaRPr lang="en-US" sz="1100" dirty="0"/>
          </a:p>
        </p:txBody>
      </p:sp>
      <p:sp>
        <p:nvSpPr>
          <p:cNvPr id="274" name="Shape 272"/>
          <p:cNvSpPr/>
          <p:nvPr/>
        </p:nvSpPr>
        <p:spPr>
          <a:xfrm>
            <a:off x="6400800" y="2971800"/>
            <a:ext cx="2011680" cy="1463040"/>
          </a:xfrm>
          <a:prstGeom prst="rect">
            <a:avLst/>
          </a:prstGeom>
          <a:solidFill>
            <a:srgbClr val="1A2235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6400800" y="31089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🖥</a:t>
            </a:r>
            <a:endParaRPr lang="en-US" sz="2800" dirty="0"/>
          </a:p>
        </p:txBody>
      </p:sp>
      <p:sp>
        <p:nvSpPr>
          <p:cNvPr id="276" name="Text 274"/>
          <p:cNvSpPr/>
          <p:nvPr/>
        </p:nvSpPr>
        <p:spPr>
          <a:xfrm>
            <a:off x="6400800" y="3749040"/>
            <a:ext cx="2011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Linux 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</a:rPr>
              <a:t>(Manzil)</a:t>
            </a:r>
            <a:endParaRPr lang="en-US" sz="1100" dirty="0"/>
          </a:p>
        </p:txBody>
      </p:sp>
      <p:sp>
        <p:nvSpPr>
          <p:cNvPr id="277" name="Shape 275"/>
          <p:cNvSpPr/>
          <p:nvPr/>
        </p:nvSpPr>
        <p:spPr>
          <a:xfrm>
            <a:off x="2834640" y="3703320"/>
            <a:ext cx="347472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2834640" y="3474720"/>
            <a:ext cx="3474720" cy="457200"/>
          </a:xfrm>
          <a:prstGeom prst="rect">
            <a:avLst/>
          </a:prstGeom>
          <a:solidFill>
            <a:srgbClr val="FBBF24">
              <a:alpha val="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2834640" y="347472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</a:rPr>
              <a:t>scp / rsync / sftp / nc / http</a:t>
            </a:r>
            <a:endParaRPr lang="en-US" sz="1100" dirty="0"/>
          </a:p>
        </p:txBody>
      </p:sp>
      <p:sp>
        <p:nvSpPr>
          <p:cNvPr id="280" name="Shape 278"/>
          <p:cNvSpPr/>
          <p:nvPr/>
        </p:nvSpPr>
        <p:spPr>
          <a:xfrm>
            <a:off x="365760" y="4800600"/>
            <a:ext cx="2286000" cy="201168"/>
          </a:xfrm>
          <a:prstGeom prst="rect">
            <a:avLst/>
          </a:prstGeom>
          <a:solidFill>
            <a:srgbClr val="4ADE80">
              <a:alpha val="12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365760" y="480060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DE80"/>
                </a:solidFill>
              </a:rPr>
              <a:t>⏱  1 soatdan ortiq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DARS REJASI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Bugungi dars rejasi</a:t>
            </a:r>
            <a:endParaRPr lang="en-US" sz="3000" dirty="0"/>
          </a:p>
        </p:txBody>
      </p:sp>
      <p:sp>
        <p:nvSpPr>
          <p:cNvPr id="257" name="Shape 255"/>
          <p:cNvSpPr/>
          <p:nvPr/>
        </p:nvSpPr>
        <p:spPr>
          <a:xfrm>
            <a:off x="365760" y="1325880"/>
            <a:ext cx="84124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65760" y="1325880"/>
            <a:ext cx="54864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502920" y="1389888"/>
            <a:ext cx="1417320" cy="292608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02920" y="1389888"/>
            <a:ext cx="1417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8BDF8"/>
                </a:solidFill>
              </a:rPr>
              <a:t>0:00–0:10</a:t>
            </a:r>
            <a:endParaRPr lang="en-US" sz="900" dirty="0"/>
          </a:p>
        </p:txBody>
      </p:sp>
      <p:sp>
        <p:nvSpPr>
          <p:cNvPr id="261" name="Text 259"/>
          <p:cNvSpPr/>
          <p:nvPr/>
        </p:nvSpPr>
        <p:spPr>
          <a:xfrm>
            <a:off x="2029968" y="1325880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Kirish: Nima uchun CLI fayl uzatish?</a:t>
            </a:r>
            <a:endParaRPr lang="en-US" sz="1300" dirty="0"/>
          </a:p>
        </p:txBody>
      </p:sp>
      <p:sp>
        <p:nvSpPr>
          <p:cNvPr id="262" name="Shape 260"/>
          <p:cNvSpPr/>
          <p:nvPr/>
        </p:nvSpPr>
        <p:spPr>
          <a:xfrm>
            <a:off x="365760" y="1801368"/>
            <a:ext cx="84124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365760" y="1801368"/>
            <a:ext cx="54864" cy="4114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502920" y="1865376"/>
            <a:ext cx="1417320" cy="292608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502920" y="1865376"/>
            <a:ext cx="1417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</a:rPr>
              <a:t>0:10–0:25</a:t>
            </a:r>
            <a:endParaRPr lang="en-US" sz="900" dirty="0"/>
          </a:p>
        </p:txBody>
      </p:sp>
      <p:sp>
        <p:nvSpPr>
          <p:cNvPr id="266" name="Text 264"/>
          <p:cNvSpPr/>
          <p:nvPr/>
        </p:nvSpPr>
        <p:spPr>
          <a:xfrm>
            <a:off x="2029968" y="1801368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scp — Xavfsiz nusxalash</a:t>
            </a:r>
            <a:endParaRPr lang="en-US" sz="1300" dirty="0"/>
          </a:p>
        </p:txBody>
      </p:sp>
      <p:sp>
        <p:nvSpPr>
          <p:cNvPr id="267" name="Shape 265"/>
          <p:cNvSpPr/>
          <p:nvPr/>
        </p:nvSpPr>
        <p:spPr>
          <a:xfrm>
            <a:off x="365760" y="2276856"/>
            <a:ext cx="84124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365760" y="2276856"/>
            <a:ext cx="54864" cy="4114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502920" y="2340864"/>
            <a:ext cx="1417320" cy="292608"/>
          </a:xfrm>
          <a:prstGeom prst="rect">
            <a:avLst/>
          </a:prstGeom>
          <a:solidFill>
            <a:srgbClr val="FB923C">
              <a:alpha val="1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502920" y="2340864"/>
            <a:ext cx="1417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923C"/>
                </a:solidFill>
              </a:rPr>
              <a:t>0:25–0:40</a:t>
            </a:r>
            <a:endParaRPr lang="en-US" sz="900" dirty="0"/>
          </a:p>
        </p:txBody>
      </p:sp>
      <p:sp>
        <p:nvSpPr>
          <p:cNvPr id="271" name="Text 269"/>
          <p:cNvSpPr/>
          <p:nvPr/>
        </p:nvSpPr>
        <p:spPr>
          <a:xfrm>
            <a:off x="2029968" y="2276856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rsync — Aqlli sinxronlash</a:t>
            </a:r>
            <a:endParaRPr lang="en-US" sz="1300" dirty="0"/>
          </a:p>
        </p:txBody>
      </p:sp>
      <p:sp>
        <p:nvSpPr>
          <p:cNvPr id="272" name="Shape 270"/>
          <p:cNvSpPr/>
          <p:nvPr/>
        </p:nvSpPr>
        <p:spPr>
          <a:xfrm>
            <a:off x="365760" y="2752344"/>
            <a:ext cx="84124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365760" y="2752344"/>
            <a:ext cx="54864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502920" y="2816352"/>
            <a:ext cx="1417320" cy="292608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502920" y="2816352"/>
            <a:ext cx="1417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</a:rPr>
              <a:t>0:40–0:50</a:t>
            </a:r>
            <a:endParaRPr lang="en-US" sz="900" dirty="0"/>
          </a:p>
        </p:txBody>
      </p:sp>
      <p:sp>
        <p:nvSpPr>
          <p:cNvPr id="276" name="Text 274"/>
          <p:cNvSpPr/>
          <p:nvPr/>
        </p:nvSpPr>
        <p:spPr>
          <a:xfrm>
            <a:off x="2029968" y="2752344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sftp — Interaktiv xavfsiz FTP</a:t>
            </a:r>
            <a:endParaRPr lang="en-US" sz="1300" dirty="0"/>
          </a:p>
        </p:txBody>
      </p:sp>
      <p:sp>
        <p:nvSpPr>
          <p:cNvPr id="277" name="Shape 275"/>
          <p:cNvSpPr/>
          <p:nvPr/>
        </p:nvSpPr>
        <p:spPr>
          <a:xfrm>
            <a:off x="365760" y="3227832"/>
            <a:ext cx="84124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65760" y="3227832"/>
            <a:ext cx="54864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02920" y="3291840"/>
            <a:ext cx="1417320" cy="292608"/>
          </a:xfrm>
          <a:prstGeom prst="rect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502920" y="3291840"/>
            <a:ext cx="1417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</a:rPr>
              <a:t>0:50–1:00</a:t>
            </a:r>
            <a:endParaRPr lang="en-US" sz="900" dirty="0"/>
          </a:p>
        </p:txBody>
      </p:sp>
      <p:sp>
        <p:nvSpPr>
          <p:cNvPr id="281" name="Text 279"/>
          <p:cNvSpPr/>
          <p:nvPr/>
        </p:nvSpPr>
        <p:spPr>
          <a:xfrm>
            <a:off x="2029968" y="3227832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nc (netcat) — Engil uzatish</a:t>
            </a:r>
            <a:endParaRPr lang="en-US" sz="1300" dirty="0"/>
          </a:p>
        </p:txBody>
      </p:sp>
      <p:sp>
        <p:nvSpPr>
          <p:cNvPr id="282" name="Shape 280"/>
          <p:cNvSpPr/>
          <p:nvPr/>
        </p:nvSpPr>
        <p:spPr>
          <a:xfrm>
            <a:off x="365760" y="3703320"/>
            <a:ext cx="84124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365760" y="3703320"/>
            <a:ext cx="54864" cy="4114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02920" y="3767328"/>
            <a:ext cx="1417320" cy="292608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502920" y="3767328"/>
            <a:ext cx="1417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</a:rPr>
              <a:t>1:00–1:10</a:t>
            </a:r>
            <a:endParaRPr lang="en-US" sz="900" dirty="0"/>
          </a:p>
        </p:txBody>
      </p:sp>
      <p:sp>
        <p:nvSpPr>
          <p:cNvPr id="286" name="Text 284"/>
          <p:cNvSpPr/>
          <p:nvPr/>
        </p:nvSpPr>
        <p:spPr>
          <a:xfrm>
            <a:off x="2029968" y="3703320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Python HTTP server — Tezkor ulashish</a:t>
            </a:r>
            <a:endParaRPr lang="en-US" sz="1300" dirty="0"/>
          </a:p>
        </p:txBody>
      </p:sp>
      <p:sp>
        <p:nvSpPr>
          <p:cNvPr id="287" name="Shape 285"/>
          <p:cNvSpPr/>
          <p:nvPr/>
        </p:nvSpPr>
        <p:spPr>
          <a:xfrm>
            <a:off x="365760" y="4178808"/>
            <a:ext cx="84124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65760" y="4178808"/>
            <a:ext cx="54864" cy="4114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502920" y="4242816"/>
            <a:ext cx="1417320" cy="292608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502920" y="4242816"/>
            <a:ext cx="1417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DE80"/>
                </a:solidFill>
              </a:rPr>
              <a:t>1:10–1:20</a:t>
            </a:r>
            <a:endParaRPr lang="en-US" sz="900" dirty="0"/>
          </a:p>
        </p:txBody>
      </p:sp>
      <p:sp>
        <p:nvSpPr>
          <p:cNvPr id="291" name="Text 289"/>
          <p:cNvSpPr/>
          <p:nvPr/>
        </p:nvSpPr>
        <p:spPr>
          <a:xfrm>
            <a:off x="2029968" y="4178808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Amaliy mashqlar</a:t>
            </a:r>
            <a:endParaRPr lang="en-US" sz="1300" dirty="0"/>
          </a:p>
        </p:txBody>
      </p:sp>
      <p:sp>
        <p:nvSpPr>
          <p:cNvPr id="292" name="Shape 290"/>
          <p:cNvSpPr/>
          <p:nvPr/>
        </p:nvSpPr>
        <p:spPr>
          <a:xfrm>
            <a:off x="365760" y="4654296"/>
            <a:ext cx="8412480" cy="4114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365760" y="4654296"/>
            <a:ext cx="54864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502920" y="4718304"/>
            <a:ext cx="1417320" cy="292608"/>
          </a:xfrm>
          <a:prstGeom prst="rect">
            <a:avLst/>
          </a:prstGeom>
          <a:solidFill>
            <a:srgbClr val="64748B">
              <a:alpha val="15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502920" y="4718304"/>
            <a:ext cx="1417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</a:rPr>
              <a:t>1:20–1:30</a:t>
            </a:r>
            <a:endParaRPr lang="en-US" sz="900" dirty="0"/>
          </a:p>
        </p:txBody>
      </p:sp>
      <p:sp>
        <p:nvSpPr>
          <p:cNvPr id="296" name="Text 294"/>
          <p:cNvSpPr/>
          <p:nvPr/>
        </p:nvSpPr>
        <p:spPr>
          <a:xfrm>
            <a:off x="2029968" y="4654296"/>
            <a:ext cx="6583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</a:rPr>
              <a:t>Taqqoslash jadvali va xulosa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KIRISH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</a:rPr>
              <a:t>Nima uchun CLI orqali fayl uzatish?</a:t>
            </a:r>
            <a:endParaRPr lang="en-US" sz="2800" dirty="0"/>
          </a:p>
        </p:txBody>
      </p:sp>
      <p:sp>
        <p:nvSpPr>
          <p:cNvPr id="257" name="Shape 255"/>
          <p:cNvSpPr/>
          <p:nvPr/>
        </p:nvSpPr>
        <p:spPr>
          <a:xfrm>
            <a:off x="365760" y="1353312"/>
            <a:ext cx="41605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65760" y="1353312"/>
            <a:ext cx="54864" cy="1097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502920" y="144475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60" name="Text 258"/>
          <p:cNvSpPr/>
          <p:nvPr/>
        </p:nvSpPr>
        <p:spPr>
          <a:xfrm>
            <a:off x="1051560" y="1444752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</a:rPr>
              <a:t>Discord / Telegram yo'q</a:t>
            </a:r>
            <a:endParaRPr lang="en-US" sz="1300" dirty="0"/>
          </a:p>
        </p:txBody>
      </p:sp>
      <p:sp>
        <p:nvSpPr>
          <p:cNvPr id="261" name="Text 259"/>
          <p:cNvSpPr/>
          <p:nvPr/>
        </p:nvSpPr>
        <p:spPr>
          <a:xfrm>
            <a:off x="502920" y="1883664"/>
            <a:ext cx="3886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Server va minimal instansiyalarda grafik ilovalar o'rnatilmagan. Faqat terminal bor.</a:t>
            </a:r>
            <a:endParaRPr lang="en-US" sz="1000" dirty="0"/>
          </a:p>
        </p:txBody>
      </p:sp>
      <p:sp>
        <p:nvSpPr>
          <p:cNvPr id="262" name="Shape 260"/>
          <p:cNvSpPr/>
          <p:nvPr/>
        </p:nvSpPr>
        <p:spPr>
          <a:xfrm>
            <a:off x="4709160" y="1353312"/>
            <a:ext cx="41605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4709160" y="1353312"/>
            <a:ext cx="54864" cy="10972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4846320" y="144475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65" name="Text 263"/>
          <p:cNvSpPr/>
          <p:nvPr/>
        </p:nvSpPr>
        <p:spPr>
          <a:xfrm>
            <a:off x="5394960" y="1444752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Tez va samarali</a:t>
            </a:r>
            <a:endParaRPr lang="en-US" sz="1300" dirty="0"/>
          </a:p>
        </p:txBody>
      </p:sp>
      <p:sp>
        <p:nvSpPr>
          <p:cNvPr id="266" name="Text 264"/>
          <p:cNvSpPr/>
          <p:nvPr/>
        </p:nvSpPr>
        <p:spPr>
          <a:xfrm>
            <a:off x="4846320" y="1883664"/>
            <a:ext cx="3886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rsync kabi vositalar faqat o'zgargan fayllarni uzatadi. Tarmoqdan oqilona foydalanadi.</a:t>
            </a:r>
            <a:endParaRPr lang="en-US" sz="1000" dirty="0"/>
          </a:p>
        </p:txBody>
      </p:sp>
      <p:sp>
        <p:nvSpPr>
          <p:cNvPr id="267" name="Shape 265"/>
          <p:cNvSpPr/>
          <p:nvPr/>
        </p:nvSpPr>
        <p:spPr>
          <a:xfrm>
            <a:off x="365760" y="2587752"/>
            <a:ext cx="41605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365760" y="2587752"/>
            <a:ext cx="54864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502920" y="267919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70" name="Text 268"/>
          <p:cNvSpPr/>
          <p:nvPr/>
        </p:nvSpPr>
        <p:spPr>
          <a:xfrm>
            <a:off x="1051560" y="2679192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</a:rPr>
              <a:t>Xavfsizlik</a:t>
            </a:r>
            <a:endParaRPr lang="en-US" sz="1300" dirty="0"/>
          </a:p>
        </p:txBody>
      </p:sp>
      <p:sp>
        <p:nvSpPr>
          <p:cNvPr id="271" name="Text 269"/>
          <p:cNvSpPr/>
          <p:nvPr/>
        </p:nvSpPr>
        <p:spPr>
          <a:xfrm>
            <a:off x="502920" y="3118104"/>
            <a:ext cx="3886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scp va sftp SSH protokoli ustida ishlaydi — maʼlumotlar shifrlangan holda uzatiladi.</a:t>
            </a:r>
            <a:endParaRPr lang="en-US" sz="1000" dirty="0"/>
          </a:p>
        </p:txBody>
      </p:sp>
      <p:sp>
        <p:nvSpPr>
          <p:cNvPr id="272" name="Shape 270"/>
          <p:cNvSpPr/>
          <p:nvPr/>
        </p:nvSpPr>
        <p:spPr>
          <a:xfrm>
            <a:off x="4709160" y="2587752"/>
            <a:ext cx="41605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4709160" y="2587752"/>
            <a:ext cx="54864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4846320" y="267919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75" name="Text 273"/>
          <p:cNvSpPr/>
          <p:nvPr/>
        </p:nvSpPr>
        <p:spPr>
          <a:xfrm>
            <a:off x="5394960" y="2679192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Avtomatlashtirish</a:t>
            </a:r>
            <a:endParaRPr lang="en-US" sz="1300" dirty="0"/>
          </a:p>
        </p:txBody>
      </p:sp>
      <p:sp>
        <p:nvSpPr>
          <p:cNvPr id="276" name="Text 274"/>
          <p:cNvSpPr/>
          <p:nvPr/>
        </p:nvSpPr>
        <p:spPr>
          <a:xfrm>
            <a:off x="4846320" y="3118104"/>
            <a:ext cx="3886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Bash skriptlari ichida ishlatish mumkin: har kecha backup, cron job bilan sinxronlash.</a:t>
            </a:r>
            <a:endParaRPr lang="en-US" sz="1000" dirty="0"/>
          </a:p>
        </p:txBody>
      </p:sp>
      <p:sp>
        <p:nvSpPr>
          <p:cNvPr id="277" name="Shape 275"/>
          <p:cNvSpPr/>
          <p:nvPr/>
        </p:nvSpPr>
        <p:spPr>
          <a:xfrm>
            <a:off x="365760" y="3822192"/>
            <a:ext cx="41605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65760" y="3822192"/>
            <a:ext cx="54864" cy="10972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502920" y="391363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0" name="Text 278"/>
          <p:cNvSpPr/>
          <p:nvPr/>
        </p:nvSpPr>
        <p:spPr>
          <a:xfrm>
            <a:off x="1051560" y="3913632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</a:rPr>
              <a:t>Hamma joyda mavjud</a:t>
            </a:r>
            <a:endParaRPr lang="en-US" sz="1300" dirty="0"/>
          </a:p>
        </p:txBody>
      </p:sp>
      <p:sp>
        <p:nvSpPr>
          <p:cNvPr id="281" name="Text 279"/>
          <p:cNvSpPr/>
          <p:nvPr/>
        </p:nvSpPr>
        <p:spPr>
          <a:xfrm>
            <a:off x="502920" y="4352544"/>
            <a:ext cx="3886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Ubuntu, CentOS, Debian — barcha Linux distributivlarida scp, rsync standart yoki oson o'rnatiladi.</a:t>
            </a:r>
            <a:endParaRPr lang="en-US" sz="1000" dirty="0"/>
          </a:p>
        </p:txBody>
      </p:sp>
      <p:sp>
        <p:nvSpPr>
          <p:cNvPr id="282" name="Shape 280"/>
          <p:cNvSpPr/>
          <p:nvPr/>
        </p:nvSpPr>
        <p:spPr>
          <a:xfrm>
            <a:off x="4709160" y="3822192"/>
            <a:ext cx="416052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709160" y="3822192"/>
            <a:ext cx="54864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4846320" y="391363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285" name="Text 283"/>
          <p:cNvSpPr/>
          <p:nvPr/>
        </p:nvSpPr>
        <p:spPr>
          <a:xfrm>
            <a:off x="5394960" y="3913632"/>
            <a:ext cx="3337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Katta fayllar</a:t>
            </a:r>
            <a:endParaRPr lang="en-US" sz="1300" dirty="0"/>
          </a:p>
        </p:txBody>
      </p:sp>
      <p:sp>
        <p:nvSpPr>
          <p:cNvPr id="286" name="Text 284"/>
          <p:cNvSpPr/>
          <p:nvPr/>
        </p:nvSpPr>
        <p:spPr>
          <a:xfrm>
            <a:off x="4846320" y="4352544"/>
            <a:ext cx="3886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Giggabyte hajmdagi fayllarni ham uzish, to'xtatish va davom ettirish imkoniyati bilan uzatish.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</a:rPr>
              <a:t>SCP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scp — Secure Copy Protocol</a:t>
            </a:r>
            <a:endParaRPr lang="en-US" sz="30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34440"/>
            <a:ext cx="8412480" cy="6858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48640" y="1234440"/>
            <a:ext cx="8046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scp — SSH protokoli ustida ishlaydigan fayl nusxalash vositasi. Foydalanish juda oddiy: xuddi cp buyrug'i kabi, lekin masofaviy kompyuter uchun. Bitta buyruq bilan yuborish yoki olish mumkin.</a:t>
            </a:r>
            <a:endParaRPr lang="en-US" sz="1200" dirty="0"/>
          </a:p>
        </p:txBody>
      </p:sp>
      <p:sp>
        <p:nvSpPr>
          <p:cNvPr id="259" name="Text 257"/>
          <p:cNvSpPr/>
          <p:nvPr/>
        </p:nvSpPr>
        <p:spPr>
          <a:xfrm>
            <a:off x="365760" y="20574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Sintaksis:</a:t>
            </a:r>
            <a:endParaRPr lang="en-US" sz="1200" dirty="0"/>
          </a:p>
        </p:txBody>
      </p:sp>
      <p:sp>
        <p:nvSpPr>
          <p:cNvPr id="260" name="Shape 258"/>
          <p:cNvSpPr/>
          <p:nvPr/>
        </p:nvSpPr>
        <p:spPr>
          <a:xfrm>
            <a:off x="365760" y="2359152"/>
            <a:ext cx="8412480" cy="1170432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365760" y="2359152"/>
            <a:ext cx="841248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475488" y="2377440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63" name="Text 261"/>
          <p:cNvSpPr/>
          <p:nvPr/>
        </p:nvSpPr>
        <p:spPr>
          <a:xfrm>
            <a:off x="3657600" y="2377440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sintaksis</a:t>
            </a:r>
            <a:endParaRPr lang="en-US" sz="900" dirty="0"/>
          </a:p>
        </p:txBody>
      </p:sp>
      <p:sp>
        <p:nvSpPr>
          <p:cNvPr id="264" name="Text 262"/>
          <p:cNvSpPr/>
          <p:nvPr/>
        </p:nvSpPr>
        <p:spPr>
          <a:xfrm>
            <a:off x="530352" y="2651760"/>
            <a:ext cx="8138160" cy="78638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 [parametrlar]  [manba]  [manzil]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Masofaviy manzil formati: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foydalanuvchi@IP_manzil:/papka/yo'li</a:t>
            </a:r>
            <a:endParaRPr lang="en-US" sz="1100" dirty="0"/>
          </a:p>
        </p:txBody>
      </p:sp>
      <p:sp>
        <p:nvSpPr>
          <p:cNvPr id="265" name="Text 263"/>
          <p:cNvSpPr/>
          <p:nvPr/>
        </p:nvSpPr>
        <p:spPr>
          <a:xfrm>
            <a:off x="365760" y="36576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Asosiy parametrlar:</a:t>
            </a:r>
            <a:endParaRPr lang="en-US" sz="1200" dirty="0"/>
          </a:p>
        </p:txBody>
      </p:sp>
      <p:sp>
        <p:nvSpPr>
          <p:cNvPr id="266" name="Shape 264"/>
          <p:cNvSpPr/>
          <p:nvPr/>
        </p:nvSpPr>
        <p:spPr>
          <a:xfrm>
            <a:off x="365760" y="3959352"/>
            <a:ext cx="2057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475488" y="4005072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 port</a:t>
            </a:r>
            <a:endParaRPr lang="en-US" sz="1100" dirty="0"/>
          </a:p>
        </p:txBody>
      </p:sp>
      <p:sp>
        <p:nvSpPr>
          <p:cNvPr id="268" name="Text 266"/>
          <p:cNvSpPr/>
          <p:nvPr/>
        </p:nvSpPr>
        <p:spPr>
          <a:xfrm>
            <a:off x="475488" y="4315968"/>
            <a:ext cx="1874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SSH portini belgilash (default 22)</a:t>
            </a:r>
            <a:endParaRPr lang="en-US" sz="900" dirty="0"/>
          </a:p>
        </p:txBody>
      </p:sp>
      <p:sp>
        <p:nvSpPr>
          <p:cNvPr id="269" name="Shape 267"/>
          <p:cNvSpPr/>
          <p:nvPr/>
        </p:nvSpPr>
        <p:spPr>
          <a:xfrm>
            <a:off x="2514600" y="3959352"/>
            <a:ext cx="2057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2624328" y="4005072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-r</a:t>
            </a:r>
            <a:endParaRPr lang="en-US" sz="1100" dirty="0"/>
          </a:p>
        </p:txBody>
      </p:sp>
      <p:sp>
        <p:nvSpPr>
          <p:cNvPr id="271" name="Text 269"/>
          <p:cNvSpPr/>
          <p:nvPr/>
        </p:nvSpPr>
        <p:spPr>
          <a:xfrm>
            <a:off x="2624328" y="4315968"/>
            <a:ext cx="1874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Papkani rekursiv nusxalash</a:t>
            </a:r>
            <a:endParaRPr lang="en-US" sz="900" dirty="0"/>
          </a:p>
        </p:txBody>
      </p:sp>
      <p:sp>
        <p:nvSpPr>
          <p:cNvPr id="272" name="Shape 270"/>
          <p:cNvSpPr/>
          <p:nvPr/>
        </p:nvSpPr>
        <p:spPr>
          <a:xfrm>
            <a:off x="4663440" y="3959352"/>
            <a:ext cx="2057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4773168" y="4005072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 kalit</a:t>
            </a:r>
            <a:endParaRPr lang="en-US" sz="1100" dirty="0"/>
          </a:p>
        </p:txBody>
      </p:sp>
      <p:sp>
        <p:nvSpPr>
          <p:cNvPr id="274" name="Text 272"/>
          <p:cNvSpPr/>
          <p:nvPr/>
        </p:nvSpPr>
        <p:spPr>
          <a:xfrm>
            <a:off x="4773168" y="4315968"/>
            <a:ext cx="1874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SSH kalit fayli ishlatish</a:t>
            </a:r>
            <a:endParaRPr lang="en-US" sz="900" dirty="0"/>
          </a:p>
        </p:txBody>
      </p:sp>
      <p:sp>
        <p:nvSpPr>
          <p:cNvPr id="275" name="Shape 273"/>
          <p:cNvSpPr/>
          <p:nvPr/>
        </p:nvSpPr>
        <p:spPr>
          <a:xfrm>
            <a:off x="6812280" y="3959352"/>
            <a:ext cx="20574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6922008" y="4005072"/>
            <a:ext cx="1874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</a:t>
            </a:r>
            <a:endParaRPr lang="en-US" sz="1100" dirty="0"/>
          </a:p>
        </p:txBody>
      </p:sp>
      <p:sp>
        <p:nvSpPr>
          <p:cNvPr id="277" name="Text 275"/>
          <p:cNvSpPr/>
          <p:nvPr/>
        </p:nvSpPr>
        <p:spPr>
          <a:xfrm>
            <a:off x="6922008" y="4315968"/>
            <a:ext cx="1874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Siqishni yoqish (katta fayllar uchun)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</a:rPr>
              <a:t>SCP — AMALIYOT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scp amaliy misollar</a:t>
            </a:r>
            <a:endParaRPr lang="en-US" sz="3000" dirty="0"/>
          </a:p>
        </p:txBody>
      </p:sp>
      <p:sp>
        <p:nvSpPr>
          <p:cNvPr id="257" name="Shape 255"/>
          <p:cNvSpPr/>
          <p:nvPr/>
        </p:nvSpPr>
        <p:spPr>
          <a:xfrm>
            <a:off x="365760" y="1186688"/>
            <a:ext cx="8412480" cy="274320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347345" y="1234313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</a:rPr>
              <a:t>1. Fayl yuborish (local → remote)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393065" y="1508633"/>
            <a:ext cx="841248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393192" y="1659636"/>
            <a:ext cx="813816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hisobot.pdf ali@192.168.1.50:/home/ali/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-P 2222 hisobot.pdf ali@server.com:/tmp/</a:t>
            </a:r>
            <a:endParaRPr lang="en-US" sz="1100" dirty="0"/>
          </a:p>
        </p:txBody>
      </p:sp>
      <p:sp>
        <p:nvSpPr>
          <p:cNvPr id="263" name="Shape 261"/>
          <p:cNvSpPr/>
          <p:nvPr/>
        </p:nvSpPr>
        <p:spPr>
          <a:xfrm>
            <a:off x="365760" y="2338959"/>
            <a:ext cx="8412480" cy="274320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438785" y="2338959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2. Fayl olish (remote → local)</a:t>
            </a:r>
            <a:endParaRPr lang="en-US" sz="1100" dirty="0"/>
          </a:p>
        </p:txBody>
      </p:sp>
      <p:sp>
        <p:nvSpPr>
          <p:cNvPr id="265" name="Shape 263"/>
          <p:cNvSpPr/>
          <p:nvPr/>
        </p:nvSpPr>
        <p:spPr>
          <a:xfrm>
            <a:off x="365760" y="2717800"/>
            <a:ext cx="8412480" cy="445770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443357" y="2757297"/>
            <a:ext cx="813816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ali@192.168.1.50:/home/ali/log.txt ./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ali@192.168.1.50:/var/log/syslog ./server_log.txt</a:t>
            </a:r>
            <a:endParaRPr lang="en-US" sz="1100" dirty="0"/>
          </a:p>
        </p:txBody>
      </p:sp>
      <p:sp>
        <p:nvSpPr>
          <p:cNvPr id="269" name="Shape 267"/>
          <p:cNvSpPr/>
          <p:nvPr/>
        </p:nvSpPr>
        <p:spPr>
          <a:xfrm>
            <a:off x="365760" y="3200400"/>
            <a:ext cx="8412480" cy="274320"/>
          </a:xfrm>
          <a:prstGeom prst="rect">
            <a:avLst/>
          </a:prstGeom>
          <a:solidFill>
            <a:srgbClr val="FB923C">
              <a:alpha val="1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502920" y="320040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</a:rPr>
              <a:t>3. Papka nusxalash (-r bilan)</a:t>
            </a:r>
            <a:endParaRPr lang="en-US" sz="1100" dirty="0"/>
          </a:p>
        </p:txBody>
      </p:sp>
      <p:sp>
        <p:nvSpPr>
          <p:cNvPr id="271" name="Shape 269"/>
          <p:cNvSpPr/>
          <p:nvPr/>
        </p:nvSpPr>
        <p:spPr>
          <a:xfrm>
            <a:off x="365760" y="3460750"/>
            <a:ext cx="841248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411607" y="3671443"/>
            <a:ext cx="813816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-r ./loyiha/ ali@192.168.1.50:/home/ali/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-r ali@server.com:/var/www/html ./backup/</a:t>
            </a:r>
            <a:endParaRPr lang="en-US" sz="1100" dirty="0"/>
          </a:p>
        </p:txBody>
      </p:sp>
      <p:sp>
        <p:nvSpPr>
          <p:cNvPr id="275" name="Shape 273"/>
          <p:cNvSpPr/>
          <p:nvPr/>
        </p:nvSpPr>
        <p:spPr>
          <a:xfrm>
            <a:off x="365760" y="4151376"/>
            <a:ext cx="8412480" cy="274320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502920" y="4151376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</a:rPr>
              <a:t>4. SSH kalit bilan (parolsiz)</a:t>
            </a:r>
            <a:endParaRPr lang="en-US" sz="1100" dirty="0"/>
          </a:p>
        </p:txBody>
      </p:sp>
      <p:sp>
        <p:nvSpPr>
          <p:cNvPr id="280" name="Text 278"/>
          <p:cNvSpPr/>
          <p:nvPr/>
        </p:nvSpPr>
        <p:spPr>
          <a:xfrm>
            <a:off x="457327" y="4526534"/>
            <a:ext cx="8138160" cy="256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-i ~/.ssh/id_rsa fayl.zip deploy@prod.server:/opt/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user@host1:/fayl.txt user@host2:/manzil/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FB923C">
              <a:alpha val="18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923C"/>
                </a:solidFill>
              </a:rPr>
              <a:t>RSYNC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rsync — Aqlli Sinxronlash</a:t>
            </a:r>
            <a:endParaRPr lang="en-US" sz="30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61872"/>
            <a:ext cx="4160520" cy="2606040"/>
          </a:xfrm>
          <a:prstGeom prst="rect">
            <a:avLst/>
          </a:prstGeom>
          <a:solidFill>
            <a:srgbClr val="111827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65760" y="1261872"/>
            <a:ext cx="4160520" cy="347472"/>
          </a:xfrm>
          <a:prstGeom prst="rect">
            <a:avLst/>
          </a:prstGeom>
          <a:solidFill>
            <a:srgbClr val="64748B">
              <a:alpha val="2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57200" y="1261872"/>
            <a:ext cx="3977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scp</a:t>
            </a:r>
            <a:endParaRPr lang="en-US" sz="1400" dirty="0"/>
          </a:p>
        </p:txBody>
      </p:sp>
      <p:sp>
        <p:nvSpPr>
          <p:cNvPr id="260" name="Text 258"/>
          <p:cNvSpPr/>
          <p:nvPr/>
        </p:nvSpPr>
        <p:spPr>
          <a:xfrm>
            <a:off x="502920" y="169164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</a:rPr>
              <a:t>✗  Har safar butun faylni yuboradi</a:t>
            </a:r>
            <a:endParaRPr lang="en-US" sz="1100" dirty="0"/>
          </a:p>
        </p:txBody>
      </p:sp>
      <p:sp>
        <p:nvSpPr>
          <p:cNvPr id="261" name="Text 259"/>
          <p:cNvSpPr/>
          <p:nvPr/>
        </p:nvSpPr>
        <p:spPr>
          <a:xfrm>
            <a:off x="502920" y="219456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</a:rPr>
              <a:t>✗  Davom ettirish imkoni yo'q</a:t>
            </a:r>
            <a:endParaRPr lang="en-US" sz="1100" dirty="0"/>
          </a:p>
        </p:txBody>
      </p:sp>
      <p:sp>
        <p:nvSpPr>
          <p:cNvPr id="262" name="Text 260"/>
          <p:cNvSpPr/>
          <p:nvPr/>
        </p:nvSpPr>
        <p:spPr>
          <a:xfrm>
            <a:off x="502920" y="269748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</a:rPr>
              <a:t>✗  Delta algoritmini bilmaydi</a:t>
            </a:r>
            <a:endParaRPr lang="en-US" sz="1100" dirty="0"/>
          </a:p>
        </p:txBody>
      </p:sp>
      <p:sp>
        <p:nvSpPr>
          <p:cNvPr id="263" name="Text 261"/>
          <p:cNvSpPr/>
          <p:nvPr/>
        </p:nvSpPr>
        <p:spPr>
          <a:xfrm>
            <a:off x="502920" y="320040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✗  Oddiy holatlar uchun yaxshi</a:t>
            </a:r>
            <a:endParaRPr lang="en-US" sz="1100" dirty="0"/>
          </a:p>
        </p:txBody>
      </p:sp>
      <p:sp>
        <p:nvSpPr>
          <p:cNvPr id="264" name="Shape 262"/>
          <p:cNvSpPr/>
          <p:nvPr/>
        </p:nvSpPr>
        <p:spPr>
          <a:xfrm>
            <a:off x="4617720" y="1261872"/>
            <a:ext cx="4160520" cy="2606040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617720" y="1261872"/>
            <a:ext cx="4160520" cy="347472"/>
          </a:xfrm>
          <a:prstGeom prst="rect">
            <a:avLst/>
          </a:prstGeom>
          <a:solidFill>
            <a:srgbClr val="FB923C">
              <a:alpha val="2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4709160" y="1261872"/>
            <a:ext cx="3977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923C"/>
                </a:solidFill>
              </a:rPr>
              <a:t>rsync</a:t>
            </a:r>
            <a:endParaRPr lang="en-US" sz="1400" dirty="0"/>
          </a:p>
        </p:txBody>
      </p:sp>
      <p:sp>
        <p:nvSpPr>
          <p:cNvPr id="267" name="Text 265"/>
          <p:cNvSpPr/>
          <p:nvPr/>
        </p:nvSpPr>
        <p:spPr>
          <a:xfrm>
            <a:off x="4754880" y="169164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</a:rPr>
              <a:t>✓  Faqat o'zgargan qismlarni yuboradi</a:t>
            </a:r>
            <a:endParaRPr lang="en-US" sz="1100" dirty="0"/>
          </a:p>
        </p:txBody>
      </p:sp>
      <p:sp>
        <p:nvSpPr>
          <p:cNvPr id="268" name="Text 266"/>
          <p:cNvSpPr/>
          <p:nvPr/>
        </p:nvSpPr>
        <p:spPr>
          <a:xfrm>
            <a:off x="4754880" y="219456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</a:rPr>
              <a:t>✓  To'xtab davom ettirish mumkin</a:t>
            </a:r>
            <a:endParaRPr lang="en-US" sz="1100" dirty="0"/>
          </a:p>
        </p:txBody>
      </p:sp>
      <p:sp>
        <p:nvSpPr>
          <p:cNvPr id="269" name="Text 267"/>
          <p:cNvSpPr/>
          <p:nvPr/>
        </p:nvSpPr>
        <p:spPr>
          <a:xfrm>
            <a:off x="4754880" y="269748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</a:rPr>
              <a:t>✓  Delta algoritmi ishlatadi</a:t>
            </a:r>
            <a:endParaRPr lang="en-US" sz="1100" dirty="0"/>
          </a:p>
        </p:txBody>
      </p:sp>
      <p:sp>
        <p:nvSpPr>
          <p:cNvPr id="270" name="Text 268"/>
          <p:cNvSpPr/>
          <p:nvPr/>
        </p:nvSpPr>
        <p:spPr>
          <a:xfrm>
            <a:off x="4754880" y="3200400"/>
            <a:ext cx="38404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</a:rPr>
              <a:t>✓  Katta papkalar va backup uchun ideal</a:t>
            </a:r>
            <a:endParaRPr lang="en-US" sz="1100" dirty="0"/>
          </a:p>
        </p:txBody>
      </p:sp>
      <p:sp>
        <p:nvSpPr>
          <p:cNvPr id="271" name="Shape 269"/>
          <p:cNvSpPr/>
          <p:nvPr/>
        </p:nvSpPr>
        <p:spPr>
          <a:xfrm>
            <a:off x="365760" y="4005072"/>
            <a:ext cx="8412480" cy="896112"/>
          </a:xfrm>
          <a:prstGeom prst="rect">
            <a:avLst/>
          </a:prstGeom>
          <a:solidFill>
            <a:srgbClr val="1A2235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530352" y="4059936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</a:rPr>
              <a:t>Delta algoritmi qanday ishlaydi:</a:t>
            </a:r>
            <a:endParaRPr lang="en-US" sz="1100" dirty="0"/>
          </a:p>
        </p:txBody>
      </p:sp>
      <p:sp>
        <p:nvSpPr>
          <p:cNvPr id="273" name="Text 271"/>
          <p:cNvSpPr/>
          <p:nvPr/>
        </p:nvSpPr>
        <p:spPr>
          <a:xfrm>
            <a:off x="530352" y="4343400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1. Manba va manzildagi fayllarni taqqoslaydi  →  2. Faqat farqlangan bloklarni yuboradi  →  3. Manzilda faylni birlashtiradi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FB923C">
              <a:alpha val="18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923C"/>
                </a:solidFill>
              </a:rPr>
              <a:t>RSYNC — AMALIYOT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rsync amaliy misollar</a:t>
            </a:r>
            <a:endParaRPr lang="en-US" sz="30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61745"/>
            <a:ext cx="8412480" cy="3054350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65760" y="1261872"/>
            <a:ext cx="841248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75488" y="1280160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60" name="Text 258"/>
          <p:cNvSpPr/>
          <p:nvPr/>
        </p:nvSpPr>
        <p:spPr>
          <a:xfrm>
            <a:off x="3657600" y="1280160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rsync misollar</a:t>
            </a:r>
            <a:endParaRPr lang="en-US" sz="900" dirty="0"/>
          </a:p>
        </p:txBody>
      </p:sp>
      <p:sp>
        <p:nvSpPr>
          <p:cNvPr id="261" name="Text 259"/>
          <p:cNvSpPr/>
          <p:nvPr/>
        </p:nvSpPr>
        <p:spPr>
          <a:xfrm>
            <a:off x="530352" y="1554480"/>
            <a:ext cx="8138160" cy="25420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Asosiy sintaksis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 [parametrlar] [manba] [manzil]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Mahalliy papkani masofaviyga sinxronlash (-avz keng tarqalgan kombinatsiya)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 -avz ./loyiha/ ali@192.168.1.50:/home/ali/loyiha/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-a: arxiv (papkalar, ruxsatlar, vaqtni saqlash)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-v: verbose (nima bo'layotganini ko'rsatish)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-z: siqish yoqish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To'xtatib davom ettirish (katta fayllar uchun)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 -avz --partial --progress fayl.iso ali@server:/backup/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O'chirilgan fayllarni manzildan ham o'chirish (to'liq ko'zgulash)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 -avz --delete ./manba/ ali@server:/manzil/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SSH port belgilash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 -avz -e "ssh -p 2222" ./papka/ ali@server:/manzil/</a:t>
            </a:r>
            <a:endParaRPr lang="en-US" sz="1100" dirty="0"/>
          </a:p>
        </p:txBody>
      </p:sp>
      <p:sp>
        <p:nvSpPr>
          <p:cNvPr id="262" name="Shape 260"/>
          <p:cNvSpPr/>
          <p:nvPr/>
        </p:nvSpPr>
        <p:spPr>
          <a:xfrm>
            <a:off x="365760" y="4315968"/>
            <a:ext cx="27432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457200" y="4315968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</a:t>
            </a:r>
            <a:endParaRPr lang="en-US" sz="1100" dirty="0"/>
          </a:p>
        </p:txBody>
      </p:sp>
      <p:sp>
        <p:nvSpPr>
          <p:cNvPr id="264" name="Text 262"/>
          <p:cNvSpPr/>
          <p:nvPr/>
        </p:nvSpPr>
        <p:spPr>
          <a:xfrm>
            <a:off x="1371600" y="4315968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Arxiv rejimi (barcha meta-maʼlumotlar)</a:t>
            </a:r>
            <a:endParaRPr lang="en-US" sz="900" dirty="0"/>
          </a:p>
        </p:txBody>
      </p:sp>
      <p:sp>
        <p:nvSpPr>
          <p:cNvPr id="265" name="Shape 263"/>
          <p:cNvSpPr/>
          <p:nvPr/>
        </p:nvSpPr>
        <p:spPr>
          <a:xfrm>
            <a:off x="3291840" y="4315968"/>
            <a:ext cx="27432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3383280" y="4315968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endParaRPr lang="en-US" sz="1100" dirty="0"/>
          </a:p>
        </p:txBody>
      </p:sp>
      <p:sp>
        <p:nvSpPr>
          <p:cNvPr id="267" name="Text 265"/>
          <p:cNvSpPr/>
          <p:nvPr/>
        </p:nvSpPr>
        <p:spPr>
          <a:xfrm>
            <a:off x="4297680" y="4315968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Verbose — jarayonni ko'rsatish</a:t>
            </a:r>
            <a:endParaRPr lang="en-US" sz="900" dirty="0"/>
          </a:p>
        </p:txBody>
      </p:sp>
      <p:sp>
        <p:nvSpPr>
          <p:cNvPr id="268" name="Shape 266"/>
          <p:cNvSpPr/>
          <p:nvPr/>
        </p:nvSpPr>
        <p:spPr>
          <a:xfrm>
            <a:off x="6217920" y="4315968"/>
            <a:ext cx="27432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6309360" y="4315968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-z</a:t>
            </a:r>
            <a:endParaRPr lang="en-US" sz="1100" dirty="0"/>
          </a:p>
        </p:txBody>
      </p:sp>
      <p:sp>
        <p:nvSpPr>
          <p:cNvPr id="270" name="Text 268"/>
          <p:cNvSpPr/>
          <p:nvPr/>
        </p:nvSpPr>
        <p:spPr>
          <a:xfrm>
            <a:off x="7223760" y="4315968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Siqish (tarmoq tejash)</a:t>
            </a:r>
            <a:endParaRPr lang="en-US" sz="900" dirty="0"/>
          </a:p>
        </p:txBody>
      </p:sp>
      <p:sp>
        <p:nvSpPr>
          <p:cNvPr id="271" name="Shape 269"/>
          <p:cNvSpPr/>
          <p:nvPr/>
        </p:nvSpPr>
        <p:spPr>
          <a:xfrm>
            <a:off x="365760" y="4736592"/>
            <a:ext cx="27432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457200" y="473659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--partial</a:t>
            </a:r>
            <a:endParaRPr lang="en-US" sz="1100" dirty="0"/>
          </a:p>
        </p:txBody>
      </p:sp>
      <p:sp>
        <p:nvSpPr>
          <p:cNvPr id="273" name="Text 271"/>
          <p:cNvSpPr/>
          <p:nvPr/>
        </p:nvSpPr>
        <p:spPr>
          <a:xfrm>
            <a:off x="1371600" y="4736592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Yarim uzatilgan faylni saqlash</a:t>
            </a:r>
            <a:endParaRPr lang="en-US" sz="900" dirty="0"/>
          </a:p>
        </p:txBody>
      </p:sp>
      <p:sp>
        <p:nvSpPr>
          <p:cNvPr id="274" name="Shape 272"/>
          <p:cNvSpPr/>
          <p:nvPr/>
        </p:nvSpPr>
        <p:spPr>
          <a:xfrm>
            <a:off x="3291840" y="4736592"/>
            <a:ext cx="27432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3383280" y="473659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--progress</a:t>
            </a:r>
            <a:endParaRPr lang="en-US" sz="1100" dirty="0"/>
          </a:p>
        </p:txBody>
      </p:sp>
      <p:sp>
        <p:nvSpPr>
          <p:cNvPr id="276" name="Text 274"/>
          <p:cNvSpPr/>
          <p:nvPr/>
        </p:nvSpPr>
        <p:spPr>
          <a:xfrm>
            <a:off x="4297680" y="4736592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Progress bar ko'rsatish</a:t>
            </a:r>
            <a:endParaRPr lang="en-US" sz="900" dirty="0"/>
          </a:p>
        </p:txBody>
      </p:sp>
      <p:sp>
        <p:nvSpPr>
          <p:cNvPr id="277" name="Shape 275"/>
          <p:cNvSpPr/>
          <p:nvPr/>
        </p:nvSpPr>
        <p:spPr>
          <a:xfrm>
            <a:off x="6217920" y="4736592"/>
            <a:ext cx="2743200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6309360" y="473659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--delete</a:t>
            </a:r>
            <a:endParaRPr lang="en-US" sz="1100" dirty="0"/>
          </a:p>
        </p:txBody>
      </p:sp>
      <p:sp>
        <p:nvSpPr>
          <p:cNvPr id="279" name="Text 277"/>
          <p:cNvSpPr/>
          <p:nvPr/>
        </p:nvSpPr>
        <p:spPr>
          <a:xfrm>
            <a:off x="7223760" y="4736592"/>
            <a:ext cx="1645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Manzildan o'chirilganlarni ham o'chirish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FB923C">
              <a:alpha val="18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923C"/>
                </a:solidFill>
              </a:rPr>
              <a:t>RSYNC — REAL DUNYO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</a:rPr>
              <a:t>Real dunyo stsenariysi: Avtomatik Backup</a:t>
            </a:r>
            <a:endParaRPr lang="en-US" sz="26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61872"/>
            <a:ext cx="566928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65760" y="1261872"/>
            <a:ext cx="566928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475488" y="1280160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60" name="Text 258"/>
          <p:cNvSpPr/>
          <p:nvPr/>
        </p:nvSpPr>
        <p:spPr>
          <a:xfrm>
            <a:off x="2286000" y="1280160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backup.sh</a:t>
            </a:r>
            <a:endParaRPr lang="en-US" sz="900" dirty="0"/>
          </a:p>
        </p:txBody>
      </p:sp>
      <p:sp>
        <p:nvSpPr>
          <p:cNvPr id="261" name="Text 259"/>
          <p:cNvSpPr/>
          <p:nvPr/>
        </p:nvSpPr>
        <p:spPr>
          <a:xfrm>
            <a:off x="502920" y="1482090"/>
            <a:ext cx="5394960" cy="343598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Har kecha avtomatik backup skripti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Fayl: /usr/local/bin/backup.sh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MANBA="/var/www/html"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MANZIL="backup_user@192.168.1.100:/backups/web"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SANA=$(date +%Y-%m-%d)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LOG="/var/log/backup_$SANA.log"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"Backup boshlandi: $SANA" &gt;&gt; $LOG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 -avz --partial --delete \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--log-file=$LOG \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$MANBA/ $MANZIL/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 $? -eq 0 ]; then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"Backup muvaffaqiyatli!" &gt;&gt; $LOG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 "XATO: Backup muvaffaqiyatsiz!" &gt;&gt; $LOG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1100" dirty="0"/>
          </a:p>
        </p:txBody>
      </p:sp>
      <p:sp>
        <p:nvSpPr>
          <p:cNvPr id="262" name="Shape 260"/>
          <p:cNvSpPr/>
          <p:nvPr/>
        </p:nvSpPr>
        <p:spPr>
          <a:xfrm>
            <a:off x="6172200" y="1261872"/>
            <a:ext cx="2606040" cy="3611880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6309360" y="137160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</a:rPr>
              <a:t>Cron bilan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</a:rPr>
              <a:t>rejalash</a:t>
            </a:r>
            <a:endParaRPr lang="en-US" sz="1300" dirty="0"/>
          </a:p>
        </p:txBody>
      </p:sp>
      <p:sp>
        <p:nvSpPr>
          <p:cNvPr id="264" name="Shape 262"/>
          <p:cNvSpPr/>
          <p:nvPr/>
        </p:nvSpPr>
        <p:spPr>
          <a:xfrm>
            <a:off x="6263640" y="1920240"/>
            <a:ext cx="2377440" cy="804672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6386830" y="1920240"/>
            <a:ext cx="210312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crontab -e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Har kecha 02:00 da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2 * * * /usr/local/bin/backup.sh</a:t>
            </a:r>
            <a:endParaRPr lang="en-US" sz="1100" dirty="0"/>
          </a:p>
        </p:txBody>
      </p:sp>
      <p:sp>
        <p:nvSpPr>
          <p:cNvPr id="268" name="Text 266"/>
          <p:cNvSpPr/>
          <p:nvPr/>
        </p:nvSpPr>
        <p:spPr>
          <a:xfrm>
            <a:off x="6309360" y="2816352"/>
            <a:ext cx="23774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Cron jadval formati:</a:t>
            </a:r>
            <a:endParaRPr lang="en-US" sz="1000" dirty="0"/>
          </a:p>
        </p:txBody>
      </p:sp>
      <p:sp>
        <p:nvSpPr>
          <p:cNvPr id="269" name="Text 267"/>
          <p:cNvSpPr/>
          <p:nvPr/>
        </p:nvSpPr>
        <p:spPr>
          <a:xfrm>
            <a:off x="6309360" y="3090672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</a:rPr>
              <a:t>daqiqa (0)</a:t>
            </a:r>
            <a:endParaRPr lang="en-US" sz="1000" dirty="0"/>
          </a:p>
        </p:txBody>
      </p:sp>
      <p:sp>
        <p:nvSpPr>
          <p:cNvPr id="270" name="Text 268"/>
          <p:cNvSpPr/>
          <p:nvPr/>
        </p:nvSpPr>
        <p:spPr>
          <a:xfrm>
            <a:off x="6309360" y="3419856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BF24"/>
                </a:solidFill>
              </a:rPr>
              <a:t>soat (2)</a:t>
            </a:r>
            <a:endParaRPr lang="en-US" sz="1000" dirty="0"/>
          </a:p>
        </p:txBody>
      </p:sp>
      <p:sp>
        <p:nvSpPr>
          <p:cNvPr id="271" name="Text 269"/>
          <p:cNvSpPr/>
          <p:nvPr/>
        </p:nvSpPr>
        <p:spPr>
          <a:xfrm>
            <a:off x="6309360" y="374904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kun (*)</a:t>
            </a:r>
            <a:endParaRPr lang="en-US" sz="1000" dirty="0"/>
          </a:p>
        </p:txBody>
      </p:sp>
      <p:sp>
        <p:nvSpPr>
          <p:cNvPr id="272" name="Text 270"/>
          <p:cNvSpPr/>
          <p:nvPr/>
        </p:nvSpPr>
        <p:spPr>
          <a:xfrm>
            <a:off x="6309360" y="4078224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oy (*)</a:t>
            </a:r>
            <a:endParaRPr lang="en-US" sz="1000" dirty="0"/>
          </a:p>
        </p:txBody>
      </p:sp>
      <p:sp>
        <p:nvSpPr>
          <p:cNvPr id="273" name="Text 271"/>
          <p:cNvSpPr/>
          <p:nvPr/>
        </p:nvSpPr>
        <p:spPr>
          <a:xfrm>
            <a:off x="6309360" y="4407408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hafta kuni (*)</a:t>
            </a:r>
            <a:endParaRPr lang="en-US" sz="1000" dirty="0"/>
          </a:p>
        </p:txBody>
      </p:sp>
      <p:sp>
        <p:nvSpPr>
          <p:cNvPr id="274" name="Shape 272"/>
          <p:cNvSpPr/>
          <p:nvPr/>
        </p:nvSpPr>
        <p:spPr>
          <a:xfrm>
            <a:off x="365760" y="4956048"/>
            <a:ext cx="5669280" cy="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</a:rPr>
              <a:t>SFTP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sftp — Interaktiv Xavfsiz FTP</a:t>
            </a:r>
            <a:endParaRPr lang="en-US" sz="30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61872"/>
            <a:ext cx="8412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30352" y="1261872"/>
            <a:ext cx="81381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sftp — SSH ustida ishlaydigan interaktiv fayl uzatish muhiti. scp dan farqi: bitta sessiyada ko'p fayl boshqarish mumkin. Masofaviy serverga "ulanadigan" va unda ishlaydigandek his qilasiz.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365760" y="1920240"/>
            <a:ext cx="411480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365760" y="1920240"/>
            <a:ext cx="411480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75488" y="1938528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62" name="Text 260"/>
          <p:cNvSpPr/>
          <p:nvPr/>
        </p:nvSpPr>
        <p:spPr>
          <a:xfrm>
            <a:off x="1508760" y="1938528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terminal</a:t>
            </a:r>
            <a:endParaRPr lang="en-US" sz="900" dirty="0"/>
          </a:p>
        </p:txBody>
      </p:sp>
      <p:sp>
        <p:nvSpPr>
          <p:cNvPr id="263" name="Text 261"/>
          <p:cNvSpPr/>
          <p:nvPr/>
        </p:nvSpPr>
        <p:spPr>
          <a:xfrm>
            <a:off x="530352" y="2212848"/>
            <a:ext cx="3840480" cy="117043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Ulanish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 ali@192.168.1.50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yoki port bilan: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 -P 2222 ali@server.com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Ulangandan so'ng sftp&gt; prompt ko'rinadi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sftp&gt;</a:t>
            </a:r>
            <a:endParaRPr lang="en-US" sz="1100" dirty="0"/>
          </a:p>
        </p:txBody>
      </p:sp>
      <p:sp>
        <p:nvSpPr>
          <p:cNvPr id="264" name="Shape 262"/>
          <p:cNvSpPr/>
          <p:nvPr/>
        </p:nvSpPr>
        <p:spPr>
          <a:xfrm>
            <a:off x="4663440" y="1920240"/>
            <a:ext cx="4114800" cy="155448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4800600" y="199339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</a:rPr>
              <a:t>sftp ichida buyruqlar</a:t>
            </a:r>
            <a:endParaRPr lang="en-US" sz="1200" dirty="0"/>
          </a:p>
        </p:txBody>
      </p:sp>
      <p:sp>
        <p:nvSpPr>
          <p:cNvPr id="266" name="Text 264"/>
          <p:cNvSpPr/>
          <p:nvPr/>
        </p:nvSpPr>
        <p:spPr>
          <a:xfrm>
            <a:off x="4800600" y="2286000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000" dirty="0"/>
          </a:p>
        </p:txBody>
      </p:sp>
      <p:sp>
        <p:nvSpPr>
          <p:cNvPr id="267" name="Text 265"/>
          <p:cNvSpPr/>
          <p:nvPr/>
        </p:nvSpPr>
        <p:spPr>
          <a:xfrm>
            <a:off x="5897880" y="228600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Masofaviy fayllarni ko'rish</a:t>
            </a:r>
            <a:endParaRPr lang="en-US" sz="1000" dirty="0"/>
          </a:p>
        </p:txBody>
      </p:sp>
      <p:sp>
        <p:nvSpPr>
          <p:cNvPr id="268" name="Text 266"/>
          <p:cNvSpPr/>
          <p:nvPr/>
        </p:nvSpPr>
        <p:spPr>
          <a:xfrm>
            <a:off x="4800600" y="2487168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lls</a:t>
            </a:r>
            <a:endParaRPr lang="en-US" sz="1000" dirty="0"/>
          </a:p>
        </p:txBody>
      </p:sp>
      <p:sp>
        <p:nvSpPr>
          <p:cNvPr id="269" name="Text 267"/>
          <p:cNvSpPr/>
          <p:nvPr/>
        </p:nvSpPr>
        <p:spPr>
          <a:xfrm>
            <a:off x="5897880" y="2487168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Lokal fayllarni ko'rish</a:t>
            </a:r>
            <a:endParaRPr lang="en-US" sz="1000" dirty="0"/>
          </a:p>
        </p:txBody>
      </p:sp>
      <p:sp>
        <p:nvSpPr>
          <p:cNvPr id="270" name="Text 268"/>
          <p:cNvSpPr/>
          <p:nvPr/>
        </p:nvSpPr>
        <p:spPr>
          <a:xfrm>
            <a:off x="4800600" y="2688336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 lcd</a:t>
            </a:r>
            <a:endParaRPr lang="en-US" sz="1000" dirty="0"/>
          </a:p>
        </p:txBody>
      </p:sp>
      <p:sp>
        <p:nvSpPr>
          <p:cNvPr id="271" name="Text 269"/>
          <p:cNvSpPr/>
          <p:nvPr/>
        </p:nvSpPr>
        <p:spPr>
          <a:xfrm>
            <a:off x="5897880" y="2688336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Katalog almashtirish</a:t>
            </a:r>
            <a:endParaRPr lang="en-US" sz="1000" dirty="0"/>
          </a:p>
        </p:txBody>
      </p:sp>
      <p:sp>
        <p:nvSpPr>
          <p:cNvPr id="272" name="Text 270"/>
          <p:cNvSpPr/>
          <p:nvPr/>
        </p:nvSpPr>
        <p:spPr>
          <a:xfrm>
            <a:off x="4800600" y="2889504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fayl</a:t>
            </a:r>
            <a:endParaRPr lang="en-US" sz="1000" dirty="0"/>
          </a:p>
        </p:txBody>
      </p:sp>
      <p:sp>
        <p:nvSpPr>
          <p:cNvPr id="273" name="Text 271"/>
          <p:cNvSpPr/>
          <p:nvPr/>
        </p:nvSpPr>
        <p:spPr>
          <a:xfrm>
            <a:off x="5897880" y="2889504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Fayl yuklab olish</a:t>
            </a:r>
            <a:endParaRPr lang="en-US" sz="1000" dirty="0"/>
          </a:p>
        </p:txBody>
      </p:sp>
      <p:sp>
        <p:nvSpPr>
          <p:cNvPr id="274" name="Text 272"/>
          <p:cNvSpPr/>
          <p:nvPr/>
        </p:nvSpPr>
        <p:spPr>
          <a:xfrm>
            <a:off x="4800600" y="3090672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fayl</a:t>
            </a:r>
            <a:endParaRPr lang="en-US" sz="1000" dirty="0"/>
          </a:p>
        </p:txBody>
      </p:sp>
      <p:sp>
        <p:nvSpPr>
          <p:cNvPr id="275" name="Text 273"/>
          <p:cNvSpPr/>
          <p:nvPr/>
        </p:nvSpPr>
        <p:spPr>
          <a:xfrm>
            <a:off x="5897880" y="3090672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Fayl yuklash</a:t>
            </a:r>
            <a:endParaRPr lang="en-US" sz="1000" dirty="0"/>
          </a:p>
        </p:txBody>
      </p:sp>
      <p:sp>
        <p:nvSpPr>
          <p:cNvPr id="276" name="Text 274"/>
          <p:cNvSpPr/>
          <p:nvPr/>
        </p:nvSpPr>
        <p:spPr>
          <a:xfrm>
            <a:off x="4800600" y="3291840"/>
            <a:ext cx="1005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1000" dirty="0"/>
          </a:p>
        </p:txBody>
      </p:sp>
      <p:sp>
        <p:nvSpPr>
          <p:cNvPr id="277" name="Text 275"/>
          <p:cNvSpPr/>
          <p:nvPr/>
        </p:nvSpPr>
        <p:spPr>
          <a:xfrm>
            <a:off x="5897880" y="3291840"/>
            <a:ext cx="2743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Chiqish</a:t>
            </a:r>
            <a:endParaRPr lang="en-US" sz="1000" dirty="0"/>
          </a:p>
        </p:txBody>
      </p:sp>
      <p:sp>
        <p:nvSpPr>
          <p:cNvPr id="278" name="Shape 276"/>
          <p:cNvSpPr/>
          <p:nvPr/>
        </p:nvSpPr>
        <p:spPr>
          <a:xfrm>
            <a:off x="337820" y="3602990"/>
            <a:ext cx="8303260" cy="1440815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3657600" y="3602736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sftp session</a:t>
            </a:r>
            <a:endParaRPr lang="en-US" sz="900" dirty="0"/>
          </a:p>
        </p:txBody>
      </p:sp>
      <p:sp>
        <p:nvSpPr>
          <p:cNvPr id="282" name="Text 280"/>
          <p:cNvSpPr/>
          <p:nvPr/>
        </p:nvSpPr>
        <p:spPr>
          <a:xfrm>
            <a:off x="471297" y="3774186"/>
            <a:ext cx="8138160" cy="9875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sftp&gt; ls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  Downloads  backup.tar.gz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sftp&gt; get backup.tar.gz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Fetching /home/ali/backup.tar.gz to backup.tar.gz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sftp&gt; put yangi_fayl.txt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Uploading yangi_fayl.txt to /home/ali/yangi_fayl.txt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sftp&gt; exit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BF24"/>
                </a:solidFill>
              </a:rPr>
              <a:t>NETCAT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nc (netcat) — Swiss Army Knife</a:t>
            </a:r>
            <a:endParaRPr lang="en-US" sz="30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61872"/>
            <a:ext cx="8412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30352" y="1261872"/>
            <a:ext cx="81381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netcat (nc) — tarmoqning "shveytsariya pichog'i". Hech qanday autentifikatsiya yoki server sozlamasiz port ochib, fayl uzatish mumkin. Bir xil tarmoqdagi (LAN) tezkor uzatish uchun ideal.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365760" y="1938528"/>
            <a:ext cx="4160520" cy="320040"/>
          </a:xfrm>
          <a:prstGeom prst="rect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02920" y="1938528"/>
            <a:ext cx="3977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</a:rPr>
              <a:t>🖥  Linux B — QABUL QILUVCHI (avval ishga tushiriladi)</a:t>
            </a:r>
            <a:endParaRPr lang="en-US" sz="1000" dirty="0"/>
          </a:p>
        </p:txBody>
      </p:sp>
      <p:sp>
        <p:nvSpPr>
          <p:cNvPr id="261" name="Shape 259"/>
          <p:cNvSpPr/>
          <p:nvPr/>
        </p:nvSpPr>
        <p:spPr>
          <a:xfrm>
            <a:off x="365760" y="2267712"/>
            <a:ext cx="4160520" cy="1444752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365760" y="2267712"/>
            <a:ext cx="416052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475488" y="2286000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64" name="Text 262"/>
          <p:cNvSpPr/>
          <p:nvPr/>
        </p:nvSpPr>
        <p:spPr>
          <a:xfrm>
            <a:off x="530352" y="2560320"/>
            <a:ext cx="3886200" cy="10607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Port oching va faylni kuting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-lvp 9999 &gt; qabul_qilingan.zip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-l  : tinglash rejimi (listen)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-v  : verbose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-p  : port raqami</a:t>
            </a:r>
            <a:endParaRPr lang="en-US" sz="1100" dirty="0"/>
          </a:p>
        </p:txBody>
      </p:sp>
      <p:sp>
        <p:nvSpPr>
          <p:cNvPr id="265" name="Shape 263"/>
          <p:cNvSpPr/>
          <p:nvPr/>
        </p:nvSpPr>
        <p:spPr>
          <a:xfrm>
            <a:off x="4617720" y="1938528"/>
            <a:ext cx="4160520" cy="320040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4754880" y="1938528"/>
            <a:ext cx="3977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</a:rPr>
              <a:t>🖥  Linux A — YUBORUVCHI (keyin ishga tushiriladi)</a:t>
            </a:r>
            <a:endParaRPr lang="en-US" sz="1000" dirty="0"/>
          </a:p>
        </p:txBody>
      </p:sp>
      <p:sp>
        <p:nvSpPr>
          <p:cNvPr id="267" name="Shape 265"/>
          <p:cNvSpPr/>
          <p:nvPr/>
        </p:nvSpPr>
        <p:spPr>
          <a:xfrm>
            <a:off x="4617720" y="2267712"/>
            <a:ext cx="4160520" cy="1444752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4617720" y="2267712"/>
            <a:ext cx="416052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4727448" y="2286000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70" name="Text 268"/>
          <p:cNvSpPr/>
          <p:nvPr/>
        </p:nvSpPr>
        <p:spPr>
          <a:xfrm>
            <a:off x="4782312" y="2560320"/>
            <a:ext cx="3886200" cy="10607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 ning IP si va portiga yuboring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192.168.1.50 9999 &lt; yuborilajak.zip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 belgisi faylni stdin ga yo'naltiradi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Tugatgach nc avtomatik yopiladi</a:t>
            </a:r>
            <a:endParaRPr lang="en-US" sz="1100" dirty="0"/>
          </a:p>
        </p:txBody>
      </p:sp>
      <p:sp>
        <p:nvSpPr>
          <p:cNvPr id="271" name="Shape 269"/>
          <p:cNvSpPr/>
          <p:nvPr/>
        </p:nvSpPr>
        <p:spPr>
          <a:xfrm>
            <a:off x="4023360" y="3017520"/>
            <a:ext cx="54864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3977640" y="2880360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→</a:t>
            </a:r>
            <a:endParaRPr lang="en-US" sz="1600" dirty="0"/>
          </a:p>
        </p:txBody>
      </p:sp>
      <p:sp>
        <p:nvSpPr>
          <p:cNvPr id="273" name="Shape 271"/>
          <p:cNvSpPr/>
          <p:nvPr/>
        </p:nvSpPr>
        <p:spPr>
          <a:xfrm>
            <a:off x="365760" y="3840480"/>
            <a:ext cx="27432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365760" y="3840480"/>
            <a:ext cx="54864" cy="10515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530352" y="390448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</a:rPr>
              <a:t>⚠ Şifrlama yo'q</a:t>
            </a:r>
            <a:endParaRPr lang="en-US" sz="1100" dirty="0"/>
          </a:p>
        </p:txBody>
      </p:sp>
      <p:sp>
        <p:nvSpPr>
          <p:cNvPr id="276" name="Text 274"/>
          <p:cNvSpPr/>
          <p:nvPr/>
        </p:nvSpPr>
        <p:spPr>
          <a:xfrm>
            <a:off x="530352" y="4206240"/>
            <a:ext cx="2514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ma'lumotlarni oddiy matn ko'rinishida yuboradi. Maxfiy fayllar uchun scp ishlatilsin.</a:t>
            </a:r>
            <a:endParaRPr lang="en-US" sz="1000" dirty="0"/>
          </a:p>
        </p:txBody>
      </p:sp>
      <p:sp>
        <p:nvSpPr>
          <p:cNvPr id="277" name="Shape 275"/>
          <p:cNvSpPr/>
          <p:nvPr/>
        </p:nvSpPr>
        <p:spPr>
          <a:xfrm>
            <a:off x="3200400" y="3840480"/>
            <a:ext cx="27432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200400" y="3840480"/>
            <a:ext cx="54864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9" name="Text 277"/>
          <p:cNvSpPr/>
          <p:nvPr/>
        </p:nvSpPr>
        <p:spPr>
          <a:xfrm>
            <a:off x="3364992" y="390448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Katta fayllar</a:t>
            </a:r>
            <a:endParaRPr lang="en-US" sz="1100" dirty="0"/>
          </a:p>
        </p:txBody>
      </p:sp>
      <p:sp>
        <p:nvSpPr>
          <p:cNvPr id="280" name="Text 278"/>
          <p:cNvSpPr/>
          <p:nvPr/>
        </p:nvSpPr>
        <p:spPr>
          <a:xfrm>
            <a:off x="3364992" y="4206240"/>
            <a:ext cx="2514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bilan birlashtirish: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czf - ./papka/ | nc 192.168.1.50 9999</a:t>
            </a:r>
            <a:endParaRPr lang="en-US" sz="1000" dirty="0"/>
          </a:p>
        </p:txBody>
      </p:sp>
      <p:sp>
        <p:nvSpPr>
          <p:cNvPr id="281" name="Shape 279"/>
          <p:cNvSpPr/>
          <p:nvPr/>
        </p:nvSpPr>
        <p:spPr>
          <a:xfrm>
            <a:off x="6035040" y="3840480"/>
            <a:ext cx="2743200" cy="105156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6035040" y="3840480"/>
            <a:ext cx="54864" cy="10515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6199632" y="390448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Progress ko'rish</a:t>
            </a:r>
            <a:endParaRPr lang="en-US" sz="1100" dirty="0"/>
          </a:p>
        </p:txBody>
      </p:sp>
      <p:sp>
        <p:nvSpPr>
          <p:cNvPr id="284" name="Text 282"/>
          <p:cNvSpPr/>
          <p:nvPr/>
        </p:nvSpPr>
        <p:spPr>
          <a:xfrm>
            <a:off x="6199632" y="4206240"/>
            <a:ext cx="251460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pv vositasi bilan: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fayl.iso | pv | nc IP 9999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</a:rPr>
              <a:t>HTTP SERVER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</a:rPr>
              <a:t>Python HTTP Server — Tezkor Ulashish</a:t>
            </a:r>
            <a:endParaRPr lang="en-US" sz="26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61872"/>
            <a:ext cx="8412480" cy="50292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30352" y="1261872"/>
            <a:ext cx="8138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</a:rPr>
              <a:t>Python 3 bilan bir buyruqda HTTP fayl serveri yoqiladi. Brauzer yoki wget/curl orqali istalgan qurilmadan yuklab olish mumkin. O'rnatish shart emas — Python ko'pchilik Linuxda standart.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365760" y="1874520"/>
            <a:ext cx="4160520" cy="292608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02920" y="1874520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</a:rPr>
              <a:t>🖥  SERVER: fayllarni ulashuvchi kompyuter</a:t>
            </a:r>
            <a:endParaRPr lang="en-US" sz="1000" dirty="0"/>
          </a:p>
        </p:txBody>
      </p:sp>
      <p:sp>
        <p:nvSpPr>
          <p:cNvPr id="261" name="Shape 259"/>
          <p:cNvSpPr/>
          <p:nvPr/>
        </p:nvSpPr>
        <p:spPr>
          <a:xfrm>
            <a:off x="365760" y="2176272"/>
            <a:ext cx="4160520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471297" y="2272030"/>
            <a:ext cx="388620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Joriy papkani veb-server sifatida ochish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http.server 8080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Muayyan papkani xizmat qilish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/home/ali/ulashish/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http.server 8080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 HTTP on 0.0.0.0 port 8080 ...</a:t>
            </a:r>
            <a:endParaRPr lang="en-US" sz="1100" dirty="0"/>
          </a:p>
        </p:txBody>
      </p:sp>
      <p:sp>
        <p:nvSpPr>
          <p:cNvPr id="265" name="Shape 263"/>
          <p:cNvSpPr/>
          <p:nvPr/>
        </p:nvSpPr>
        <p:spPr>
          <a:xfrm>
            <a:off x="4617720" y="1874520"/>
            <a:ext cx="4160520" cy="292608"/>
          </a:xfrm>
          <a:prstGeom prst="rect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4754880" y="1874520"/>
            <a:ext cx="3977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</a:rPr>
              <a:t>🖥  CLIENT: fayllarni yuklab oluvchi kompyuter</a:t>
            </a:r>
            <a:endParaRPr lang="en-US" sz="1000" dirty="0"/>
          </a:p>
        </p:txBody>
      </p:sp>
      <p:sp>
        <p:nvSpPr>
          <p:cNvPr id="267" name="Shape 265"/>
          <p:cNvSpPr/>
          <p:nvPr/>
        </p:nvSpPr>
        <p:spPr>
          <a:xfrm>
            <a:off x="4645025" y="2176272"/>
            <a:ext cx="4160520" cy="1572768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4755007" y="2272030"/>
            <a:ext cx="388620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wget bilan yuklab olish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wget http://192.168.1.50:8080/fayl.zip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curl bilan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-O http://192.168.1.50:8080/fayl.pdf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Brauzerda: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http://192.168.1.50:8080/</a:t>
            </a:r>
            <a:endParaRPr lang="en-US" sz="1100" dirty="0"/>
          </a:p>
        </p:txBody>
      </p:sp>
      <p:sp>
        <p:nvSpPr>
          <p:cNvPr id="271" name="Shape 269"/>
          <p:cNvSpPr/>
          <p:nvPr/>
        </p:nvSpPr>
        <p:spPr>
          <a:xfrm>
            <a:off x="365760" y="3886200"/>
            <a:ext cx="27432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365760" y="3886200"/>
            <a:ext cx="54864" cy="10058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530352" y="395020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7171"/>
                </a:solidFill>
              </a:rPr>
              <a:t>🔓 Autentifikatsiya yo'q</a:t>
            </a:r>
            <a:endParaRPr lang="en-US" sz="1100" dirty="0"/>
          </a:p>
        </p:txBody>
      </p:sp>
      <p:sp>
        <p:nvSpPr>
          <p:cNvPr id="274" name="Text 272"/>
          <p:cNvSpPr/>
          <p:nvPr/>
        </p:nvSpPr>
        <p:spPr>
          <a:xfrm>
            <a:off x="530352" y="425196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Hamma faylni ko'ra oladi. Faqat ishonchli tarmoqda ishlatilsin.</a:t>
            </a:r>
            <a:endParaRPr lang="en-US" sz="1000" dirty="0"/>
          </a:p>
        </p:txBody>
      </p:sp>
      <p:sp>
        <p:nvSpPr>
          <p:cNvPr id="275" name="Shape 273"/>
          <p:cNvSpPr/>
          <p:nvPr/>
        </p:nvSpPr>
        <p:spPr>
          <a:xfrm>
            <a:off x="3200400" y="3886200"/>
            <a:ext cx="27432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200400" y="3886200"/>
            <a:ext cx="54864" cy="10058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3364992" y="395020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</a:rPr>
              <a:t>📁 Papka ko'rinadi</a:t>
            </a:r>
            <a:endParaRPr lang="en-US" sz="1100" dirty="0"/>
          </a:p>
        </p:txBody>
      </p:sp>
      <p:sp>
        <p:nvSpPr>
          <p:cNvPr id="278" name="Text 276"/>
          <p:cNvSpPr/>
          <p:nvPr/>
        </p:nvSpPr>
        <p:spPr>
          <a:xfrm>
            <a:off x="3364992" y="425196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Brauzerda fayl ro'yxati ko'rinadi — oddiy veb interfeys.</a:t>
            </a:r>
            <a:endParaRPr lang="en-US" sz="1000" dirty="0"/>
          </a:p>
        </p:txBody>
      </p:sp>
      <p:sp>
        <p:nvSpPr>
          <p:cNvPr id="279" name="Shape 277"/>
          <p:cNvSpPr/>
          <p:nvPr/>
        </p:nvSpPr>
        <p:spPr>
          <a:xfrm>
            <a:off x="6035040" y="3886200"/>
            <a:ext cx="27432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035040" y="3886200"/>
            <a:ext cx="54864" cy="10058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6199632" y="3950208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</a:rPr>
              <a:t>⚡ 0 sozlama</a:t>
            </a:r>
            <a:endParaRPr lang="en-US" sz="1100" dirty="0"/>
          </a:p>
        </p:txBody>
      </p:sp>
      <p:sp>
        <p:nvSpPr>
          <p:cNvPr id="282" name="Text 280"/>
          <p:cNvSpPr/>
          <p:nvPr/>
        </p:nvSpPr>
        <p:spPr>
          <a:xfrm>
            <a:off x="6199632" y="4251960"/>
            <a:ext cx="2514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Hech qanday config kerak emas. Bir buyruq — tayyor.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TAR + SIQISH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</a:rPr>
              <a:t>tar — Uzatishdan oldin arxivlash</a:t>
            </a:r>
            <a:endParaRPr lang="en-US" sz="28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61872"/>
            <a:ext cx="841248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30352" y="1261872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Ko'p fayllarni uzatishdan avval bitta arxivga jamlab siqish — tarmoqni tejaydi va uzatish tezroq bo'ladi.</a:t>
            </a:r>
            <a:endParaRPr lang="en-US" sz="1200" dirty="0"/>
          </a:p>
        </p:txBody>
      </p:sp>
      <p:sp>
        <p:nvSpPr>
          <p:cNvPr id="259" name="Shape 257"/>
          <p:cNvSpPr/>
          <p:nvPr/>
        </p:nvSpPr>
        <p:spPr>
          <a:xfrm>
            <a:off x="365760" y="1828800"/>
            <a:ext cx="5029200" cy="3035808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365760" y="1828800"/>
            <a:ext cx="502920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75488" y="1847088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62" name="Text 260"/>
          <p:cNvSpPr/>
          <p:nvPr/>
        </p:nvSpPr>
        <p:spPr>
          <a:xfrm>
            <a:off x="530352" y="2121408"/>
            <a:ext cx="4754880" cy="2651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Arxiv yaratish (siqmasdan)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-cvf arxiv.tar ./papka/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Gzip bilan siqib arxivlash (.tar.gz)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-czvf arxiv.tar.gz ./papka/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Bzip2 bilan (kuchli siqish, sekinroq)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-cjvf arxiv.tar.bz2 ./papka/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Arxivni ochish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-xzvf arxiv.tar.gz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-xzvf arxiv.tar.gz -C /manzil/papka/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Arxiv ichini ko'rish (ochmay)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-tzvf arxiv.tar.gz</a:t>
            </a:r>
            <a:endParaRPr lang="en-US" sz="1100" dirty="0"/>
          </a:p>
        </p:txBody>
      </p:sp>
      <p:sp>
        <p:nvSpPr>
          <p:cNvPr id="263" name="Shape 261"/>
          <p:cNvSpPr/>
          <p:nvPr/>
        </p:nvSpPr>
        <p:spPr>
          <a:xfrm>
            <a:off x="5577840" y="1828800"/>
            <a:ext cx="32004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5715000" y="190195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</a:rPr>
              <a:t>scp bilan birlashtirish</a:t>
            </a:r>
            <a:endParaRPr lang="en-US" sz="1200" dirty="0"/>
          </a:p>
        </p:txBody>
      </p:sp>
      <p:sp>
        <p:nvSpPr>
          <p:cNvPr id="265" name="Shape 263"/>
          <p:cNvSpPr/>
          <p:nvPr/>
        </p:nvSpPr>
        <p:spPr>
          <a:xfrm>
            <a:off x="5715000" y="2212848"/>
            <a:ext cx="2926080" cy="932688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5824728" y="2231136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68" name="Text 266"/>
          <p:cNvSpPr/>
          <p:nvPr/>
        </p:nvSpPr>
        <p:spPr>
          <a:xfrm>
            <a:off x="5879592" y="2505456"/>
            <a:ext cx="265176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Arxivlab yuborish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czvf - ./papka/ | ssh ali@server "cat &gt; /backup/papka.tar.gz"</a:t>
            </a:r>
            <a:endParaRPr lang="en-US" sz="1100" dirty="0"/>
          </a:p>
        </p:txBody>
      </p:sp>
      <p:sp>
        <p:nvSpPr>
          <p:cNvPr id="269" name="Shape 267"/>
          <p:cNvSpPr/>
          <p:nvPr/>
        </p:nvSpPr>
        <p:spPr>
          <a:xfrm>
            <a:off x="5577840" y="3337560"/>
            <a:ext cx="3200400" cy="1527048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5715000" y="341071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</a:rPr>
              <a:t>Fayl o'lchamini solishtirish</a:t>
            </a:r>
            <a:endParaRPr lang="en-US" sz="1200" dirty="0"/>
          </a:p>
        </p:txBody>
      </p:sp>
      <p:sp>
        <p:nvSpPr>
          <p:cNvPr id="271" name="Text 269"/>
          <p:cNvSpPr/>
          <p:nvPr/>
        </p:nvSpPr>
        <p:spPr>
          <a:xfrm>
            <a:off x="5715000" y="37490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papka/</a:t>
            </a:r>
            <a:endParaRPr lang="en-US" sz="1000" dirty="0"/>
          </a:p>
        </p:txBody>
      </p:sp>
      <p:sp>
        <p:nvSpPr>
          <p:cNvPr id="272" name="Text 270"/>
          <p:cNvSpPr/>
          <p:nvPr/>
        </p:nvSpPr>
        <p:spPr>
          <a:xfrm>
            <a:off x="7635240" y="3749040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</a:rPr>
              <a:t>450 MB</a:t>
            </a:r>
            <a:endParaRPr lang="en-US" sz="1000" dirty="0"/>
          </a:p>
        </p:txBody>
      </p:sp>
      <p:sp>
        <p:nvSpPr>
          <p:cNvPr id="273" name="Text 271"/>
          <p:cNvSpPr/>
          <p:nvPr/>
        </p:nvSpPr>
        <p:spPr>
          <a:xfrm>
            <a:off x="5715000" y="40233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tar (nosiqilgan)</a:t>
            </a:r>
            <a:endParaRPr lang="en-US" sz="1000" dirty="0"/>
          </a:p>
        </p:txBody>
      </p:sp>
      <p:sp>
        <p:nvSpPr>
          <p:cNvPr id="274" name="Text 272"/>
          <p:cNvSpPr/>
          <p:nvPr/>
        </p:nvSpPr>
        <p:spPr>
          <a:xfrm>
            <a:off x="7635240" y="4023360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</a:rPr>
              <a:t>448 MB</a:t>
            </a:r>
            <a:endParaRPr lang="en-US" sz="1000" dirty="0"/>
          </a:p>
        </p:txBody>
      </p:sp>
      <p:sp>
        <p:nvSpPr>
          <p:cNvPr id="275" name="Text 273"/>
          <p:cNvSpPr/>
          <p:nvPr/>
        </p:nvSpPr>
        <p:spPr>
          <a:xfrm>
            <a:off x="5715000" y="42976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tar.gz (gzip)</a:t>
            </a:r>
            <a:endParaRPr lang="en-US" sz="1000" dirty="0"/>
          </a:p>
        </p:txBody>
      </p:sp>
      <p:sp>
        <p:nvSpPr>
          <p:cNvPr id="276" name="Text 274"/>
          <p:cNvSpPr/>
          <p:nvPr/>
        </p:nvSpPr>
        <p:spPr>
          <a:xfrm>
            <a:off x="7635240" y="4297680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ADE80"/>
                </a:solidFill>
              </a:rPr>
              <a:t>120 MB</a:t>
            </a:r>
            <a:endParaRPr lang="en-US" sz="1000" dirty="0"/>
          </a:p>
        </p:txBody>
      </p:sp>
      <p:sp>
        <p:nvSpPr>
          <p:cNvPr id="277" name="Text 275"/>
          <p:cNvSpPr/>
          <p:nvPr/>
        </p:nvSpPr>
        <p:spPr>
          <a:xfrm>
            <a:off x="5715000" y="457200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tar.bz2 (bzip2)</a:t>
            </a:r>
            <a:endParaRPr lang="en-US" sz="1000" dirty="0"/>
          </a:p>
        </p:txBody>
      </p:sp>
      <p:sp>
        <p:nvSpPr>
          <p:cNvPr id="278" name="Text 276"/>
          <p:cNvSpPr/>
          <p:nvPr/>
        </p:nvSpPr>
        <p:spPr>
          <a:xfrm>
            <a:off x="7635240" y="4572000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BDF8"/>
                </a:solidFill>
              </a:rPr>
              <a:t>98 MB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SSH KALITLAR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</a:rPr>
              <a:t>SSH Kalit Bilan Parolsiz Ulanish</a:t>
            </a:r>
            <a:endParaRPr lang="en-US" sz="28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61872"/>
            <a:ext cx="8412480" cy="457200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530352" y="1261872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</a:rPr>
              <a:t>scp/rsync skriptlarda foydalanilganda har safar parol so'ralmasin — SSH kalit juftligi yordamida parolsiz, xavfsiz ulanish sozlanadi.</a:t>
            </a:r>
            <a:endParaRPr lang="en-US" sz="1200" dirty="0"/>
          </a:p>
        </p:txBody>
      </p:sp>
      <p:sp>
        <p:nvSpPr>
          <p:cNvPr id="259" name="Shape 257"/>
          <p:cNvSpPr/>
          <p:nvPr/>
        </p:nvSpPr>
        <p:spPr>
          <a:xfrm>
            <a:off x="365760" y="1828800"/>
            <a:ext cx="841248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365760" y="1828800"/>
            <a:ext cx="8412480" cy="24688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475488" y="1847088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● ● ●</a:t>
            </a:r>
            <a:endParaRPr lang="en-US" sz="900" dirty="0"/>
          </a:p>
        </p:txBody>
      </p:sp>
      <p:sp>
        <p:nvSpPr>
          <p:cNvPr id="262" name="Text 260"/>
          <p:cNvSpPr/>
          <p:nvPr/>
        </p:nvSpPr>
        <p:spPr>
          <a:xfrm>
            <a:off x="530352" y="2121408"/>
            <a:ext cx="8138160" cy="23591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Kalit juftligini yaratish (Linux A da)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-t ed25519 -C "ali@kompyuter"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~/.ssh/id_ed25519      (xususiy kalit — Hech kimga bermang!)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~/.ssh/id_ed25519.pub  (ochiq kalit — serverlarga joylashtiriladi)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Ochiq kalitni serverga yuborish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ssh-copy-id ali@192.168.1.50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yoki qo'lda: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~/.ssh/id_ed25519.pub | ssh ali@server "mkdir -p ~/.ssh &amp;&amp; cat &gt;&gt; ~/.ssh/authorized_keys"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Endi parolsiz ulanish mumkin!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ali@192.168.1.50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fayl.txt ali@192.168.1.50:/home/ali/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 -avz ./papka/ ali@192.168.1.50:/backup/</a:t>
            </a:r>
            <a:endParaRPr lang="en-US" sz="1100" dirty="0"/>
          </a:p>
        </p:txBody>
      </p:sp>
      <p:sp>
        <p:nvSpPr>
          <p:cNvPr id="263" name="Shape 261"/>
          <p:cNvSpPr/>
          <p:nvPr/>
        </p:nvSpPr>
        <p:spPr>
          <a:xfrm>
            <a:off x="365760" y="4663440"/>
            <a:ext cx="2743200" cy="292608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365760" y="4663440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</a:rPr>
              <a:t>Xususiy kalit</a:t>
            </a:r>
            <a:endParaRPr lang="en-US" sz="1000" dirty="0"/>
          </a:p>
        </p:txBody>
      </p:sp>
      <p:sp>
        <p:nvSpPr>
          <p:cNvPr id="265" name="Shape 263"/>
          <p:cNvSpPr/>
          <p:nvPr/>
        </p:nvSpPr>
        <p:spPr>
          <a:xfrm>
            <a:off x="3200400" y="4663440"/>
            <a:ext cx="2743200" cy="292608"/>
          </a:xfrm>
          <a:prstGeom prst="rect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3200400" y="4663440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DE80"/>
                </a:solidFill>
              </a:rPr>
              <a:t>Ochiq kalit</a:t>
            </a:r>
            <a:endParaRPr lang="en-US" sz="1000" dirty="0"/>
          </a:p>
        </p:txBody>
      </p:sp>
      <p:sp>
        <p:nvSpPr>
          <p:cNvPr id="267" name="Shape 265"/>
          <p:cNvSpPr/>
          <p:nvPr/>
        </p:nvSpPr>
        <p:spPr>
          <a:xfrm>
            <a:off x="6035040" y="4663440"/>
            <a:ext cx="2743200" cy="292608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6035040" y="4663440"/>
            <a:ext cx="2743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</a:rPr>
              <a:t>Ed25519 vs RSA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4ADE80">
              <a:alpha val="18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DE80"/>
                </a:solidFill>
              </a:rPr>
              <a:t>AMALIYOT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</a:rPr>
              <a:t>Amaliy mashqlar</a:t>
            </a:r>
            <a:endParaRPr lang="en-US" sz="30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98448"/>
            <a:ext cx="41605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65760" y="1298448"/>
            <a:ext cx="54864" cy="18288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502920" y="1389888"/>
            <a:ext cx="411480" cy="34747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502920" y="1389888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01</a:t>
            </a:r>
            <a:endParaRPr lang="en-US" sz="1300" dirty="0"/>
          </a:p>
        </p:txBody>
      </p:sp>
      <p:sp>
        <p:nvSpPr>
          <p:cNvPr id="261" name="Text 259"/>
          <p:cNvSpPr/>
          <p:nvPr/>
        </p:nvSpPr>
        <p:spPr>
          <a:xfrm>
            <a:off x="1005840" y="1389888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scp bilan fayl yuborish</a:t>
            </a:r>
            <a:endParaRPr lang="en-US" sz="1300" dirty="0"/>
          </a:p>
        </p:txBody>
      </p:sp>
      <p:sp>
        <p:nvSpPr>
          <p:cNvPr id="262" name="Shape 260"/>
          <p:cNvSpPr/>
          <p:nvPr/>
        </p:nvSpPr>
        <p:spPr>
          <a:xfrm>
            <a:off x="3794760" y="1408176"/>
            <a:ext cx="658368" cy="256032"/>
          </a:xfrm>
          <a:prstGeom prst="rect">
            <a:avLst/>
          </a:prstGeom>
          <a:solidFill>
            <a:srgbClr val="4ADE80">
              <a:alpha val="1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3794760" y="1408176"/>
            <a:ext cx="6583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DE80"/>
                </a:solidFill>
              </a:rPr>
              <a:t>10 daqiqa</a:t>
            </a:r>
            <a:endParaRPr lang="en-US" sz="800" dirty="0"/>
          </a:p>
        </p:txBody>
      </p:sp>
      <p:sp>
        <p:nvSpPr>
          <p:cNvPr id="264" name="Text 262"/>
          <p:cNvSpPr/>
          <p:nvPr/>
        </p:nvSpPr>
        <p:spPr>
          <a:xfrm>
            <a:off x="548640" y="182880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1. test_fayl.txt yarating (nano bilan)</a:t>
            </a:r>
            <a:endParaRPr lang="en-US" sz="1000" dirty="0"/>
          </a:p>
        </p:txBody>
      </p:sp>
      <p:sp>
        <p:nvSpPr>
          <p:cNvPr id="265" name="Text 263"/>
          <p:cNvSpPr/>
          <p:nvPr/>
        </p:nvSpPr>
        <p:spPr>
          <a:xfrm>
            <a:off x="548640" y="214884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2. scp orqali qo'shni kompyuterga yuboring</a:t>
            </a:r>
            <a:endParaRPr lang="en-US" sz="1000" dirty="0"/>
          </a:p>
        </p:txBody>
      </p:sp>
      <p:sp>
        <p:nvSpPr>
          <p:cNvPr id="266" name="Text 264"/>
          <p:cNvSpPr/>
          <p:nvPr/>
        </p:nvSpPr>
        <p:spPr>
          <a:xfrm>
            <a:off x="548640" y="246888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3. Aksincha: u yerdan fayl oling</a:t>
            </a:r>
            <a:endParaRPr lang="en-US" sz="1000" dirty="0"/>
          </a:p>
        </p:txBody>
      </p:sp>
      <p:sp>
        <p:nvSpPr>
          <p:cNvPr id="267" name="Text 265"/>
          <p:cNvSpPr/>
          <p:nvPr/>
        </p:nvSpPr>
        <p:spPr>
          <a:xfrm>
            <a:off x="548640" y="278892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4. -r bilan papka nusxalash</a:t>
            </a:r>
            <a:endParaRPr lang="en-US" sz="1000" dirty="0"/>
          </a:p>
        </p:txBody>
      </p:sp>
      <p:sp>
        <p:nvSpPr>
          <p:cNvPr id="268" name="Shape 266"/>
          <p:cNvSpPr/>
          <p:nvPr/>
        </p:nvSpPr>
        <p:spPr>
          <a:xfrm>
            <a:off x="4709160" y="1298448"/>
            <a:ext cx="41605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4709160" y="1298448"/>
            <a:ext cx="54864" cy="18288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4846320" y="1389888"/>
            <a:ext cx="411480" cy="347472"/>
          </a:xfrm>
          <a:prstGeom prst="rect">
            <a:avLst/>
          </a:prstGeom>
          <a:solidFill>
            <a:srgbClr val="FB923C">
              <a:alpha val="2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4846320" y="1389888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</a:rPr>
              <a:t>02</a:t>
            </a:r>
            <a:endParaRPr lang="en-US" sz="1300" dirty="0"/>
          </a:p>
        </p:txBody>
      </p:sp>
      <p:sp>
        <p:nvSpPr>
          <p:cNvPr id="272" name="Text 270"/>
          <p:cNvSpPr/>
          <p:nvPr/>
        </p:nvSpPr>
        <p:spPr>
          <a:xfrm>
            <a:off x="5349240" y="1389888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rsync sinxronlash</a:t>
            </a:r>
            <a:endParaRPr lang="en-US" sz="1300" dirty="0"/>
          </a:p>
        </p:txBody>
      </p:sp>
      <p:sp>
        <p:nvSpPr>
          <p:cNvPr id="273" name="Shape 271"/>
          <p:cNvSpPr/>
          <p:nvPr/>
        </p:nvSpPr>
        <p:spPr>
          <a:xfrm>
            <a:off x="8138160" y="1408176"/>
            <a:ext cx="658368" cy="256032"/>
          </a:xfrm>
          <a:prstGeom prst="rect">
            <a:avLst/>
          </a:prstGeom>
          <a:solidFill>
            <a:srgbClr val="FB923C">
              <a:alpha val="1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8138160" y="1408176"/>
            <a:ext cx="6583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923C"/>
                </a:solidFill>
              </a:rPr>
              <a:t>10 daqiqa</a:t>
            </a:r>
            <a:endParaRPr lang="en-US" sz="800" dirty="0"/>
          </a:p>
        </p:txBody>
      </p:sp>
      <p:sp>
        <p:nvSpPr>
          <p:cNvPr id="275" name="Text 273"/>
          <p:cNvSpPr/>
          <p:nvPr/>
        </p:nvSpPr>
        <p:spPr>
          <a:xfrm>
            <a:off x="4892040" y="182880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1. ~/sinxron/ papkasi yarating va 3 fayl qo'shing</a:t>
            </a:r>
            <a:endParaRPr lang="en-US" sz="1000" dirty="0"/>
          </a:p>
        </p:txBody>
      </p:sp>
      <p:sp>
        <p:nvSpPr>
          <p:cNvPr id="276" name="Text 274"/>
          <p:cNvSpPr/>
          <p:nvPr/>
        </p:nvSpPr>
        <p:spPr>
          <a:xfrm>
            <a:off x="4892040" y="214884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2. rsync -avz bilan serverga sinxronlang</a:t>
            </a:r>
            <a:endParaRPr lang="en-US" sz="1000" dirty="0"/>
          </a:p>
        </p:txBody>
      </p:sp>
      <p:sp>
        <p:nvSpPr>
          <p:cNvPr id="277" name="Text 275"/>
          <p:cNvSpPr/>
          <p:nvPr/>
        </p:nvSpPr>
        <p:spPr>
          <a:xfrm>
            <a:off x="4892040" y="246888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3. Bitta faylni o'zgartiring, rsync ni qayta ishlatib farqni kuzating</a:t>
            </a:r>
            <a:endParaRPr lang="en-US" sz="1000" dirty="0"/>
          </a:p>
        </p:txBody>
      </p:sp>
      <p:sp>
        <p:nvSpPr>
          <p:cNvPr id="278" name="Text 276"/>
          <p:cNvSpPr/>
          <p:nvPr/>
        </p:nvSpPr>
        <p:spPr>
          <a:xfrm>
            <a:off x="4892040" y="2788920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4. --delete bilan o'chirilgan faylni ham sinxronlang</a:t>
            </a:r>
            <a:endParaRPr lang="en-US" sz="1000" dirty="0"/>
          </a:p>
        </p:txBody>
      </p:sp>
      <p:sp>
        <p:nvSpPr>
          <p:cNvPr id="279" name="Shape 277"/>
          <p:cNvSpPr/>
          <p:nvPr/>
        </p:nvSpPr>
        <p:spPr>
          <a:xfrm>
            <a:off x="365760" y="3246120"/>
            <a:ext cx="41605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65760" y="3246120"/>
            <a:ext cx="54864" cy="18288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02920" y="3337560"/>
            <a:ext cx="411480" cy="347472"/>
          </a:xfrm>
          <a:prstGeom prst="rect">
            <a:avLst/>
          </a:prstGeom>
          <a:solidFill>
            <a:srgbClr val="F87171">
              <a:alpha val="2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502920" y="333756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</a:rPr>
              <a:t>03</a:t>
            </a:r>
            <a:endParaRPr lang="en-US" sz="1300" dirty="0"/>
          </a:p>
        </p:txBody>
      </p:sp>
      <p:sp>
        <p:nvSpPr>
          <p:cNvPr id="283" name="Text 281"/>
          <p:cNvSpPr/>
          <p:nvPr/>
        </p:nvSpPr>
        <p:spPr>
          <a:xfrm>
            <a:off x="1005840" y="3337560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Python HTTP ulashish</a:t>
            </a:r>
            <a:endParaRPr lang="en-US" sz="1300" dirty="0"/>
          </a:p>
        </p:txBody>
      </p:sp>
      <p:sp>
        <p:nvSpPr>
          <p:cNvPr id="284" name="Shape 282"/>
          <p:cNvSpPr/>
          <p:nvPr/>
        </p:nvSpPr>
        <p:spPr>
          <a:xfrm>
            <a:off x="3794760" y="3355848"/>
            <a:ext cx="658368" cy="256032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3794760" y="3355848"/>
            <a:ext cx="6583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87171"/>
                </a:solidFill>
              </a:rPr>
              <a:t>8 daqiqa</a:t>
            </a:r>
            <a:endParaRPr lang="en-US" sz="800" dirty="0"/>
          </a:p>
        </p:txBody>
      </p:sp>
      <p:sp>
        <p:nvSpPr>
          <p:cNvPr id="286" name="Text 284"/>
          <p:cNvSpPr/>
          <p:nvPr/>
        </p:nvSpPr>
        <p:spPr>
          <a:xfrm>
            <a:off x="548640" y="377647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1. ~/ulashish/ yarating, 2-3 fayl qo'shing</a:t>
            </a:r>
            <a:endParaRPr lang="en-US" sz="1000" dirty="0"/>
          </a:p>
        </p:txBody>
      </p:sp>
      <p:sp>
        <p:nvSpPr>
          <p:cNvPr id="287" name="Text 285"/>
          <p:cNvSpPr/>
          <p:nvPr/>
        </p:nvSpPr>
        <p:spPr>
          <a:xfrm>
            <a:off x="548640" y="409651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2. python3 -m http.server 8080 ishga tushiring</a:t>
            </a:r>
            <a:endParaRPr lang="en-US" sz="1000" dirty="0"/>
          </a:p>
        </p:txBody>
      </p:sp>
      <p:sp>
        <p:nvSpPr>
          <p:cNvPr id="288" name="Text 286"/>
          <p:cNvSpPr/>
          <p:nvPr/>
        </p:nvSpPr>
        <p:spPr>
          <a:xfrm>
            <a:off x="548640" y="441655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3. ip a bilan IP manzilingizni toping</a:t>
            </a:r>
            <a:endParaRPr lang="en-US" sz="1000" dirty="0"/>
          </a:p>
        </p:txBody>
      </p:sp>
      <p:sp>
        <p:nvSpPr>
          <p:cNvPr id="289" name="Text 287"/>
          <p:cNvSpPr/>
          <p:nvPr/>
        </p:nvSpPr>
        <p:spPr>
          <a:xfrm>
            <a:off x="548640" y="473659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4. Boshqa kompyuterdan wget bilan yuklab oling</a:t>
            </a:r>
            <a:endParaRPr lang="en-US" sz="1000" dirty="0"/>
          </a:p>
        </p:txBody>
      </p:sp>
      <p:sp>
        <p:nvSpPr>
          <p:cNvPr id="290" name="Shape 288"/>
          <p:cNvSpPr/>
          <p:nvPr/>
        </p:nvSpPr>
        <p:spPr>
          <a:xfrm>
            <a:off x="4709160" y="3246120"/>
            <a:ext cx="4160520" cy="1828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4709160" y="3246120"/>
            <a:ext cx="54864" cy="1828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4846320" y="3337560"/>
            <a:ext cx="411480" cy="347472"/>
          </a:xfrm>
          <a:prstGeom prst="rect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4846320" y="333756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</a:rPr>
              <a:t>04</a:t>
            </a:r>
            <a:endParaRPr lang="en-US" sz="1300" dirty="0"/>
          </a:p>
        </p:txBody>
      </p:sp>
      <p:sp>
        <p:nvSpPr>
          <p:cNvPr id="294" name="Text 292"/>
          <p:cNvSpPr/>
          <p:nvPr/>
        </p:nvSpPr>
        <p:spPr>
          <a:xfrm>
            <a:off x="5349240" y="3337560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nc bilan tezkor uzatish</a:t>
            </a:r>
            <a:endParaRPr lang="en-US" sz="1300" dirty="0"/>
          </a:p>
        </p:txBody>
      </p:sp>
      <p:sp>
        <p:nvSpPr>
          <p:cNvPr id="295" name="Shape 293"/>
          <p:cNvSpPr/>
          <p:nvPr/>
        </p:nvSpPr>
        <p:spPr>
          <a:xfrm>
            <a:off x="8138160" y="3355848"/>
            <a:ext cx="658368" cy="256032"/>
          </a:xfrm>
          <a:prstGeom prst="rect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8138160" y="3355848"/>
            <a:ext cx="65836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</a:rPr>
              <a:t>7 daqiqa</a:t>
            </a:r>
            <a:endParaRPr lang="en-US" sz="800" dirty="0"/>
          </a:p>
        </p:txBody>
      </p:sp>
      <p:sp>
        <p:nvSpPr>
          <p:cNvPr id="297" name="Text 295"/>
          <p:cNvSpPr/>
          <p:nvPr/>
        </p:nvSpPr>
        <p:spPr>
          <a:xfrm>
            <a:off x="4892040" y="377647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</a:rPr>
              <a:t>1. Qabul qiluvchida: nc -lvp 9999 &gt; qabul.txt</a:t>
            </a:r>
            <a:endParaRPr lang="en-US" sz="1000" dirty="0"/>
          </a:p>
        </p:txBody>
      </p:sp>
      <p:sp>
        <p:nvSpPr>
          <p:cNvPr id="298" name="Text 296"/>
          <p:cNvSpPr/>
          <p:nvPr/>
        </p:nvSpPr>
        <p:spPr>
          <a:xfrm>
            <a:off x="4892040" y="409651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2. Yuboruvchida: nc IP 9999 &lt; manba.txt</a:t>
            </a:r>
            <a:endParaRPr lang="en-US" sz="1000" dirty="0"/>
          </a:p>
        </p:txBody>
      </p:sp>
      <p:sp>
        <p:nvSpPr>
          <p:cNvPr id="299" name="Text 297"/>
          <p:cNvSpPr/>
          <p:nvPr/>
        </p:nvSpPr>
        <p:spPr>
          <a:xfrm>
            <a:off x="4892040" y="441655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3. Uzatish natijasini tekshiring (md5sum)</a:t>
            </a:r>
            <a:endParaRPr lang="en-US" sz="1000" dirty="0"/>
          </a:p>
        </p:txBody>
      </p:sp>
      <p:sp>
        <p:nvSpPr>
          <p:cNvPr id="300" name="Text 298"/>
          <p:cNvSpPr/>
          <p:nvPr/>
        </p:nvSpPr>
        <p:spPr>
          <a:xfrm>
            <a:off x="4892040" y="4736592"/>
            <a:ext cx="38404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4. Katta fayl sinab ko'ring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365760" y="256032"/>
            <a:ext cx="1463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8BDF8"/>
                </a:solidFill>
              </a:rPr>
              <a:t>TAQQOSLASH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</a:rPr>
              <a:t>Qaysi vositani qachon ishlatish kerak?</a:t>
            </a:r>
            <a:endParaRPr lang="en-US" sz="2600" dirty="0"/>
          </a:p>
        </p:txBody>
      </p:sp>
      <p:sp>
        <p:nvSpPr>
          <p:cNvPr id="257" name="Shape 255"/>
          <p:cNvSpPr/>
          <p:nvPr/>
        </p:nvSpPr>
        <p:spPr>
          <a:xfrm>
            <a:off x="365760" y="1298448"/>
            <a:ext cx="201168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365760" y="129844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Xususiyat</a:t>
            </a:r>
            <a:endParaRPr lang="en-US" sz="1000" dirty="0"/>
          </a:p>
        </p:txBody>
      </p:sp>
      <p:sp>
        <p:nvSpPr>
          <p:cNvPr id="259" name="Shape 257"/>
          <p:cNvSpPr/>
          <p:nvPr/>
        </p:nvSpPr>
        <p:spPr>
          <a:xfrm>
            <a:off x="2377440" y="1298448"/>
            <a:ext cx="12801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2377440" y="1298448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scp</a:t>
            </a:r>
            <a:endParaRPr lang="en-US" sz="1300" dirty="0"/>
          </a:p>
        </p:txBody>
      </p:sp>
      <p:sp>
        <p:nvSpPr>
          <p:cNvPr id="261" name="Shape 259"/>
          <p:cNvSpPr/>
          <p:nvPr/>
        </p:nvSpPr>
        <p:spPr>
          <a:xfrm>
            <a:off x="3657600" y="1298448"/>
            <a:ext cx="12801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3657600" y="1298448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923C"/>
                </a:solidFill>
              </a:rPr>
              <a:t>rsync</a:t>
            </a:r>
            <a:endParaRPr lang="en-US" sz="1300" dirty="0"/>
          </a:p>
        </p:txBody>
      </p:sp>
      <p:sp>
        <p:nvSpPr>
          <p:cNvPr id="263" name="Shape 261"/>
          <p:cNvSpPr/>
          <p:nvPr/>
        </p:nvSpPr>
        <p:spPr>
          <a:xfrm>
            <a:off x="4937760" y="1298448"/>
            <a:ext cx="12801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4937760" y="1298448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sftp</a:t>
            </a:r>
            <a:endParaRPr lang="en-US" sz="1300" dirty="0"/>
          </a:p>
        </p:txBody>
      </p:sp>
      <p:sp>
        <p:nvSpPr>
          <p:cNvPr id="265" name="Shape 263"/>
          <p:cNvSpPr/>
          <p:nvPr/>
        </p:nvSpPr>
        <p:spPr>
          <a:xfrm>
            <a:off x="6217920" y="1298448"/>
            <a:ext cx="12801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6217920" y="1298448"/>
            <a:ext cx="1280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</a:rPr>
              <a:t>nc</a:t>
            </a:r>
            <a:endParaRPr lang="en-US" sz="1300" dirty="0"/>
          </a:p>
        </p:txBody>
      </p:sp>
      <p:sp>
        <p:nvSpPr>
          <p:cNvPr id="267" name="Shape 265"/>
          <p:cNvSpPr/>
          <p:nvPr/>
        </p:nvSpPr>
        <p:spPr>
          <a:xfrm>
            <a:off x="7498080" y="1298448"/>
            <a:ext cx="14630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7498080" y="1298448"/>
            <a:ext cx="1463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7171"/>
                </a:solidFill>
              </a:rPr>
              <a:t>Python HTTP</a:t>
            </a:r>
            <a:endParaRPr lang="en-US" sz="1300" dirty="0"/>
          </a:p>
        </p:txBody>
      </p:sp>
      <p:sp>
        <p:nvSpPr>
          <p:cNvPr id="269" name="Shape 267"/>
          <p:cNvSpPr/>
          <p:nvPr/>
        </p:nvSpPr>
        <p:spPr>
          <a:xfrm>
            <a:off x="365760" y="1664208"/>
            <a:ext cx="201168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365760" y="1664208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Shifrlash</a:t>
            </a:r>
            <a:endParaRPr lang="en-US" sz="1100" dirty="0"/>
          </a:p>
        </p:txBody>
      </p:sp>
      <p:sp>
        <p:nvSpPr>
          <p:cNvPr id="271" name="Shape 269"/>
          <p:cNvSpPr/>
          <p:nvPr/>
        </p:nvSpPr>
        <p:spPr>
          <a:xfrm>
            <a:off x="2377440" y="1664208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2377440" y="166420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✓ SSH</a:t>
            </a:r>
            <a:endParaRPr lang="en-US" sz="1100" dirty="0"/>
          </a:p>
        </p:txBody>
      </p:sp>
      <p:sp>
        <p:nvSpPr>
          <p:cNvPr id="273" name="Shape 271"/>
          <p:cNvSpPr/>
          <p:nvPr/>
        </p:nvSpPr>
        <p:spPr>
          <a:xfrm>
            <a:off x="3657600" y="1664208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3657600" y="166420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✓ SSH</a:t>
            </a:r>
            <a:endParaRPr lang="en-US" sz="1100" dirty="0"/>
          </a:p>
        </p:txBody>
      </p:sp>
      <p:sp>
        <p:nvSpPr>
          <p:cNvPr id="275" name="Shape 273"/>
          <p:cNvSpPr/>
          <p:nvPr/>
        </p:nvSpPr>
        <p:spPr>
          <a:xfrm>
            <a:off x="4937760" y="1664208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4937760" y="166420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✓ SSH</a:t>
            </a:r>
            <a:endParaRPr lang="en-US" sz="1100" dirty="0"/>
          </a:p>
        </p:txBody>
      </p:sp>
      <p:sp>
        <p:nvSpPr>
          <p:cNvPr id="277" name="Shape 275"/>
          <p:cNvSpPr/>
          <p:nvPr/>
        </p:nvSpPr>
        <p:spPr>
          <a:xfrm>
            <a:off x="6217920" y="1664208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6217920" y="166420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279" name="Shape 277"/>
          <p:cNvSpPr/>
          <p:nvPr/>
        </p:nvSpPr>
        <p:spPr>
          <a:xfrm>
            <a:off x="7498080" y="1664208"/>
            <a:ext cx="146304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7498080" y="1664208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281" name="Shape 279"/>
          <p:cNvSpPr/>
          <p:nvPr/>
        </p:nvSpPr>
        <p:spPr>
          <a:xfrm>
            <a:off x="365760" y="2103120"/>
            <a:ext cx="201168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365760" y="2103120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Davom ettirish</a:t>
            </a:r>
            <a:endParaRPr lang="en-US" sz="1100" dirty="0"/>
          </a:p>
        </p:txBody>
      </p:sp>
      <p:sp>
        <p:nvSpPr>
          <p:cNvPr id="283" name="Shape 281"/>
          <p:cNvSpPr/>
          <p:nvPr/>
        </p:nvSpPr>
        <p:spPr>
          <a:xfrm>
            <a:off x="2377440" y="2103120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2377440" y="210312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285" name="Shape 283"/>
          <p:cNvSpPr/>
          <p:nvPr/>
        </p:nvSpPr>
        <p:spPr>
          <a:xfrm>
            <a:off x="3657600" y="2103120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3657600" y="210312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✓</a:t>
            </a:r>
            <a:endParaRPr lang="en-US" sz="1100" dirty="0"/>
          </a:p>
        </p:txBody>
      </p:sp>
      <p:sp>
        <p:nvSpPr>
          <p:cNvPr id="287" name="Shape 285"/>
          <p:cNvSpPr/>
          <p:nvPr/>
        </p:nvSpPr>
        <p:spPr>
          <a:xfrm>
            <a:off x="4937760" y="2103120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8" name="Text 286"/>
          <p:cNvSpPr/>
          <p:nvPr/>
        </p:nvSpPr>
        <p:spPr>
          <a:xfrm>
            <a:off x="4937760" y="210312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289" name="Shape 287"/>
          <p:cNvSpPr/>
          <p:nvPr/>
        </p:nvSpPr>
        <p:spPr>
          <a:xfrm>
            <a:off x="6217920" y="2103120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6217920" y="210312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291" name="Shape 289"/>
          <p:cNvSpPr/>
          <p:nvPr/>
        </p:nvSpPr>
        <p:spPr>
          <a:xfrm>
            <a:off x="7498080" y="2103120"/>
            <a:ext cx="146304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2" name="Text 290"/>
          <p:cNvSpPr/>
          <p:nvPr/>
        </p:nvSpPr>
        <p:spPr>
          <a:xfrm>
            <a:off x="7498080" y="210312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293" name="Shape 291"/>
          <p:cNvSpPr/>
          <p:nvPr/>
        </p:nvSpPr>
        <p:spPr>
          <a:xfrm>
            <a:off x="365760" y="2542032"/>
            <a:ext cx="201168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365760" y="2542032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Delta uzatish</a:t>
            </a:r>
            <a:endParaRPr lang="en-US" sz="1100" dirty="0"/>
          </a:p>
        </p:txBody>
      </p:sp>
      <p:sp>
        <p:nvSpPr>
          <p:cNvPr id="295" name="Shape 293"/>
          <p:cNvSpPr/>
          <p:nvPr/>
        </p:nvSpPr>
        <p:spPr>
          <a:xfrm>
            <a:off x="2377440" y="2542032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2377440" y="2542032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297" name="Shape 295"/>
          <p:cNvSpPr/>
          <p:nvPr/>
        </p:nvSpPr>
        <p:spPr>
          <a:xfrm>
            <a:off x="3657600" y="2542032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3657600" y="2542032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✓</a:t>
            </a:r>
            <a:endParaRPr lang="en-US" sz="1100" dirty="0"/>
          </a:p>
        </p:txBody>
      </p:sp>
      <p:sp>
        <p:nvSpPr>
          <p:cNvPr id="299" name="Shape 297"/>
          <p:cNvSpPr/>
          <p:nvPr/>
        </p:nvSpPr>
        <p:spPr>
          <a:xfrm>
            <a:off x="4937760" y="2542032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4937760" y="2542032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301" name="Shape 299"/>
          <p:cNvSpPr/>
          <p:nvPr/>
        </p:nvSpPr>
        <p:spPr>
          <a:xfrm>
            <a:off x="6217920" y="2542032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6217920" y="2542032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303" name="Shape 301"/>
          <p:cNvSpPr/>
          <p:nvPr/>
        </p:nvSpPr>
        <p:spPr>
          <a:xfrm>
            <a:off x="7498080" y="2542032"/>
            <a:ext cx="146304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7498080" y="2542032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305" name="Shape 303"/>
          <p:cNvSpPr/>
          <p:nvPr/>
        </p:nvSpPr>
        <p:spPr>
          <a:xfrm>
            <a:off x="365760" y="2980944"/>
            <a:ext cx="201168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6" name="Text 304"/>
          <p:cNvSpPr/>
          <p:nvPr/>
        </p:nvSpPr>
        <p:spPr>
          <a:xfrm>
            <a:off x="365760" y="2980944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Interaktiv</a:t>
            </a:r>
            <a:endParaRPr lang="en-US" sz="1100" dirty="0"/>
          </a:p>
        </p:txBody>
      </p:sp>
      <p:sp>
        <p:nvSpPr>
          <p:cNvPr id="307" name="Shape 305"/>
          <p:cNvSpPr/>
          <p:nvPr/>
        </p:nvSpPr>
        <p:spPr>
          <a:xfrm>
            <a:off x="2377440" y="2980944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2377440" y="2980944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309" name="Shape 307"/>
          <p:cNvSpPr/>
          <p:nvPr/>
        </p:nvSpPr>
        <p:spPr>
          <a:xfrm>
            <a:off x="3657600" y="2980944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3657600" y="2980944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311" name="Shape 309"/>
          <p:cNvSpPr/>
          <p:nvPr/>
        </p:nvSpPr>
        <p:spPr>
          <a:xfrm>
            <a:off x="4937760" y="2980944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4937760" y="2980944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✓</a:t>
            </a:r>
            <a:endParaRPr lang="en-US" sz="1100" dirty="0"/>
          </a:p>
        </p:txBody>
      </p:sp>
      <p:sp>
        <p:nvSpPr>
          <p:cNvPr id="313" name="Shape 311"/>
          <p:cNvSpPr/>
          <p:nvPr/>
        </p:nvSpPr>
        <p:spPr>
          <a:xfrm>
            <a:off x="6217920" y="2980944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6217920" y="2980944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✗</a:t>
            </a:r>
            <a:endParaRPr lang="en-US" sz="1100" dirty="0"/>
          </a:p>
        </p:txBody>
      </p:sp>
      <p:sp>
        <p:nvSpPr>
          <p:cNvPr id="315" name="Shape 313"/>
          <p:cNvSpPr/>
          <p:nvPr/>
        </p:nvSpPr>
        <p:spPr>
          <a:xfrm>
            <a:off x="7498080" y="2980944"/>
            <a:ext cx="146304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6" name="Text 314"/>
          <p:cNvSpPr/>
          <p:nvPr/>
        </p:nvSpPr>
        <p:spPr>
          <a:xfrm>
            <a:off x="7498080" y="2980944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✓ brauzer</a:t>
            </a:r>
            <a:endParaRPr lang="en-US" sz="1100" dirty="0"/>
          </a:p>
        </p:txBody>
      </p:sp>
      <p:sp>
        <p:nvSpPr>
          <p:cNvPr id="317" name="Shape 315"/>
          <p:cNvSpPr/>
          <p:nvPr/>
        </p:nvSpPr>
        <p:spPr>
          <a:xfrm>
            <a:off x="365760" y="3419856"/>
            <a:ext cx="201168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365760" y="3419856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Sozlama kerak?</a:t>
            </a:r>
            <a:endParaRPr lang="en-US" sz="1100" dirty="0"/>
          </a:p>
        </p:txBody>
      </p:sp>
      <p:sp>
        <p:nvSpPr>
          <p:cNvPr id="319" name="Shape 317"/>
          <p:cNvSpPr/>
          <p:nvPr/>
        </p:nvSpPr>
        <p:spPr>
          <a:xfrm>
            <a:off x="2377440" y="3419856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2377440" y="3419856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SSH</a:t>
            </a:r>
            <a:endParaRPr lang="en-US" sz="1100" dirty="0"/>
          </a:p>
        </p:txBody>
      </p:sp>
      <p:sp>
        <p:nvSpPr>
          <p:cNvPr id="321" name="Shape 319"/>
          <p:cNvSpPr/>
          <p:nvPr/>
        </p:nvSpPr>
        <p:spPr>
          <a:xfrm>
            <a:off x="3657600" y="3419856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3657600" y="3419856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923C"/>
                </a:solidFill>
              </a:rPr>
              <a:t>SSH</a:t>
            </a:r>
            <a:endParaRPr lang="en-US" sz="1100" dirty="0"/>
          </a:p>
        </p:txBody>
      </p:sp>
      <p:sp>
        <p:nvSpPr>
          <p:cNvPr id="323" name="Shape 321"/>
          <p:cNvSpPr/>
          <p:nvPr/>
        </p:nvSpPr>
        <p:spPr>
          <a:xfrm>
            <a:off x="4937760" y="3419856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4937760" y="3419856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</a:rPr>
              <a:t>SSH</a:t>
            </a:r>
            <a:endParaRPr lang="en-US" sz="1100" dirty="0"/>
          </a:p>
        </p:txBody>
      </p:sp>
      <p:sp>
        <p:nvSpPr>
          <p:cNvPr id="325" name="Shape 323"/>
          <p:cNvSpPr/>
          <p:nvPr/>
        </p:nvSpPr>
        <p:spPr>
          <a:xfrm>
            <a:off x="6217920" y="3419856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6217920" y="3419856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BF24"/>
                </a:solidFill>
              </a:rPr>
              <a:t>Hech</a:t>
            </a:r>
            <a:endParaRPr lang="en-US" sz="1100" dirty="0"/>
          </a:p>
        </p:txBody>
      </p:sp>
      <p:sp>
        <p:nvSpPr>
          <p:cNvPr id="327" name="Shape 325"/>
          <p:cNvSpPr/>
          <p:nvPr/>
        </p:nvSpPr>
        <p:spPr>
          <a:xfrm>
            <a:off x="7498080" y="3419856"/>
            <a:ext cx="146304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7498080" y="3419856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Hech</a:t>
            </a:r>
            <a:endParaRPr lang="en-US" sz="1100" dirty="0"/>
          </a:p>
        </p:txBody>
      </p:sp>
      <p:sp>
        <p:nvSpPr>
          <p:cNvPr id="329" name="Shape 327"/>
          <p:cNvSpPr/>
          <p:nvPr/>
        </p:nvSpPr>
        <p:spPr>
          <a:xfrm>
            <a:off x="365760" y="3858768"/>
            <a:ext cx="201168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365760" y="3858768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Oddiylik</a:t>
            </a:r>
            <a:endParaRPr lang="en-US" sz="1100" dirty="0"/>
          </a:p>
        </p:txBody>
      </p:sp>
      <p:sp>
        <p:nvSpPr>
          <p:cNvPr id="331" name="Shape 329"/>
          <p:cNvSpPr/>
          <p:nvPr/>
        </p:nvSpPr>
        <p:spPr>
          <a:xfrm>
            <a:off x="2377440" y="3858768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2377440" y="385876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⭐⭐⭐</a:t>
            </a:r>
            <a:endParaRPr lang="en-US" sz="1100" dirty="0"/>
          </a:p>
        </p:txBody>
      </p:sp>
      <p:sp>
        <p:nvSpPr>
          <p:cNvPr id="333" name="Shape 331"/>
          <p:cNvSpPr/>
          <p:nvPr/>
        </p:nvSpPr>
        <p:spPr>
          <a:xfrm>
            <a:off x="3657600" y="3858768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3657600" y="385876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923C"/>
                </a:solidFill>
              </a:rPr>
              <a:t>⭐⭐</a:t>
            </a:r>
            <a:endParaRPr lang="en-US" sz="1100" dirty="0"/>
          </a:p>
        </p:txBody>
      </p:sp>
      <p:sp>
        <p:nvSpPr>
          <p:cNvPr id="335" name="Shape 333"/>
          <p:cNvSpPr/>
          <p:nvPr/>
        </p:nvSpPr>
        <p:spPr>
          <a:xfrm>
            <a:off x="4937760" y="3858768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6" name="Text 334"/>
          <p:cNvSpPr/>
          <p:nvPr/>
        </p:nvSpPr>
        <p:spPr>
          <a:xfrm>
            <a:off x="4937760" y="385876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</a:rPr>
              <a:t>⭐⭐</a:t>
            </a:r>
            <a:endParaRPr lang="en-US" sz="1100" dirty="0"/>
          </a:p>
        </p:txBody>
      </p:sp>
      <p:sp>
        <p:nvSpPr>
          <p:cNvPr id="337" name="Shape 335"/>
          <p:cNvSpPr/>
          <p:nvPr/>
        </p:nvSpPr>
        <p:spPr>
          <a:xfrm>
            <a:off x="6217920" y="3858768"/>
            <a:ext cx="128016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6217920" y="385876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BF24"/>
                </a:solidFill>
              </a:rPr>
              <a:t>⭐⭐⭐</a:t>
            </a:r>
            <a:endParaRPr lang="en-US" sz="1100" dirty="0"/>
          </a:p>
        </p:txBody>
      </p:sp>
      <p:sp>
        <p:nvSpPr>
          <p:cNvPr id="339" name="Shape 337"/>
          <p:cNvSpPr/>
          <p:nvPr/>
        </p:nvSpPr>
        <p:spPr>
          <a:xfrm>
            <a:off x="7498080" y="3858768"/>
            <a:ext cx="1463040" cy="438912"/>
          </a:xfrm>
          <a:prstGeom prst="rect">
            <a:avLst/>
          </a:prstGeom>
          <a:solidFill>
            <a:srgbClr val="0E15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7498080" y="3858768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⭐⭐⭐</a:t>
            </a:r>
            <a:endParaRPr lang="en-US" sz="1100" dirty="0"/>
          </a:p>
        </p:txBody>
      </p:sp>
      <p:sp>
        <p:nvSpPr>
          <p:cNvPr id="341" name="Shape 339"/>
          <p:cNvSpPr/>
          <p:nvPr/>
        </p:nvSpPr>
        <p:spPr>
          <a:xfrm>
            <a:off x="365760" y="4297680"/>
            <a:ext cx="201168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365760" y="4297680"/>
            <a:ext cx="20116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Katta fayllar</a:t>
            </a:r>
            <a:endParaRPr lang="en-US" sz="1100" dirty="0"/>
          </a:p>
        </p:txBody>
      </p:sp>
      <p:sp>
        <p:nvSpPr>
          <p:cNvPr id="343" name="Shape 341"/>
          <p:cNvSpPr/>
          <p:nvPr/>
        </p:nvSpPr>
        <p:spPr>
          <a:xfrm>
            <a:off x="2377440" y="4297680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4" name="Text 342"/>
          <p:cNvSpPr/>
          <p:nvPr/>
        </p:nvSpPr>
        <p:spPr>
          <a:xfrm>
            <a:off x="2377440" y="429768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△</a:t>
            </a:r>
            <a:endParaRPr lang="en-US" sz="1100" dirty="0"/>
          </a:p>
        </p:txBody>
      </p:sp>
      <p:sp>
        <p:nvSpPr>
          <p:cNvPr id="345" name="Shape 343"/>
          <p:cNvSpPr/>
          <p:nvPr/>
        </p:nvSpPr>
        <p:spPr>
          <a:xfrm>
            <a:off x="3657600" y="4297680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3657600" y="429768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✓✓</a:t>
            </a:r>
            <a:endParaRPr lang="en-US" sz="1100" dirty="0"/>
          </a:p>
        </p:txBody>
      </p:sp>
      <p:sp>
        <p:nvSpPr>
          <p:cNvPr id="347" name="Shape 345"/>
          <p:cNvSpPr/>
          <p:nvPr/>
        </p:nvSpPr>
        <p:spPr>
          <a:xfrm>
            <a:off x="4937760" y="4297680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8" name="Text 346"/>
          <p:cNvSpPr/>
          <p:nvPr/>
        </p:nvSpPr>
        <p:spPr>
          <a:xfrm>
            <a:off x="4937760" y="429768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</a:rPr>
              <a:t>△</a:t>
            </a:r>
            <a:endParaRPr lang="en-US" sz="1100" dirty="0"/>
          </a:p>
        </p:txBody>
      </p:sp>
      <p:sp>
        <p:nvSpPr>
          <p:cNvPr id="349" name="Shape 347"/>
          <p:cNvSpPr/>
          <p:nvPr/>
        </p:nvSpPr>
        <p:spPr>
          <a:xfrm>
            <a:off x="6217920" y="4297680"/>
            <a:ext cx="12801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6217920" y="4297680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BBF24"/>
                </a:solidFill>
              </a:rPr>
              <a:t>△</a:t>
            </a:r>
            <a:endParaRPr lang="en-US" sz="1100" dirty="0"/>
          </a:p>
        </p:txBody>
      </p:sp>
      <p:sp>
        <p:nvSpPr>
          <p:cNvPr id="351" name="Shape 349"/>
          <p:cNvSpPr/>
          <p:nvPr/>
        </p:nvSpPr>
        <p:spPr>
          <a:xfrm>
            <a:off x="7498080" y="4297680"/>
            <a:ext cx="146304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7498080" y="4297680"/>
            <a:ext cx="14630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7171"/>
                </a:solidFill>
              </a:rPr>
              <a:t>△</a:t>
            </a:r>
            <a:endParaRPr lang="en-US" sz="1100" dirty="0"/>
          </a:p>
        </p:txBody>
      </p:sp>
      <p:sp>
        <p:nvSpPr>
          <p:cNvPr id="353" name="Shape 351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solidFill>
            <a:srgbClr val="1A223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4" name="Text 352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</a:rPr>
              <a:t>💡 Umumiy tavsiya: Kundalik uzatish → scp  |  Backup/sinxron → rsync  |  Tez ulashish → Python HTTP  |  Skriptda parolsiz → SSH kalit + rsync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3716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3716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13716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13716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13716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-13716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3716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3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0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0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0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0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0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0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0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0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57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57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57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57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357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57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357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57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57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57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57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57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815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15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15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5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15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15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5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5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15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15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815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15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72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72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272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272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272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272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272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272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72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72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272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72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729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729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729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729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29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29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29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9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29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29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729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729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186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86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86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86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186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86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86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86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186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86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186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86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643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643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43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43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643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643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643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643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643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643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643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643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101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101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01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01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01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01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101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01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01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01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101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01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58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58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58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558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558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8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558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558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558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58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558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58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15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5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015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015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5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5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015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015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015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015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015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015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2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2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472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2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472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472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72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472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472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72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72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72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929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929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929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929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29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929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929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929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929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929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929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29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387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87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387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387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6387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6387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6387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6387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6387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6387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87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387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844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844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844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844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844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844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844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844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844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844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44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844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3014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3014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014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014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3014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3014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3014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3014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3014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3014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3014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3014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7586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7586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7586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7586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7586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7586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586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7586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586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7586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7586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7586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2158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2158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2158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2158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82158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82158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2158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82158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82158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2158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2158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82158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6730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86730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86730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86730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6730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86730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6730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730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6730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6730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6730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6730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130284" y="-13716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130284" y="443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130284" y="900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130284" y="1357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130284" y="1815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130284" y="2272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30284" y="2729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130284" y="31866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130284" y="36438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130284" y="41010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130284" y="45582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130284" y="5015484"/>
            <a:ext cx="27432" cy="27432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0" y="0"/>
            <a:ext cx="914400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0" y="1600200"/>
            <a:ext cx="9144000" cy="3657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</a:rPr>
              <a:t>Xulosa</a:t>
            </a:r>
            <a:endParaRPr lang="en-US" sz="4400" dirty="0"/>
          </a:p>
        </p:txBody>
      </p:sp>
      <p:sp>
        <p:nvSpPr>
          <p:cNvPr id="257" name="Text 255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Bugun o'rgandik:</a:t>
            </a:r>
            <a:endParaRPr lang="en-US" sz="1500" dirty="0"/>
          </a:p>
        </p:txBody>
      </p:sp>
      <p:sp>
        <p:nvSpPr>
          <p:cNvPr id="258" name="Text 256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Keyingi dars: SSH tunnel, port forwarding, FTPS/FTPES</a:t>
            </a:r>
            <a:endParaRPr lang="en-US" sz="1100" dirty="0"/>
          </a:p>
        </p:txBody>
      </p:sp>
      <p:sp>
        <p:nvSpPr>
          <p:cNvPr id="259" name="Shape 257"/>
          <p:cNvSpPr/>
          <p:nvPr/>
        </p:nvSpPr>
        <p:spPr>
          <a:xfrm>
            <a:off x="365760" y="1828800"/>
            <a:ext cx="41605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365760" y="1828800"/>
            <a:ext cx="54864" cy="9601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530352" y="1883664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</a:t>
            </a:r>
            <a:endParaRPr lang="en-US" sz="1500" dirty="0"/>
          </a:p>
        </p:txBody>
      </p:sp>
      <p:sp>
        <p:nvSpPr>
          <p:cNvPr id="262" name="Text 260"/>
          <p:cNvSpPr/>
          <p:nvPr/>
        </p:nvSpPr>
        <p:spPr>
          <a:xfrm>
            <a:off x="530352" y="2212848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Xavfsiz bir martalik nusxalash. Oddiy va ishonchli.</a:t>
            </a:r>
            <a:endParaRPr lang="en-US" sz="1000" dirty="0"/>
          </a:p>
        </p:txBody>
      </p:sp>
      <p:sp>
        <p:nvSpPr>
          <p:cNvPr id="263" name="Text 261"/>
          <p:cNvSpPr/>
          <p:nvPr/>
        </p:nvSpPr>
        <p:spPr>
          <a:xfrm>
            <a:off x="530352" y="2487168"/>
            <a:ext cx="3840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scp fayl.txt ali@IP:/home/ali/</a:t>
            </a:r>
            <a:endParaRPr lang="en-US" sz="950" dirty="0"/>
          </a:p>
        </p:txBody>
      </p:sp>
      <p:sp>
        <p:nvSpPr>
          <p:cNvPr id="264" name="Shape 262"/>
          <p:cNvSpPr/>
          <p:nvPr/>
        </p:nvSpPr>
        <p:spPr>
          <a:xfrm>
            <a:off x="4709160" y="1828800"/>
            <a:ext cx="41605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4709160" y="1828800"/>
            <a:ext cx="54864" cy="9601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4873752" y="1883664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</a:t>
            </a:r>
            <a:endParaRPr lang="en-US" sz="1500" dirty="0"/>
          </a:p>
        </p:txBody>
      </p:sp>
      <p:sp>
        <p:nvSpPr>
          <p:cNvPr id="267" name="Text 265"/>
          <p:cNvSpPr/>
          <p:nvPr/>
        </p:nvSpPr>
        <p:spPr>
          <a:xfrm>
            <a:off x="4873752" y="2212848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Aqlli sinxronlash va backup. Delta algoritmi.</a:t>
            </a:r>
            <a:endParaRPr lang="en-US" sz="1000" dirty="0"/>
          </a:p>
        </p:txBody>
      </p:sp>
      <p:sp>
        <p:nvSpPr>
          <p:cNvPr id="268" name="Text 266"/>
          <p:cNvSpPr/>
          <p:nvPr/>
        </p:nvSpPr>
        <p:spPr>
          <a:xfrm>
            <a:off x="4873752" y="2487168"/>
            <a:ext cx="3840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rsync -avz --partial ./src/ ali@IP:/dst/</a:t>
            </a:r>
            <a:endParaRPr lang="en-US" sz="950" dirty="0"/>
          </a:p>
        </p:txBody>
      </p:sp>
      <p:sp>
        <p:nvSpPr>
          <p:cNvPr id="269" name="Shape 267"/>
          <p:cNvSpPr/>
          <p:nvPr/>
        </p:nvSpPr>
        <p:spPr>
          <a:xfrm>
            <a:off x="365760" y="2907792"/>
            <a:ext cx="41605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365760" y="2907792"/>
            <a:ext cx="54864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530352" y="2962656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</a:t>
            </a:r>
            <a:endParaRPr lang="en-US" sz="1500" dirty="0"/>
          </a:p>
        </p:txBody>
      </p:sp>
      <p:sp>
        <p:nvSpPr>
          <p:cNvPr id="272" name="Text 270"/>
          <p:cNvSpPr/>
          <p:nvPr/>
        </p:nvSpPr>
        <p:spPr>
          <a:xfrm>
            <a:off x="530352" y="329184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Interaktiv sessiya. Ko'p fayl boshqarish.</a:t>
            </a:r>
            <a:endParaRPr lang="en-US" sz="1000" dirty="0"/>
          </a:p>
        </p:txBody>
      </p:sp>
      <p:sp>
        <p:nvSpPr>
          <p:cNvPr id="273" name="Text 271"/>
          <p:cNvSpPr/>
          <p:nvPr/>
        </p:nvSpPr>
        <p:spPr>
          <a:xfrm>
            <a:off x="530352" y="3566160"/>
            <a:ext cx="3840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 ali@IP  →  get/put</a:t>
            </a:r>
            <a:endParaRPr lang="en-US" sz="950" dirty="0"/>
          </a:p>
        </p:txBody>
      </p:sp>
      <p:sp>
        <p:nvSpPr>
          <p:cNvPr id="274" name="Shape 272"/>
          <p:cNvSpPr/>
          <p:nvPr/>
        </p:nvSpPr>
        <p:spPr>
          <a:xfrm>
            <a:off x="4709160" y="2907792"/>
            <a:ext cx="41605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4709160" y="2907792"/>
            <a:ext cx="54864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4873752" y="2962656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</a:t>
            </a:r>
            <a:endParaRPr lang="en-US" sz="1500" dirty="0"/>
          </a:p>
        </p:txBody>
      </p:sp>
      <p:sp>
        <p:nvSpPr>
          <p:cNvPr id="277" name="Text 275"/>
          <p:cNvSpPr/>
          <p:nvPr/>
        </p:nvSpPr>
        <p:spPr>
          <a:xfrm>
            <a:off x="4873752" y="329184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Minimal, tezkor. Shifrlasiz LAN uzatish.</a:t>
            </a:r>
            <a:endParaRPr lang="en-US" sz="1000" dirty="0"/>
          </a:p>
        </p:txBody>
      </p:sp>
      <p:sp>
        <p:nvSpPr>
          <p:cNvPr id="278" name="Text 276"/>
          <p:cNvSpPr/>
          <p:nvPr/>
        </p:nvSpPr>
        <p:spPr>
          <a:xfrm>
            <a:off x="4873752" y="3566160"/>
            <a:ext cx="3840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-lvp 9999 &gt; fayl  |  nc IP 9999 &lt; fayl</a:t>
            </a:r>
            <a:endParaRPr lang="en-US" sz="950" dirty="0"/>
          </a:p>
        </p:txBody>
      </p:sp>
      <p:sp>
        <p:nvSpPr>
          <p:cNvPr id="279" name="Shape 277"/>
          <p:cNvSpPr/>
          <p:nvPr/>
        </p:nvSpPr>
        <p:spPr>
          <a:xfrm>
            <a:off x="365760" y="3986784"/>
            <a:ext cx="41605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65760" y="3986784"/>
            <a:ext cx="54864" cy="9601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530352" y="4041648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HTTP</a:t>
            </a:r>
            <a:endParaRPr lang="en-US" sz="1500" dirty="0"/>
          </a:p>
        </p:txBody>
      </p:sp>
      <p:sp>
        <p:nvSpPr>
          <p:cNvPr id="282" name="Text 280"/>
          <p:cNvSpPr/>
          <p:nvPr/>
        </p:nvSpPr>
        <p:spPr>
          <a:xfrm>
            <a:off x="530352" y="4370832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Zero-config fayl ulashish. Brauzerdan ham.</a:t>
            </a:r>
            <a:endParaRPr lang="en-US" sz="1000" dirty="0"/>
          </a:p>
        </p:txBody>
      </p:sp>
      <p:sp>
        <p:nvSpPr>
          <p:cNvPr id="283" name="Text 281"/>
          <p:cNvSpPr/>
          <p:nvPr/>
        </p:nvSpPr>
        <p:spPr>
          <a:xfrm>
            <a:off x="530352" y="4645152"/>
            <a:ext cx="3840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python3 -m http.server 8080</a:t>
            </a:r>
            <a:endParaRPr lang="en-US" sz="950" dirty="0"/>
          </a:p>
        </p:txBody>
      </p:sp>
      <p:sp>
        <p:nvSpPr>
          <p:cNvPr id="284" name="Shape 282"/>
          <p:cNvSpPr/>
          <p:nvPr/>
        </p:nvSpPr>
        <p:spPr>
          <a:xfrm>
            <a:off x="4709160" y="3986784"/>
            <a:ext cx="4160520" cy="960120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709160" y="3986784"/>
            <a:ext cx="54864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4873752" y="4041648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+ SSH kalit</a:t>
            </a:r>
            <a:endParaRPr lang="en-US" sz="1500" dirty="0"/>
          </a:p>
        </p:txBody>
      </p:sp>
      <p:sp>
        <p:nvSpPr>
          <p:cNvPr id="287" name="Text 285"/>
          <p:cNvSpPr/>
          <p:nvPr/>
        </p:nvSpPr>
        <p:spPr>
          <a:xfrm>
            <a:off x="4873752" y="4370832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Fayllarni siqish + parolsiz avtomatik uzatish.</a:t>
            </a:r>
            <a:endParaRPr lang="en-US" sz="1000" dirty="0"/>
          </a:p>
        </p:txBody>
      </p:sp>
      <p:sp>
        <p:nvSpPr>
          <p:cNvPr id="288" name="Text 286"/>
          <p:cNvSpPr/>
          <p:nvPr/>
        </p:nvSpPr>
        <p:spPr>
          <a:xfrm>
            <a:off x="4873752" y="4645152"/>
            <a:ext cx="384048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ssh-keygen → ssh-copy-id → skript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9880</Words>
  <Application>WPS Presentation</Application>
  <PresentationFormat>On-screen Show (16:9)</PresentationFormat>
  <Paragraphs>711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SimSun</vt:lpstr>
      <vt:lpstr>Wingdings</vt:lpstr>
      <vt:lpstr>DejaVu Sans</vt:lpstr>
      <vt:lpstr>Calibri</vt:lpstr>
      <vt:lpstr>Calibri</vt:lpstr>
      <vt:lpstr>Calibri</vt:lpstr>
      <vt:lpstr>Consolas</vt:lpstr>
      <vt:lpstr>Consolas</vt:lpstr>
      <vt:lpstr>Consolas</vt:lpstr>
      <vt:lpstr>Quicksand Light</vt:lpstr>
      <vt:lpstr>Microsoft YaHei</vt:lpstr>
      <vt:lpstr>Droid Sans Fallback</vt:lpstr>
      <vt:lpstr>Arial Unicode MS</vt:lpstr>
      <vt:lpstr>Fira Code</vt:lpstr>
      <vt:lpstr>Noto Color Emoji</vt:lpstr>
      <vt:lpstr>FreeSans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Fayl Uzatish - Kiberxavfsizlik Darsi</dc:title>
  <dc:creator>PptxGenJS</dc:creator>
  <dc:subject>PptxGenJS Presentation</dc:subject>
  <cp:lastModifiedBy>lobo</cp:lastModifiedBy>
  <cp:revision>4</cp:revision>
  <dcterms:created xsi:type="dcterms:W3CDTF">2026-04-10T04:20:36Z</dcterms:created>
  <dcterms:modified xsi:type="dcterms:W3CDTF">2026-04-10T04:20:36Z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