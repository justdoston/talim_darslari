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6" r:id="rId29"/>
    <p:sldId id="293" r:id="rId30"/>
    <p:sldId id="291" r:id="rId3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SAMARALI O'RGANISH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 HACKER MINDSET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2286000" y="2423160"/>
            <a:ext cx="4572000" cy="2743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 o'qituvchisi uchun dars qo'llanmasi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3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Tarix  |  Amaliyot  |  Strategiya  |  Mindset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DARS REJASI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57200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886968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 — Hacker o’zi kim?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886968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457200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89888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408176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Tarixiy psixologik tajribalar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0" y="1408176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911096"/>
            <a:ext cx="457200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11096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1929384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Harder mentaliteti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1929384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432304"/>
            <a:ext cx="457200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32304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450592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 orqali o'rganish (Learning by Doing)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0" y="2450592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min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2971800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O'z-o'zini o'rganish (Self-studying)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0" y="2971800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474720"/>
            <a:ext cx="457200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474720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493008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Awareness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0" y="3493008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995928"/>
            <a:ext cx="457200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995928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4014216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Bexabar vs Xabardor boshlovchi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0" y="4014216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517136"/>
            <a:ext cx="457200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517136"/>
            <a:ext cx="457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4535424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 va amaliy mashq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0" y="4535424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KIRISH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so'zi nimani anglatadi?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Hacker — haqiqiy ma'no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— bu kompyuterni buzuvchi emas, balki muammolarni ijodiy yechadigan odam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MIT, 1950-yillar: 'Hack' so'zi — elegantli va qisqa yechim degan ma'noni anglatgan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Stallman, GNU loyihasi asoschisi: 'Hacker — bu o'zini cheklamasdan o'rganuvchi'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mentaliteti = qiziquvchanlik + qat'iyat + ijodkorlik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Kiberxavfsizlikda 'hacker mindset' — bu tizimni yaratuvchi kabi emas, balki uni sinab ko'ruvchi kabi fikrlash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 savol: 'Agar men bu tizimni yaratganmda, qaerda xato qilardim?'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o'z bilimini qurol sifatida ishlatadi — lekin etik doirada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Lab o'yinchilaridan chiqqan 'hacker' atamasi bugun butun IT sohasida qo'llaniladi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57200"/>
            <a:ext cx="64008" cy="411480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00FF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7724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Hacking is not about breaking things. It's about understanding how things work deeply enough to make them do what you want.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Bruce Schneier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Kriptograf va kiberxavfsizlik bo'yicha muallif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TARIXIY TAJRIBALAR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Psixologiya va o'rganish haqida nima bilishimiz kerak?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🔬 TARIXIY TAJRIBA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73152"/>
            <a:ext cx="1554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1885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Ebbinghaus — Unutish Egri Chizig'i (Forgetting Curve)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Hermann Ebbinghaus — Nemis psixologi, xotira bo'yicha birinchi eksperimental tadqiqotchi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274320" y="1508760"/>
          <a:ext cx="8595360" cy="2286000"/>
        </p:xfrm>
        <a:graphic>
          <a:graphicData uri="http://schemas.openxmlformats.org/drawingml/2006/table">
            <a:tbl>
              <a:tblPr/>
              <a:tblGrid>
                <a:gridCol w="1463040"/>
                <a:gridCol w="7132320"/>
              </a:tblGrid>
              <a:tr h="7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FF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Gipoteza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O'rganilgan ma'lumot vaqt o'tishi bilan muntazam tarzda unutiladi, lekin takrorlash bu jarayonni sekinlashtiradi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FF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Usul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O'zi test obyekt shaxs sifatida 2300+ bo'g'inli so'zni yodladi va har xil vaqt oralig'ida sinovdan o'tkazdi. 20 yil davom etgan tajriba.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FF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Natija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daqiqadan keyin — 42% unutiladi. 1 kundan keyin — 67% yo'qoladi. Lekin takrorlash 'unutish egri chizig'ini' tekislashtiradi.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977640"/>
            <a:ext cx="859536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Dars: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Kiberxavfsizlikda har hafta takrorlash jadvali tuzishimiz kerak. Bugun o'rgangan buyruqlarni ertaga qayta ishlatmasangiz — tez unutasiz.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🔬 TARIXIY TAJRIBA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73152"/>
            <a:ext cx="1554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1961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Stanford Bandura — Kuzatib O'rganish (Observational Learning)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Bandura — Kanada psixologi, 'Bobo doll' tajribasi muallifi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274320" y="1508760"/>
          <a:ext cx="8595360" cy="2286000"/>
        </p:xfrm>
        <a:graphic>
          <a:graphicData uri="http://schemas.openxmlformats.org/drawingml/2006/table">
            <a:tbl>
              <a:tblPr/>
              <a:tblGrid>
                <a:gridCol w="1463040"/>
                <a:gridCol w="7132320"/>
              </a:tblGrid>
              <a:tr h="7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FF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Gipoteza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Bolalar kattalarning xulq-atvorini kuzatib o'rganadi va ko'rgan xulqni takrorlaydi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FF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Usul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Bolalarga kattalar qo'g'irchoqqa shiddatli munosabatda bo'lganini ko'rsatishdi. So'ng bolalar xuddi shunday xulq ko'rsatdi. 100+ bola ishtirokida.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FF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Natija</a:t>
                      </a:r>
                      <a:endParaRPr lang="en-US" sz="12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Inson miyasi 'mirror neurons' orqali ko'rgan narsani miyada 'simulyatsiya' qiladi. Ko'rish + tushunish = o'rganish.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977640"/>
            <a:ext cx="859536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Dars: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Kiberxavfsizlik: tajribali mutaxassisning ish jarayonini kuzatish (shadowing, pair hacking) — o'qish kitobdan samaraliroq.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TRY HARDER MENTALITETI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OSCP ruhiyati va qat'iyat fanlari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57200"/>
            <a:ext cx="64008" cy="411480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00FF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7724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Harder. When you feel like giving up, that's when the real learning begins. The obstacle is the way.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Offensive Security (OffSec)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OSCP sertifikati va Kali Linux yaratuvchilari — dunyo eng qiyin kiberxavfsizlik sertifikati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Harder — Bu Nima Degani?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OSCP (Offensive Security Certified Professional) — dunyo eng qiyin penetration testing sertifikati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Imtihon: 24 soat uzluksiz — 5 ta real tizimni hack qilish kerak, yordamsiz, qo’shimcha muloqot qilish ruxsat etilmaydi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'Try Harder' — bu shunchaki 'kuchliroq harakat qil' emas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— muammoni boshqa nuqtai nazardan ko'rish, yangi usullarni topish, nima o'rganmagan ekanligini anglash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Ko'pchilik OSCP'ni 2-3 marta topshiradi — bu normal va kutilgan holat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muvaffaqiyatsizlik — xarita: 'Bu yo'l ishlamaydi, o'nta yo'l qoldi'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Mashhur misollar: TJ Null, TCM Security asoschisi Heath Adams — ikkalasi ham ko'p marta muvaffaqiyatsiz bo'lgan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OSCP reyting: Dunyo bo'yicha 1-o'rin eng qiyin IT sertifikatlardan biri. O'rtacha tayyorgarlik: 3-6 oy intensiv amaliyot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Harder — Amaliyotda Qanday Ko'rinadi?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Stsenariy: HackTheBox mashinasi 3 soat ishlamayapti — ko'pchilik nima qiladi?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Bexabar: YouTube'dan walkthrough qidirib topadi va ko'chiradi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Xabardor: Nmap natijalarini qayta o'qiydi, enum4linux ishlatadi, gobuster yo'llarini o'zgartiradi, boshqa yo’nalish qidiradi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Farq: Biri 3 soatda 'yechdi' — lekin hech narsa o'rganmadi. Biri 6 soat harakat qildi — 20 yangi narsani o'rgandi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hayot: penetration tester mijoz tizimida 'walkthrough' topolmaydi — faqat o'z bilimlari bor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Qoida: Kamida 2 soat mustaqil harakat qilmasdan writeup ko'rmang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Qoida 2: Writeup ko'rgandan keyin 'Nega men bu yo'lni o'ylamadim?' deb tahlil qiling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har muvaffaqiyatsizlikni yozing — bu sizning shaxsiy darsliginggiz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 va HackTheBox statistikasi: Hint so'ramasdan yechadiganlar 3x tezroq o'sadi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Harder — Mashhur Muvaffaqiyatsizliklar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Mitnick — yoshligida telefon kompaniyasidan rad javob oldi, buni o'rganish motivatsiyasiga aylantirdi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Linus Torvalds — Linux yaratishdan oldin ko'plab loyihalarda muvaffaqiyatsizlikka uchragan, o'z blogida buni yozgan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— birinchi investitsiya uchun 1 million dollar so'ragan, ko'p investorlar rad etgan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Edison: lampochka ixtirosi uchun 10,000+ muvaffaqiyatsiz tajriba o'tkazgan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Edison iborasi: 'Men muvaffaqiyatsiz bo'lmadim. Men 10,000 ta ishlamaydigan usulni topdim'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OSCP: 2023 statistikasi — birinchi urinishda 60% o'tmaydi, lekin 95% keyingi 3 urinishda o'tadi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Xulosa: Muvaffaqiyatsizlik — bu jarayonning bir qismi, istisno emas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Edison tamoyili kiberxavfsizlikda: har bir 'permission denied' — yangi ma'lumot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— AMALIYOT ORQALI O'RGANISH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by Doing — John Dewey metodologiyasi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Amaliyot orqali o'rganish —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Dewey (1938): 'Biz tajriba orqali o'rganamiz, kitob orqali emas' — ta'lim falsafasi asoschisi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Neyroscience dalili: amaliyot paytida miyada BDNF (brain-derived neurotrophic factor) ko'proq ishlab chiqariladi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 texnikasi: biror narsani tushunganingizni bilmoqchimisiz? Boshqa kishiga tushuntiring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Kiberxavfsizlikda: 1 soat o'qish = 10 daqiqa amaliyot (samaradorlikda)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qoidasi: vaqtingizning 80% ni amaliyotga, 20% ni nazariyaga bering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muhiti: VirtualBox + Kali Linux + Metasploitable/DVWA — bepul, xavfsiz, real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(Capture The Flag) — bu o'rganish simulyatori emas, haqiqiy sinov maydoni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tadqiqoti: amaliyot orqali o'rganganlar 75% ko'proq eslab qoladi (vs faqat o'qish 10%)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Amaliyot Misoli: Nmap ni O'rganish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Noto'g'ri usul: 'nmap -h' ni o'qish, YouTube'da video ko'rish va shu bilan qoniqish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To'g'ri usul: Lab muhitini o'rnatish va quyidagi tartibda o'rganish: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1. nmap 192.168.1.1 → natijalarni o'qing, har bir portning ma'nosini qidiring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2. nmap -sV → service version nima degani? Real foydasini ko'ring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3. nmap -A → qo'shimcha ma'lumot. Qaysi portlar qiziqarli?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4. nmap --script vuln → avtomatik zaiflik skaneri. Nimalar chiqdi?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5. Natijalarni notebook'ga yozing va sababini tushuntirib yozing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Muhim: Faqat ruxsat etilgan tarmoqda (o'z lab, TryHackMe, HackTheBox) ishlating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jarayon sizga nmap'ni emas — u sizga FIKRLASHNI o'rgatadi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buyruqni 10 xil parametr bilan ishlatgan kishi uni qoʻllanmadan oʻqigandan koʻra yaxshiroq biladi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Amaliyot Platformalari — Qayerdan Boshlash?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 (tryhackme.com) — boshlang'ich, yo'l-yo'riq bor, bepul va pullik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HackTheBox (hackthebox.com) — o'rta va yuqori daraja, real muammolar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PicoCTF (picoctf.org) — yosh o'rganuvchilar uchun CTF platforma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VulnHub (vulnhub.com) — yuklab olinadigan mashinalar, oflayn ishlash mumkin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PortSwigger Web Academy — web zaifliklarni o'rganish uchun eng yaxshi bepul resurs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(Damn Vulnerable Web App) — o'z serveringizda o'rnating, xavfsiz amaliyot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The Box Academy — strukturali kurs + amaliyot kombinatsiyasi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Maqsad: Haftada kamida 3 soat amaliyot qilishga harakat qiling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 tilida resurslar: uzCTF jamoasi, CyberDojo Uzbekistan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— O'Z-O'ZINI O'RGANISH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Self-studying — eng kuchli ko'nikma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O'z-o'zini O'rganish Nima?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Self-studying — bu tashqi motivatsiya yoki o'qituvchisiz bilim olish qobiliyati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Kiberxavfsizlikda hech kim siz uchun o'rganmaydi — sahnada har kun yangi muammolar paydo bo'ladi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Mitnick — rasman hech qanday kiberxavfsizlik ta'limi olmagan, o'zi o'rgangan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Hotz (geohot) — PS3 va iPhone'ni hack qilgan 17 yoshida, mustaqil o'rgangan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O'z-o'zini o'rganishning 4 bosqichi: 1) Savolni aniq qo'yish, 2) Resurslarni topish, 3) Sinab ko'rish, 4) O'rgatish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Google'dan to'g'ri foydalanish, qayerdan malumotni olishni bilish</a:t>
            </a:r>
            <a:b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yaxshi o'qituvchi: error message. Uni to'liq o'qing, tushunishga harakat qiling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tadqiqoti (2019): Self-directed learners kasb o'sishida 2.5x tezroq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O'z-o'zini O'rganish Strategiyalari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Spaced Repetition (Anki) — kiberxavfsizlik atamalari, buyruqlar, portlar uchun kartochkalar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Feynman texnikasi — nimanidir o'rgangandan so'ng boshqalarga tushuntiring (blog, YouTube, do'stga)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Pomodoro texnikasi — 25 daqiqa chuqur diqqat + 5 daqiqa dam, 4 tsikldan keyin 30 daqiqa dam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Note-taking metodologiyasi — Obsidian yoki Notion'da bilimlar bazasini yarating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GitHub'dan o'rganish — mashhur security toollarning source codeni o'qing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Write-up o'qish — CTF yechimlari, lekin avval o'zingiz harakat qiling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Twitter/X security community — @hacks4pancakes, @thegrugq, @swiftonsecurity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Podcast tinglash: Darknet Diaries, Security Now, Risky Business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'second brain' metodi: har o'rgangan narsangizni ulangan grafik tarzida saqlang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O'z-o'zini O'rganish: Mitnick Misoli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Mitnick — '70-80-yillarda AQShning eng mashhur hackeri, hech qanday rasmiy ta'limsiz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telefon kompaniyasi liniyalarini tinglash orqali social engineering'ni o'rgandi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manuallari, texnik hujjatlar — bularni o'z-o'zicha topib o'qidi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uni 1995-yilda qo'lga oldi, 5 yil qamoq. Chiqib 'The Art of Deception' kitobini yozdi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Keyinchalik dunyodagi eng taniqli kiberxavfsizlik konsultanti bo'ldi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Dars: rasmiy ta'lim kerakli emas, lekin qiziquvchanlik va qat'iyat — majburiy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Uning metodologiyasi: 1) Tizimni o'rgan, 2) Odamlarni o'rgan, 3) Jarayonlarni o'rgan, 4) Zaifliklarni top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MUHIM: Mitnick boshqalarning tizimlariga ruxsatsiz kirgan — bu qonunga xilof. Etik hacking uchun ruxsat shart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bounty dasturlari: HackerOne, Bugcrowd — qonuniy va pulli amaliyot imkoniyati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— SITUATIONAL AWARENESS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Vaziyat xabardorligi — ko'rinmas kuch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Situational Awareness Nima?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ta'rif: Mica Endsley (1988) — Havo kuchlari uchun ishlab chiqilgan model, keyinchalik barcha sohalarga tarqaldi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daraja: 1) Idrok — nima sodir bo'lyapti? 2) Tushunish — bu nima degani? 3) Prognoz — keyingi nima bo'ladi?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Harbiy aviatsiyada: pilot o'z o'rnini, dushman o'rnini, ob-havoni, yoqilg'ini bir vaqtda bilishi kerak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Kiberxavfsizlikda: qaysi tizimlar ishlamoqda, kim ulangan, qanday trafik bor, qaysi anomaliya bor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Kundalik hayotda: parollar qayerda saqlanadi, kim qanday ruxsatga ega, qaysi port ochiq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 uchun: SIEM, log monitoring, anomaly detection — bular barchasi situational awareness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uchun: recon — target haqida maksimal ma'lumot to'plash — bu ham situational awareness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Endsley modeli: aviatsiya, tibbiyot, harbiy, kiberxavfsizlik — barcha sohalarda qo'llaniladi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Situational Awareness — Hacking Context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(razvedka) — bu situational awareness'ning birinchi bosqichi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recon: OSINT — shodan.io, whois, linkedin, github, certificates.transparency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recon: nmap, nikto, gobuster — lekin bu izlar qoldiradi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ko'zlari bilan qarang: bu tarmoqda nima bor? Kim admin? Qaysi service'lar ishlaydi?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ko'zlari bilan qarang: kimlar ulangan? Qaysi IP g'ayrioddiy? Log'larda nima bor?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Framework (MITRE): hujumchilar qanday ishlashini tizimlashtirgan xarita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awareness trening: tcpdump, wireshark, netstat -an — bularni o'qishni o'rganing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 ko'nikma: 'normal' holatni bilmasangiz — 'anormal'ni taniy olmaysiz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Shodan.io — Internetga ulangan qurilmalarni qidiradigan 'hacker qidiruv tizimi'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Nima Uchun Situational Awareness Muhim?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Equifax buzilishi: 143 million kishi ma'lumoti o'g'irlandi — sabab: web zaiflik 78 kun e'tibordan chetda qolgan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SolarWinds: 9 oy davomida 18,000+ tashkilot hack qilingan — hech kim sezib olmagan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(2013): 40 million kredit karta o'g'irlandi — HVAC kontraktori orqali kirib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sabab: tizimlarida nima borligini bilmaslik — situational awareness yo'qligi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Kichik misol: O'z kompyuteringizda qaysi portlar ochiq? (netstat -an — sinab ko'ring)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 darsida: o'quvchilarga 'nmap localhost' ishlatting — o'z mashinasini birinchi marta 'ko'rishadi'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Uyga vazifa g'oyasi: o'quvchilar o'z uy routerini scan qilsin (ruxsat bilan)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Security hisobotiga ko'ra: o'rtacha data breach'ni aniqlash 197 kun oladi — situational awareness bu vaqtni 10x qisqartiradi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Boshqa o’rganish usullari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 sifatida: javobni darhol bermang — 'Sen nima deb o'ylaysan?' deb so'rang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Savolga savol bilan javob: 'Error message'da nima yozibdi?' — bu ularga o'qishni o'rgatadi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Muvaffaqiyatsizlikni taqdirlang: 'Juda yaxshi urinish, nima o'rganding?' — bu muhim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darsda 'bug bounty' yondashuvi: 'Kim birinchi anomaliyani topadi?' — raqobat motivatsiya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hisoboti: faqat 'flag topildi' emas — 'Qanday topdim, nima o'rganidm, qayerda qiynalidim'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Juftlik bilan ishlash: xabardor + bexabar o'quvchi — bu ikkalasini o'stiradi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Kunlik 'reconnaissance': dars boshida 5 daqiqa — 'Bugun yangi zaiflik chiqdimi?' savoli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 o'lchov: o'quvchi o'rganishni to'xtatganda emas, qiyinlashganda sezilarli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Socrates metodi: savolga savol bilan javob — eng qadimgi va eng samarali pedagogik usul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Oddiy boshlovchi va Taktik boshlovchi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>
              <a:spcAft>
                <a:spcPts val="800"/>
              </a:spcAft>
              <a:buSzPct val="100000"/>
              <a:buNone/>
            </a:pP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Socrates metodi: savolga savol bilan javob — eng qadimgi va eng samarali pedagogik usul</a:t>
            </a:r>
            <a:endParaRPr lang="en-US" sz="1100" dirty="0"/>
          </a:p>
        </p:txBody>
      </p:sp>
      <p:sp>
        <p:nvSpPr>
          <p:cNvPr id="8" name="Text Box 7"/>
          <p:cNvSpPr txBox="1"/>
          <p:nvPr/>
        </p:nvSpPr>
        <p:spPr>
          <a:xfrm>
            <a:off x="306070" y="948055"/>
            <a:ext cx="856361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highlight>
                  <a:srgbClr val="C0C0C0"/>
                </a:highlight>
              </a:rPr>
              <a:t>Misol:</a:t>
            </a:r>
            <a:br>
              <a:rPr lang="en-US">
                <a:highlight>
                  <a:srgbClr val="C0C0C0"/>
                </a:highlight>
              </a:rPr>
            </a:br>
            <a:r>
              <a:rPr lang="en-US">
                <a:highlight>
                  <a:srgbClr val="C0C0C0"/>
                </a:highlight>
              </a:rPr>
              <a:t>/tmp directory orqali file yuklab olib test qilish</a:t>
            </a:r>
            <a:endParaRPr lang="en-US">
              <a:highlight>
                <a:srgbClr val="C0C0C0"/>
              </a:highlight>
            </a:endParaRPr>
          </a:p>
          <a:p>
            <a:r>
              <a:rPr lang="en-US">
                <a:highlight>
                  <a:srgbClr val="C0C0C0"/>
                </a:highlight>
              </a:rPr>
              <a:t>Ikki xil xolat</a:t>
            </a:r>
            <a:endParaRPr lang="en-US">
              <a:highlight>
                <a:srgbClr val="C0C0C0"/>
              </a:highlight>
            </a:endParaRPr>
          </a:p>
          <a:p>
            <a:r>
              <a:rPr lang="en-US">
                <a:highlight>
                  <a:srgbClr val="C0C0C0"/>
                </a:highlight>
              </a:rPr>
              <a:t>1) Nega /tmp directory ekanligini biladi</a:t>
            </a:r>
            <a:endParaRPr lang="en-US">
              <a:highlight>
                <a:srgbClr val="C0C0C0"/>
              </a:highlight>
            </a:endParaRPr>
          </a:p>
          <a:p>
            <a:r>
              <a:rPr lang="en-US">
                <a:highlight>
                  <a:srgbClr val="C0C0C0"/>
                </a:highlight>
              </a:rPr>
              <a:t>2) Xozir qayerda turganligini biladi</a:t>
            </a:r>
            <a:endParaRPr lang="en-US">
              <a:highlight>
                <a:srgbClr val="C0C0C0"/>
              </a:highlight>
            </a:endParaRPr>
          </a:p>
          <a:p>
            <a:r>
              <a:rPr lang="en-US">
                <a:highlight>
                  <a:srgbClr val="C0C0C0"/>
                </a:highlight>
              </a:rPr>
              <a:t>3) Qayerga qanday borish kerakligini biladi</a:t>
            </a:r>
            <a:endParaRPr lang="en-US">
              <a:highlight>
                <a:srgbClr val="C0C0C0"/>
              </a:highlight>
            </a:endParaRPr>
          </a:p>
          <a:p>
            <a:r>
              <a:rPr lang="en-US">
                <a:highlight>
                  <a:srgbClr val="C0C0C0"/>
                </a:highlight>
              </a:rPr>
              <a:t>4) Nima uchun test qilishimiz kerakligini biladi</a:t>
            </a:r>
            <a:endParaRPr lang="en-US">
              <a:highlight>
                <a:srgbClr val="C0C0C0"/>
              </a:highlight>
            </a:endParaRPr>
          </a:p>
          <a:p>
            <a:r>
              <a:rPr lang="en-US">
                <a:highlight>
                  <a:srgbClr val="C0C0C0"/>
                </a:highlight>
              </a:rPr>
              <a:t>---</a:t>
            </a:r>
            <a:endParaRPr lang="en-US">
              <a:highlight>
                <a:srgbClr val="C0C0C0"/>
              </a:highlight>
            </a:endParaRPr>
          </a:p>
          <a:p>
            <a:r>
              <a:rPr lang="en-US">
                <a:highlight>
                  <a:srgbClr val="C0C0C0"/>
                </a:highlight>
              </a:rPr>
              <a:t>1) Aynan nega /tmp directory ekanligini bilmaydi</a:t>
            </a:r>
            <a:endParaRPr lang="en-US">
              <a:highlight>
                <a:srgbClr val="C0C0C0"/>
              </a:highlight>
            </a:endParaRPr>
          </a:p>
          <a:p>
            <a:r>
              <a:rPr lang="en-US">
                <a:highlight>
                  <a:srgbClr val="C0C0C0"/>
                </a:highlight>
              </a:rPr>
              <a:t>2) Qayerda turganligni bilmaydi yoki birdaniga test qilishga o’tib ketadi</a:t>
            </a:r>
            <a:endParaRPr lang="en-US">
              <a:highlight>
                <a:srgbClr val="C0C0C0"/>
              </a:highlight>
            </a:endParaRPr>
          </a:p>
          <a:p>
            <a:r>
              <a:rPr lang="en-US">
                <a:highlight>
                  <a:srgbClr val="C0C0C0"/>
                </a:highlight>
              </a:rPr>
              <a:t>3) Qanday test qilishni biladi ammo hozir qayerda turganligiga ahamyat bermaydi</a:t>
            </a:r>
            <a:endParaRPr lang="en-US">
              <a:highlight>
                <a:srgbClr val="C0C0C0"/>
              </a:highlight>
            </a:endParaRPr>
          </a:p>
          <a:p>
            <a:r>
              <a:rPr lang="en-US">
                <a:highlight>
                  <a:srgbClr val="C0C0C0"/>
                </a:highlight>
              </a:rPr>
              <a:t>4) Har doim atrof muhitin tekshirib turmaydi</a:t>
            </a:r>
            <a:endParaRPr lang="en-US"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XULOSA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640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1325880"/>
            <a:ext cx="3200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 — texnik bilimdan muhimroq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1148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325880"/>
            <a:ext cx="640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💪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532120" y="1325880"/>
            <a:ext cx="3200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Harder — qiyinchilik siz uchun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41148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23160"/>
            <a:ext cx="640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🛠️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143000" y="2423160"/>
            <a:ext cx="3200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 qilmasdan bilim yo'q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331720"/>
            <a:ext cx="41148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423160"/>
            <a:ext cx="640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532120" y="2423160"/>
            <a:ext cx="3200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O'z-o'zini o'rganish — eng kuchli ko'nikma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41148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20440"/>
            <a:ext cx="640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👁️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143000" y="3520440"/>
            <a:ext cx="3200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Awareness — hamma joyda kerak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3429000"/>
            <a:ext cx="41148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520440"/>
            <a:ext cx="640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532120" y="3520440"/>
            <a:ext cx="3200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Xabardor boshlovchi har doim yutadi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200" i="1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quieter you become, the more you are able to hear."</a:t>
            </a:r>
            <a:r>
              <a:rPr lang="en-US" sz="12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Kali Linux motto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14193</Words>
  <Application>WPS Presentation</Application>
  <PresentationFormat>On-screen Show (16:9)</PresentationFormat>
  <Paragraphs>361</Paragraphs>
  <Slides>28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8" baseType="lpstr">
      <vt:lpstr>Arial</vt:lpstr>
      <vt:lpstr>SimSun</vt:lpstr>
      <vt:lpstr>Wingdings</vt:lpstr>
      <vt:lpstr>DejaVu Sans</vt:lpstr>
      <vt:lpstr>Consolas</vt:lpstr>
      <vt:lpstr>Quicksand Light</vt:lpstr>
      <vt:lpstr>Consolas</vt:lpstr>
      <vt:lpstr>Consolas</vt:lpstr>
      <vt:lpstr>Calibri</vt:lpstr>
      <vt:lpstr>Calibri</vt:lpstr>
      <vt:lpstr>Calibri</vt:lpstr>
      <vt:lpstr>Georgia</vt:lpstr>
      <vt:lpstr>Georgia</vt:lpstr>
      <vt:lpstr>Georgia</vt:lpstr>
      <vt:lpstr>Microsoft YaHei</vt:lpstr>
      <vt:lpstr>Droid Sans Fallback</vt:lpstr>
      <vt:lpstr>Arial Unicode MS</vt:lpstr>
      <vt:lpstr>FreeSans</vt:lpstr>
      <vt:lpstr>Noto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Samarali O'rganish va Hacker Mindset</dc:title>
  <dc:creator>PptxGenJS</dc:creator>
  <dc:subject>PptxGenJS Presentation</dc:subject>
  <cp:lastModifiedBy>lobo</cp:lastModifiedBy>
  <cp:revision>5</cp:revision>
  <dcterms:created xsi:type="dcterms:W3CDTF">2026-05-14T04:28:16Z</dcterms:created>
  <dcterms:modified xsi:type="dcterms:W3CDTF">2026-05-14T04:28:16Z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